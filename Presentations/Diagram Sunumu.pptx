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ppins" charset="1" panose="00000500000000000000"/>
      <p:regular r:id="rId28"/>
    </p:embeddedFont>
    <p:embeddedFont>
      <p:font typeface="Poppins Semi-Bold" charset="1" panose="00000700000000000000"/>
      <p:regular r:id="rId29"/>
    </p:embeddedFont>
    <p:embeddedFont>
      <p:font typeface="Poppins Light" charset="1" panose="00000400000000000000"/>
      <p:regular r:id="rId30"/>
    </p:embeddedFont>
    <p:embeddedFont>
      <p:font typeface="Poppins Medium" charset="1" panose="000006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62591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5409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63306" y="8866542"/>
            <a:ext cx="7161389" cy="39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EBEBE6"/>
                </a:solidFill>
                <a:latin typeface="Poppins"/>
                <a:ea typeface="Poppins"/>
                <a:cs typeface="Poppins"/>
                <a:sym typeface="Poppins"/>
              </a:rPr>
              <a:t>Hazırlayan: Recep Akkuş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73960" y="971550"/>
            <a:ext cx="7161389" cy="39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Unreal Engine C++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6602" y="5067300"/>
            <a:ext cx="16182698" cy="133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96"/>
              </a:lnSpc>
            </a:pPr>
            <a:r>
              <a:rPr lang="en-US" sz="3997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Mimari Yapı ve Sistem Akışlarının</a:t>
            </a:r>
          </a:p>
          <a:p>
            <a:pPr algn="ctr" marL="0" indent="0" lvl="0">
              <a:lnSpc>
                <a:spcPts val="5196"/>
              </a:lnSpc>
            </a:pPr>
            <a:r>
              <a:rPr lang="en-US" sz="3997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Görsel Analizi ile Sunum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2651" y="3310437"/>
            <a:ext cx="1618269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36"/>
              </a:lnSpc>
            </a:pPr>
            <a:r>
              <a:rPr lang="en-US" b="true" sz="994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UE C++ Kod Diyagramları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62591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5409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73960" y="971550"/>
            <a:ext cx="7161389" cy="39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Unreal Engine C++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651" y="3310437"/>
            <a:ext cx="1618269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36"/>
              </a:lnSpc>
            </a:pPr>
            <a:r>
              <a:rPr lang="en-US" b="true" sz="994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UMyActorComponent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75841" y="1518483"/>
            <a:ext cx="9144000" cy="8486775"/>
          </a:xfrm>
          <a:custGeom>
            <a:avLst/>
            <a:gdLst/>
            <a:ahLst/>
            <a:cxnLst/>
            <a:rect r="r" b="b" t="t" l="l"/>
            <a:pathLst>
              <a:path h="8486775" w="9144000">
                <a:moveTo>
                  <a:pt x="0" y="0"/>
                </a:moveTo>
                <a:lnTo>
                  <a:pt x="9144000" y="0"/>
                </a:lnTo>
                <a:lnTo>
                  <a:pt x="9144000" y="8486775"/>
                </a:lnTo>
                <a:lnTo>
                  <a:pt x="0" y="848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UM</a:t>
            </a: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yActorComponent — Fonksiyon Çağrı Ağacı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-&gt;Bir compo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nent'in yaşam döngüsü ve dışarıya açtığı kapılar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052" y="2120580"/>
            <a:ext cx="7980407" cy="3783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Sınıfın üç farklı giriş noktası var: BeginPlay() bir kez (oyun başlarken), TickComponent() her frame, Interact() / Counter() ise dışarıdan çağrılan public kapılar.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BeginPlay() kurulum yapar: timer kurar, aktör üretir, delegate'e dinleyici bağlar ve ekrana bilgi basar. Hepsi tek seferlik.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TickComponent() sürekli çalışır ve TraceLine() ile karakterin önüne ışın gönderir; çarpan nesne Cast ile tip kontrolünden geçirilir.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75841" y="1957134"/>
            <a:ext cx="9310354" cy="5424671"/>
          </a:xfrm>
          <a:custGeom>
            <a:avLst/>
            <a:gdLst/>
            <a:ahLst/>
            <a:cxnLst/>
            <a:rect r="r" b="b" t="t" l="l"/>
            <a:pathLst>
              <a:path h="5424671" w="9310354">
                <a:moveTo>
                  <a:pt x="0" y="0"/>
                </a:moveTo>
                <a:lnTo>
                  <a:pt x="9310355" y="0"/>
                </a:lnTo>
                <a:lnTo>
                  <a:pt x="9310355" y="5424671"/>
                </a:lnTo>
                <a:lnTo>
                  <a:pt x="0" y="5424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5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UM</a:t>
            </a: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yActorComponent — BeginPlay Akışı (Sequence Diagram)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-&gt;Oyun başlarken compo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nent ne yapıyor?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383" y="2120580"/>
            <a:ext cx="7980407" cy="504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M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otor BeginPlay()'i bir kez çağırır; bundan sonrası component'in kendi kurulum sırasıdır.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Önce kendi içindeki fonksiyonlar çalışır (SayiYaz, YaziYaz, MyNativeEvent) — bunlar başka nesneye gitmez, self-message'dır.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nra dışarıyla konuşur: TimerManager'a zamanlayıcı kurar, World'e yeni bir aktör doğurtur, Delegate'e dinleyici bağlar.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sonda Broadcast() ile delegate tetiklenir ve delegate geri dönüp OlayGeldi()'yi çağırır.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75841" y="1787205"/>
            <a:ext cx="9200852" cy="6360718"/>
          </a:xfrm>
          <a:custGeom>
            <a:avLst/>
            <a:gdLst/>
            <a:ahLst/>
            <a:cxnLst/>
            <a:rect r="r" b="b" t="t" l="l"/>
            <a:pathLst>
              <a:path h="6360718" w="9200852">
                <a:moveTo>
                  <a:pt x="0" y="0"/>
                </a:moveTo>
                <a:lnTo>
                  <a:pt x="9200852" y="0"/>
                </a:lnTo>
                <a:lnTo>
                  <a:pt x="9200852" y="6360717"/>
                </a:lnTo>
                <a:lnTo>
                  <a:pt x="0" y="63607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UM</a:t>
            </a: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yActorComponent — TraceLine Akışı (Sequence Diagram)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-&gt;Her frame çalışan çarpışma sorgusu v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 tip kontrolü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383" y="2294165"/>
            <a:ext cx="7980407" cy="441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TickComp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onent() her frame tetiklenir ve TraceLine()'ı çağırır — bu akış saniyede onlarca kez tekrar eder.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Component, World'den ışın sorgusu ister; World kendi fizik sahnesinde tarama yapar ve sonucu FHitResult olarak döndürür.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Dönen nesne genel tipte (AAct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o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r*) olduğu için Cast ile gerçekten ADenemeActor olup olmadığı kontrol edilir.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Doğru tipse canı azaltılır; can sıfırın altına inerse aktör yok edilir.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75841" y="1652844"/>
            <a:ext cx="9255912" cy="6726974"/>
          </a:xfrm>
          <a:custGeom>
            <a:avLst/>
            <a:gdLst/>
            <a:ahLst/>
            <a:cxnLst/>
            <a:rect r="r" b="b" t="t" l="l"/>
            <a:pathLst>
              <a:path h="6726974" w="9255912">
                <a:moveTo>
                  <a:pt x="0" y="0"/>
                </a:moveTo>
                <a:lnTo>
                  <a:pt x="9255912" y="0"/>
                </a:lnTo>
                <a:lnTo>
                  <a:pt x="9255912" y="6726974"/>
                </a:lnTo>
                <a:lnTo>
                  <a:pt x="0" y="6726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UM</a:t>
            </a: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yActorComponent — Delegate Mekanizması (Sequence Diagram)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-&gt;HeKayıt, tetikleme v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 geri çağrı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383" y="2120580"/>
            <a:ext cx="7980407" cy="472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Begi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nPlay() içinde AddDynamic() ile delegate'e bir dinleyici kaydedilir — hangi fonksiyonun çağrılacağı burada belirlenir.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Br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oadcast() çağrıldığında delegate, kayıtlı tüm dinleyicileri sırayla tetikler.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OlayGeldi() bize geri döner: kontrol delegate'ten çıkıp tekrar c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omp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onent'e gelir.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Callback bittikten sonra kontrol delegate'e, oradan da BeginPlay()'e geri döner.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62591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5409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73960" y="971550"/>
            <a:ext cx="7161389" cy="39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Unreal Engine C++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651" y="3310437"/>
            <a:ext cx="1618269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36"/>
              </a:lnSpc>
            </a:pPr>
            <a:r>
              <a:rPr lang="en-US" b="true" sz="994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ACollisionActor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83459" y="1518483"/>
            <a:ext cx="9144000" cy="8486775"/>
          </a:xfrm>
          <a:custGeom>
            <a:avLst/>
            <a:gdLst/>
            <a:ahLst/>
            <a:cxnLst/>
            <a:rect r="r" b="b" t="t" l="l"/>
            <a:pathLst>
              <a:path h="8486775" w="9144000">
                <a:moveTo>
                  <a:pt x="0" y="0"/>
                </a:moveTo>
                <a:lnTo>
                  <a:pt x="9144000" y="0"/>
                </a:lnTo>
                <a:lnTo>
                  <a:pt x="9144000" y="8486775"/>
                </a:lnTo>
                <a:lnTo>
                  <a:pt x="0" y="848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ACollisionActor — Fonksiyon Çağrı Ağacı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-&gt;Üç giriş nok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tası, üç farklı zaman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052" y="2120580"/>
            <a:ext cx="7980407" cy="441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nstructor: Kutu collision bileşenini üretir ve root'a bağlar. Nesne doğarken bir kez çalışır, oyun daha başlamamıştır.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BeginPlay(): Overlap olayına dinleyici bağlar. Bu satır olmadan temas hiç fark edilmez.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Beg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inOverlap(): Temas oldukça tekrar tekrar çalışır. Giren aktörün içindeki component aranır, interface'i uygulayıp uygulamadığı kontrol edilir, uyuyorsa Interact() çağrılır.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87438" y="2577510"/>
            <a:ext cx="10300562" cy="4283840"/>
          </a:xfrm>
          <a:custGeom>
            <a:avLst/>
            <a:gdLst/>
            <a:ahLst/>
            <a:cxnLst/>
            <a:rect r="r" b="b" t="t" l="l"/>
            <a:pathLst>
              <a:path h="4283840" w="10300562">
                <a:moveTo>
                  <a:pt x="0" y="0"/>
                </a:moveTo>
                <a:lnTo>
                  <a:pt x="10300562" y="0"/>
                </a:lnTo>
                <a:lnTo>
                  <a:pt x="10300562" y="4283840"/>
                </a:lnTo>
                <a:lnTo>
                  <a:pt x="0" y="4283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73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ACollisionActor — Constructor Akışı (Sequence Diagram)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-&gt;N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esne doğarken bileşen nasıl oluşuyor?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383" y="2120580"/>
            <a:ext cx="7980407" cy="40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nstructor, oyun başlamadan önce nesne yaratılırken çalışır — burada henüz dünya, oyuncu veya fizik yoktur.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CreateDefaultSubobject() kutu collision bileşenini üretir. Bu fonksiyon yalnızca constructor içinde çağrılabilir.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SetupAttachment() bileşeni root'a bağlar; bağlanmazsa aktör hareket ettiğinde kutu yerinde kalır.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177730"/>
            <a:ext cx="8790129" cy="2343327"/>
          </a:xfrm>
          <a:custGeom>
            <a:avLst/>
            <a:gdLst/>
            <a:ahLst/>
            <a:cxnLst/>
            <a:rect r="r" b="b" t="t" l="l"/>
            <a:pathLst>
              <a:path h="2343327" w="8790129">
                <a:moveTo>
                  <a:pt x="0" y="0"/>
                </a:moveTo>
                <a:lnTo>
                  <a:pt x="8790129" y="0"/>
                </a:lnTo>
                <a:lnTo>
                  <a:pt x="8790129" y="2343327"/>
                </a:lnTo>
                <a:lnTo>
                  <a:pt x="0" y="234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7" t="0" r="-657" b="-282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ACollisionActor — BeginPlay Akışı (Sequence Diagram)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-&gt;Tem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as olayına abone olmak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383" y="2120580"/>
            <a:ext cx="7980407" cy="3783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Oyu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 başladığında motor BeginPlay()'i bir kez çağırır.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AddDynamic() ile kutunun OnComponentBeginOverlap olayına BeginOverlap() fonksiyonu bağlanır.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Bu tek satır olmadan temas gerçekleşse bile hiçbir şey olmaz — motor kime haber vereceğini bilmez.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75841" y="2177730"/>
            <a:ext cx="9053952" cy="5522365"/>
          </a:xfrm>
          <a:custGeom>
            <a:avLst/>
            <a:gdLst/>
            <a:ahLst/>
            <a:cxnLst/>
            <a:rect r="r" b="b" t="t" l="l"/>
            <a:pathLst>
              <a:path h="5522365" w="9053952">
                <a:moveTo>
                  <a:pt x="0" y="0"/>
                </a:moveTo>
                <a:lnTo>
                  <a:pt x="9053952" y="0"/>
                </a:lnTo>
                <a:lnTo>
                  <a:pt x="9053952" y="5522365"/>
                </a:lnTo>
                <a:lnTo>
                  <a:pt x="0" y="5522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ACollisionActor — BeginOverlap Akışı (Sequence Diagram)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-&gt;Temas a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nında iki aşamalı tip kontrolü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5087" y="2120580"/>
            <a:ext cx="7980407" cy="535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Bir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 aktör kutuya girdiğinde delegate BeginOverlap()'i tetikler.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Giren aktörün içinde UMyActorComponent var mı diye aranır — çünkü interface'i aktör değil, component taşır.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Bulunan component Cast ile interface kontrolünden geçirilir; bu işlem tamamen CollisionActor'ün içinde olur, o yüzden self-message'dır.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Kontrol başarılıysa Interact() çağrılır.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62591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5409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73960" y="971550"/>
            <a:ext cx="7161389" cy="39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Unreal Engine C++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651" y="3310437"/>
            <a:ext cx="1618269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36"/>
              </a:lnSpc>
            </a:pPr>
            <a:r>
              <a:rPr lang="en-US" b="true" sz="994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</a:t>
            </a:r>
            <a:r>
              <a:rPr lang="en-US" b="true" sz="994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AI_Character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83459" y="1518483"/>
            <a:ext cx="9144000" cy="8486775"/>
          </a:xfrm>
          <a:custGeom>
            <a:avLst/>
            <a:gdLst/>
            <a:ahLst/>
            <a:cxnLst/>
            <a:rect r="r" b="b" t="t" l="l"/>
            <a:pathLst>
              <a:path h="8486775" w="9144000">
                <a:moveTo>
                  <a:pt x="0" y="0"/>
                </a:moveTo>
                <a:lnTo>
                  <a:pt x="9144000" y="0"/>
                </a:lnTo>
                <a:lnTo>
                  <a:pt x="9144000" y="8486775"/>
                </a:lnTo>
                <a:lnTo>
                  <a:pt x="0" y="848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</a:t>
            </a: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AI_Character — NativeUpdateAnimation Akışı (Sequence Diagram)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-&gt;Animasyo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 verisinin her frame hesaplanması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052" y="2120580"/>
            <a:ext cx="7980407" cy="504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Moto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r her frame NativeUpdateAnimation()'ı çağırır — bu diyagramdaki akış saniyede onlarca kez tekrar eder.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Önce sahibi olan Pawn alınır; yoksa hiçbir işlem yapılmaz.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Pawn'dan hız bilgisi (GetVelocity), hareket bileşeninden ise havada olma durumu (IsFalling) okunur.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Sonuçlar SpeedCpp ve bIsFallingCpp değişkenlerine yazılır.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62591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5409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73960" y="971550"/>
            <a:ext cx="7161389" cy="39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Unreal Engine C++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651" y="3310437"/>
            <a:ext cx="1618269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36"/>
              </a:lnSpc>
            </a:pPr>
            <a:r>
              <a:rPr lang="en-US" b="true" sz="994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  <a:r>
              <a:rPr lang="en-US" b="true" sz="994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AI_CharacterCpp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72790" y="1554913"/>
            <a:ext cx="9523558" cy="7177174"/>
          </a:xfrm>
          <a:custGeom>
            <a:avLst/>
            <a:gdLst/>
            <a:ahLst/>
            <a:cxnLst/>
            <a:rect r="r" b="b" t="t" l="l"/>
            <a:pathLst>
              <a:path h="7177174" w="9523558">
                <a:moveTo>
                  <a:pt x="0" y="0"/>
                </a:moveTo>
                <a:lnTo>
                  <a:pt x="9523558" y="0"/>
                </a:lnTo>
                <a:lnTo>
                  <a:pt x="9523558" y="7177174"/>
                </a:lnTo>
                <a:lnTo>
                  <a:pt x="0" y="7177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AAI_CharacterCpp — Fonksiyon Çağrı Ağacı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-&gt;İki bağımsız 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akış: hareket döngüsü ve geri sayım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383" y="2120580"/>
            <a:ext cx="7980407" cy="598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BeginPlay() iki ayrı zinciri birden başlatır: NavMesh üzerinde hedef bulup hareketi tetikler, ayrıca geri sayım için gecikmeli bir timer kurar.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Hareket zinciri: Hedefe varılınca HareketBitti() tetiklenir, 2 saniye beklenir, YeniHareket() yeni bir hedef bulup tekrar yola çıkarır.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Geri sayım zinciri: GecikmeliTetikle() başlangıç değerini yayınlar ve her saniye çalışan bir timer kurar; SaniyeGecti() süreyi azaltıp Blueprint'e bildirir.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Tick() bu sınıfta boştur — akışın hiçbiri her frame çalışmaz.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AI_CharacterCpp — BeginPlay Akışı (Sequence Diagram)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-&gt;AI doğduğu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nda kendini nasıl hazırlıyor?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2120580"/>
            <a:ext cx="7980407" cy="692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avigationSystem'e erişilir — haritadaki yürünebilir alan verisini tutan sistem budur.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NavMesh üzerinde rastgele bir hedef noktası istenir; sonuç NavLocation'a yazılır.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K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arakteri kontrol eden Controller alınıp AAIController'a dönüştürülür — emirleri karakter değil, controller uygular.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Ön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ce AddDynamic() ile varış olayına abone olunur, sonra MoveToLocation() ile hareket emri verilir.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 olarak geri sayımı başlatacak gecikmeli timer kurulur.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472790" y="1787205"/>
            <a:ext cx="9523558" cy="7177174"/>
          </a:xfrm>
          <a:custGeom>
            <a:avLst/>
            <a:gdLst/>
            <a:ahLst/>
            <a:cxnLst/>
            <a:rect r="r" b="b" t="t" l="l"/>
            <a:pathLst>
              <a:path h="7177174" w="9523558">
                <a:moveTo>
                  <a:pt x="0" y="0"/>
                </a:moveTo>
                <a:lnTo>
                  <a:pt x="9523558" y="0"/>
                </a:lnTo>
                <a:lnTo>
                  <a:pt x="9523558" y="7177174"/>
                </a:lnTo>
                <a:lnTo>
                  <a:pt x="0" y="7177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66806" y="1952471"/>
            <a:ext cx="9821194" cy="6064093"/>
          </a:xfrm>
          <a:custGeom>
            <a:avLst/>
            <a:gdLst/>
            <a:ahLst/>
            <a:cxnLst/>
            <a:rect r="r" b="b" t="t" l="l"/>
            <a:pathLst>
              <a:path h="6064093" w="9821194">
                <a:moveTo>
                  <a:pt x="0" y="0"/>
                </a:moveTo>
                <a:lnTo>
                  <a:pt x="9821194" y="0"/>
                </a:lnTo>
                <a:lnTo>
                  <a:pt x="9821194" y="6064093"/>
                </a:lnTo>
                <a:lnTo>
                  <a:pt x="0" y="6064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AI_CharacterCpp — Hareket Döngüsü (Sequence Diagram)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-&gt;K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endini besleyen sonsuz dolaşım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6399" y="2120580"/>
            <a:ext cx="7980407" cy="535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ntroller hedefe vardığında ReceiveMoveCompleted delegate'ini yayınlar ve HareketBitti() otomatik çağrılır.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H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emen yeni hareket başlatılmaz; 2 saniyelik bir timer kurulur — AI varış noktasında bekler, hareketi daha doğal görünür.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Süre dolunca YeniHareket() çalışır, NavMesh'ten yeni bir hedef alır ve controller'a yeni emri verir.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Hareket bitince akış başa döner: döngü kendi kendini besler.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80866" y="1652844"/>
            <a:ext cx="10007134" cy="7348234"/>
          </a:xfrm>
          <a:custGeom>
            <a:avLst/>
            <a:gdLst/>
            <a:ahLst/>
            <a:cxnLst/>
            <a:rect r="r" b="b" t="t" l="l"/>
            <a:pathLst>
              <a:path h="7348234" w="10007134">
                <a:moveTo>
                  <a:pt x="0" y="0"/>
                </a:moveTo>
                <a:lnTo>
                  <a:pt x="10007134" y="0"/>
                </a:lnTo>
                <a:lnTo>
                  <a:pt x="10007134" y="7348234"/>
                </a:lnTo>
                <a:lnTo>
                  <a:pt x="0" y="7348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AI_CharacterCpp — Geri Sayım Akışı (Sequence Diagram)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-&gt;Zama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nla tetiklenen döngü ve Blueprint'e veri yayını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383" y="2120580"/>
            <a:ext cx="7980407" cy="566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Begi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nPlay() 1 saniyelik tek seferlik bir timer kurar; amaç Blueprint tarafının delegate'e bağlanmasını beklemektir.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Süre dolunca GecikmeliTetikle() başlangıç değerini yayınlar ve bu kez tekrarlayan bir timer kurar.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Her saniye SaniyeGecti() çalışır: süreyi bir azaltır ve yeni değeri Blueprint'e bildirir.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Sıfı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ra ulaşıldığında ClearTimer() ile timer durdurulur — yoksa eksiye doğru sonsuza kadar sayar.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62591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5409" y="6724409"/>
            <a:ext cx="7125182" cy="7125182"/>
          </a:xfrm>
          <a:custGeom>
            <a:avLst/>
            <a:gdLst/>
            <a:ahLst/>
            <a:cxnLst/>
            <a:rect r="r" b="b" t="t" l="l"/>
            <a:pathLst>
              <a:path h="7125182" w="7125182">
                <a:moveTo>
                  <a:pt x="0" y="0"/>
                </a:moveTo>
                <a:lnTo>
                  <a:pt x="7125182" y="0"/>
                </a:lnTo>
                <a:lnTo>
                  <a:pt x="7125182" y="7125182"/>
                </a:lnTo>
                <a:lnTo>
                  <a:pt x="0" y="712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73960" y="971550"/>
            <a:ext cx="7161389" cy="39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 strike="noStrike" u="non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Unreal Engine C++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651" y="3310437"/>
            <a:ext cx="1618269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36"/>
              </a:lnSpc>
            </a:pPr>
            <a:r>
              <a:rPr lang="en-US" b="true" sz="994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UMyUse</a:t>
            </a:r>
            <a:r>
              <a:rPr lang="en-US" b="true" sz="994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rWidget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14823" y="1953796"/>
            <a:ext cx="9873177" cy="6379408"/>
          </a:xfrm>
          <a:custGeom>
            <a:avLst/>
            <a:gdLst/>
            <a:ahLst/>
            <a:cxnLst/>
            <a:rect r="r" b="b" t="t" l="l"/>
            <a:pathLst>
              <a:path h="6379408" w="9873177">
                <a:moveTo>
                  <a:pt x="0" y="0"/>
                </a:moveTo>
                <a:lnTo>
                  <a:pt x="9873177" y="0"/>
                </a:lnTo>
                <a:lnTo>
                  <a:pt x="9873177" y="6379408"/>
                </a:lnTo>
                <a:lnTo>
                  <a:pt x="0" y="6379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383" y="680283"/>
            <a:ext cx="167669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UM</a:t>
            </a:r>
            <a:r>
              <a:rPr lang="en-US" b="true" sz="2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yUserWidget — Arayüz Güncelleme Akışı (Sequence Diagram)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383" y="1461333"/>
            <a:ext cx="7300288" cy="32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</a:pP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-&gt;Bir k</a:t>
            </a:r>
            <a:r>
              <a:rPr lang="en-US" b="true" sz="17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ez kurulan metin, her frame güncellenen sayaç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383" y="2120580"/>
            <a:ext cx="7980407" cy="535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ativeConstruct() widget ekrana geldiğinde bir kez çalışır ve sabit başlık metnini yazar.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NativeTick() her frame çalışır; geçen süreyi GecenSure değişkeninde biriktirir.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Biriken süre metne çevrilip MyCounterText'e yazılır — sayaç bu şekilde canlı görünür.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İk</a:t>
            </a:r>
            <a:r>
              <a:rPr lang="en-US" sz="1800">
                <a:solidFill>
                  <a:srgbClr val="1F1F1F"/>
                </a:solidFill>
                <a:latin typeface="Poppins Light"/>
                <a:ea typeface="Poppins Light"/>
                <a:cs typeface="Poppins Light"/>
                <a:sym typeface="Poppins Light"/>
              </a:rPr>
              <a:t>i Text Block farklı ritimlerde güncellenir: biri bir kez, diğeri sürekli.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2550010"/>
            <a:ext cx="8416734" cy="6708290"/>
            <a:chOff x="0" y="0"/>
            <a:chExt cx="563769" cy="449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769" cy="449334"/>
            </a:xfrm>
            <a:custGeom>
              <a:avLst/>
              <a:gdLst/>
              <a:ahLst/>
              <a:cxnLst/>
              <a:rect r="r" b="b" t="t" l="l"/>
              <a:pathLst>
                <a:path h="449334" w="563769">
                  <a:moveTo>
                    <a:pt x="0" y="0"/>
                  </a:moveTo>
                  <a:lnTo>
                    <a:pt x="563769" y="0"/>
                  </a:lnTo>
                  <a:lnTo>
                    <a:pt x="563769" y="449334"/>
                  </a:lnTo>
                  <a:lnTo>
                    <a:pt x="0" y="449334"/>
                  </a:ln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63769" cy="50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841271" y="4147025"/>
            <a:ext cx="9209230" cy="9058534"/>
          </a:xfrm>
          <a:custGeom>
            <a:avLst/>
            <a:gdLst/>
            <a:ahLst/>
            <a:cxnLst/>
            <a:rect r="r" b="b" t="t" l="l"/>
            <a:pathLst>
              <a:path h="9058534" w="9209230">
                <a:moveTo>
                  <a:pt x="0" y="0"/>
                </a:moveTo>
                <a:lnTo>
                  <a:pt x="9209230" y="0"/>
                </a:lnTo>
                <a:lnTo>
                  <a:pt x="9209230" y="9058534"/>
                </a:lnTo>
                <a:lnTo>
                  <a:pt x="0" y="905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66738"/>
            <a:ext cx="162306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1"/>
              </a:lnSpc>
            </a:pPr>
            <a:r>
              <a:rPr lang="en-US" b="true" sz="536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</a:t>
            </a:r>
            <a:r>
              <a:rPr lang="en-US" b="true" sz="5367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enel Değerlendirme — İletişim Desenleri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635610"/>
            <a:ext cx="1584574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4197">
                <a:solidFill>
                  <a:srgbClr val="1F1F1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Projed</a:t>
            </a:r>
            <a:r>
              <a:rPr lang="en-US" b="true" sz="4197">
                <a:solidFill>
                  <a:srgbClr val="1F1F1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 iki nesne birbirine kaç farklı yoldan bağlanıyor?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66993" y="2716364"/>
            <a:ext cx="7770749" cy="631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242" indent="-228621" lvl="1">
              <a:lnSpc>
                <a:spcPts val="2964"/>
              </a:lnSpc>
              <a:spcBef>
                <a:spcPct val="0"/>
              </a:spcBef>
              <a:buFont typeface="Arial"/>
              <a:buChar char="•"/>
            </a:pPr>
            <a:r>
              <a:rPr lang="en-US" sz="2117">
                <a:solidFill>
                  <a:srgbClr val="EBEBE6"/>
                </a:solidFill>
                <a:latin typeface="Poppins Light"/>
                <a:ea typeface="Poppins Light"/>
                <a:cs typeface="Poppins Light"/>
                <a:sym typeface="Poppins Light"/>
              </a:rPr>
              <a:t>Doğrudan ç</a:t>
            </a:r>
            <a:r>
              <a:rPr lang="en-US" sz="2117">
                <a:solidFill>
                  <a:srgbClr val="EBEBE6"/>
                </a:solidFill>
                <a:latin typeface="Poppins Light"/>
                <a:ea typeface="Poppins Light"/>
                <a:cs typeface="Poppins Light"/>
                <a:sym typeface="Poppins Light"/>
              </a:rPr>
              <a:t>ağrı: Component sahibinin fonksiyonunu çağırır. En basit ama en sıkı bağ.</a:t>
            </a:r>
          </a:p>
          <a:p>
            <a:pPr algn="l">
              <a:lnSpc>
                <a:spcPts val="2964"/>
              </a:lnSpc>
              <a:spcBef>
                <a:spcPct val="0"/>
              </a:spcBef>
            </a:pPr>
          </a:p>
          <a:p>
            <a:pPr algn="l">
              <a:lnSpc>
                <a:spcPts val="2964"/>
              </a:lnSpc>
              <a:spcBef>
                <a:spcPct val="0"/>
              </a:spcBef>
            </a:pPr>
          </a:p>
          <a:p>
            <a:pPr algn="l" marL="457242" indent="-228621" lvl="1">
              <a:lnSpc>
                <a:spcPts val="2964"/>
              </a:lnSpc>
              <a:spcBef>
                <a:spcPct val="0"/>
              </a:spcBef>
              <a:buFont typeface="Arial"/>
              <a:buChar char="•"/>
            </a:pPr>
            <a:r>
              <a:rPr lang="en-US" sz="2117">
                <a:solidFill>
                  <a:srgbClr val="EBEBE6"/>
                </a:solidFill>
                <a:latin typeface="Poppins Light"/>
                <a:ea typeface="Poppins Light"/>
                <a:cs typeface="Poppins Light"/>
                <a:sym typeface="Poppins Light"/>
              </a:rPr>
              <a:t>Cast: Cast&lt;ADenemeActor&gt; — çalışma anında tip kontrolü. Somut sınıfa bağımlı, kırılgan.</a:t>
            </a:r>
          </a:p>
          <a:p>
            <a:pPr algn="l">
              <a:lnSpc>
                <a:spcPts val="2964"/>
              </a:lnSpc>
              <a:spcBef>
                <a:spcPct val="0"/>
              </a:spcBef>
            </a:pPr>
          </a:p>
          <a:p>
            <a:pPr algn="l">
              <a:lnSpc>
                <a:spcPts val="2964"/>
              </a:lnSpc>
              <a:spcBef>
                <a:spcPct val="0"/>
              </a:spcBef>
            </a:pPr>
          </a:p>
          <a:p>
            <a:pPr algn="l" marL="457242" indent="-228621" lvl="1">
              <a:lnSpc>
                <a:spcPts val="2964"/>
              </a:lnSpc>
              <a:spcBef>
                <a:spcPct val="0"/>
              </a:spcBef>
              <a:buFont typeface="Arial"/>
              <a:buChar char="•"/>
            </a:pPr>
            <a:r>
              <a:rPr lang="en-US" sz="2117">
                <a:solidFill>
                  <a:srgbClr val="EBEBE6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Interface: Cast&lt;IMyInterface&gt; — sözleşmeye bağımlı. Karşı tarafın sınıfını bilmeye gerek yok.</a:t>
            </a:r>
          </a:p>
          <a:p>
            <a:pPr algn="l">
              <a:lnSpc>
                <a:spcPts val="2964"/>
              </a:lnSpc>
              <a:spcBef>
                <a:spcPct val="0"/>
              </a:spcBef>
            </a:pPr>
          </a:p>
          <a:p>
            <a:pPr algn="l">
              <a:lnSpc>
                <a:spcPts val="2964"/>
              </a:lnSpc>
              <a:spcBef>
                <a:spcPct val="0"/>
              </a:spcBef>
            </a:pPr>
          </a:p>
          <a:p>
            <a:pPr algn="l" marL="457242" indent="-228621" lvl="1">
              <a:lnSpc>
                <a:spcPts val="2964"/>
              </a:lnSpc>
              <a:spcBef>
                <a:spcPct val="0"/>
              </a:spcBef>
              <a:buFont typeface="Arial"/>
              <a:buChar char="•"/>
            </a:pPr>
            <a:r>
              <a:rPr lang="en-US" sz="2117">
                <a:solidFill>
                  <a:srgbClr val="EBEBE6"/>
                </a:solidFill>
                <a:latin typeface="Poppins Light"/>
                <a:ea typeface="Poppins Light"/>
                <a:cs typeface="Poppins Light"/>
                <a:sym typeface="Poppins Light"/>
              </a:rPr>
              <a:t>Delegate: Yayın yapan, kimi çağırdığını bilmez. En gevşek bağ.</a:t>
            </a:r>
          </a:p>
          <a:p>
            <a:pPr algn="l">
              <a:lnSpc>
                <a:spcPts val="2964"/>
              </a:lnSpc>
              <a:spcBef>
                <a:spcPct val="0"/>
              </a:spcBef>
            </a:pPr>
          </a:p>
          <a:p>
            <a:pPr algn="l" marL="457242" indent="-228621" lvl="1">
              <a:lnSpc>
                <a:spcPts val="2964"/>
              </a:lnSpc>
              <a:spcBef>
                <a:spcPct val="0"/>
              </a:spcBef>
              <a:buFont typeface="Arial"/>
              <a:buChar char="•"/>
            </a:pPr>
            <a:r>
              <a:rPr lang="en-US" sz="2117">
                <a:solidFill>
                  <a:srgbClr val="EBEBE6"/>
                </a:solidFill>
                <a:latin typeface="Poppins Light"/>
                <a:ea typeface="Poppins Light"/>
                <a:cs typeface="Poppins Light"/>
                <a:sym typeface="Poppins Light"/>
              </a:rPr>
              <a:t>Timer: Zamanla tetiklenen, çağıranı olmayan akış.</a:t>
            </a:r>
          </a:p>
          <a:p>
            <a:pPr algn="l" marL="0" indent="0" lvl="0">
              <a:lnSpc>
                <a:spcPts val="2964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1550"/>
            <a:ext cx="7636277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b="true" sz="5995">
                <a:solidFill>
                  <a:srgbClr val="1F1F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Teşekkürler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64547" y="1028700"/>
            <a:ext cx="7894753" cy="8229600"/>
            <a:chOff x="0" y="0"/>
            <a:chExt cx="528805" cy="5512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8805" cy="551234"/>
            </a:xfrm>
            <a:custGeom>
              <a:avLst/>
              <a:gdLst/>
              <a:ahLst/>
              <a:cxnLst/>
              <a:rect r="r" b="b" t="t" l="l"/>
              <a:pathLst>
                <a:path h="551234" w="528805">
                  <a:moveTo>
                    <a:pt x="0" y="0"/>
                  </a:moveTo>
                  <a:lnTo>
                    <a:pt x="528805" y="0"/>
                  </a:lnTo>
                  <a:lnTo>
                    <a:pt x="528805" y="551234"/>
                  </a:lnTo>
                  <a:lnTo>
                    <a:pt x="0" y="551234"/>
                  </a:ln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28805" cy="60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36636" y="8277632"/>
            <a:ext cx="6874009" cy="68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317"/>
              </a:lnSpc>
              <a:spcBef>
                <a:spcPct val="0"/>
              </a:spcBef>
            </a:pPr>
            <a:r>
              <a:rPr lang="en-US" sz="3798">
                <a:solidFill>
                  <a:srgbClr val="EBEBE6"/>
                </a:solidFill>
                <a:latin typeface="Poppins"/>
                <a:ea typeface="Poppins"/>
                <a:cs typeface="Poppins"/>
                <a:sym typeface="Poppins"/>
              </a:rPr>
              <a:t>Recep Akkuş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DAHQxWvqimc</dc:identifier>
  <dcterms:modified xsi:type="dcterms:W3CDTF">2011-08-01T06:04:30Z</dcterms:modified>
  <cp:revision>1</cp:revision>
  <dc:title>Hazırlayan: Recep Akkuş</dc:title>
</cp:coreProperties>
</file>