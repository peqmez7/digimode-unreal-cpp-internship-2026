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 UE5 uzerinde C++ ve Blueprint ile gelistirilen AI, delegate ve UMG sistemlerini kapsar.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Coding yalnızca editör içi Compile düğmesiyle çalışır. Terminalden build alındıysa editörün yeniden başlatılması zorunludur.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BeginPlay her zaman Blueprint BeginPlay'den once calisir. Bu sira degistirilemez, bu yuzden yayin geciktirilir.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143000"/>
            <a:ext cx="822960" cy="822960"/>
          </a:xfrm>
          <a:prstGeom prst="roundRect">
            <a:avLst>
              <a:gd name="adj" fmla="val 11111"/>
            </a:avLst>
          </a:prstGeom>
          <a:solidFill>
            <a:srgbClr val="7AA2F7"/>
          </a:solidFill>
          <a:ln w="12700">
            <a:solidFill>
              <a:srgbClr val="7AA2F7"/>
            </a:solidFill>
            <a:prstDash val="solid"/>
          </a:ln>
        </p:spPr>
      </p:sp>
      <p:sp>
        <p:nvSpPr>
          <p:cNvPr id="3" name="Text 1"/>
          <p:cNvSpPr/>
          <p:nvPr/>
        </p:nvSpPr>
        <p:spPr>
          <a:xfrm>
            <a:off x="566928" y="1143000"/>
            <a:ext cx="822960" cy="822960"/>
          </a:xfrm>
          <a:prstGeom prst="rect">
            <a:avLst/>
          </a:prstGeom>
          <a:noFill/>
          <a:ln/>
        </p:spPr>
        <p:txBody>
          <a:bodyPr wrap="square" lIns="0" tIns="0" rIns="0" bIns="0" rtlCol="0" anchor="ctr"/>
          <a:lstStyle/>
          <a:p>
            <a:pPr algn="ctr" indent="0" marL="0">
              <a:buNone/>
            </a:pPr>
            <a:r>
              <a:rPr lang="en-US" sz="2000" b="1" dirty="0">
                <a:solidFill>
                  <a:srgbClr val="1A1B26"/>
                </a:solidFill>
                <a:latin typeface="Calibri" pitchFamily="34" charset="0"/>
                <a:ea typeface="Calibri" pitchFamily="34" charset="-122"/>
                <a:cs typeface="Calibri" pitchFamily="34" charset="-120"/>
              </a:rPr>
              <a:t>UE5</a:t>
            </a:r>
            <a:endParaRPr lang="en-US" sz="2000" dirty="0"/>
          </a:p>
        </p:txBody>
      </p:sp>
      <p:sp>
        <p:nvSpPr>
          <p:cNvPr id="4" name="Text 2"/>
          <p:cNvSpPr/>
          <p:nvPr/>
        </p:nvSpPr>
        <p:spPr>
          <a:xfrm>
            <a:off x="566928" y="2194560"/>
            <a:ext cx="11057839" cy="7772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Unreal Engine 5</a:t>
            </a:r>
            <a:endParaRPr lang="en-US" sz="4600" dirty="0"/>
          </a:p>
        </p:txBody>
      </p:sp>
      <p:sp>
        <p:nvSpPr>
          <p:cNvPr id="5" name="Text 3"/>
          <p:cNvSpPr/>
          <p:nvPr/>
        </p:nvSpPr>
        <p:spPr>
          <a:xfrm>
            <a:off x="566928" y="2926080"/>
            <a:ext cx="11057839" cy="685800"/>
          </a:xfrm>
          <a:prstGeom prst="rect">
            <a:avLst/>
          </a:prstGeom>
          <a:noFill/>
          <a:ln/>
        </p:spPr>
        <p:txBody>
          <a:bodyPr wrap="square" lIns="0" tIns="0" rIns="0" bIns="0" rtlCol="0" anchor="ctr"/>
          <a:lstStyle/>
          <a:p>
            <a:pPr indent="0" marL="0">
              <a:buNone/>
            </a:pPr>
            <a:r>
              <a:rPr lang="en-US" sz="3800" b="1" dirty="0">
                <a:solidFill>
                  <a:srgbClr val="7AA2F7"/>
                </a:solidFill>
                <a:latin typeface="Calibri" pitchFamily="34" charset="0"/>
                <a:ea typeface="Calibri" pitchFamily="34" charset="-122"/>
                <a:cs typeface="Calibri" pitchFamily="34" charset="-120"/>
              </a:rPr>
              <a:t>Yapay Zekâ, Delegate ve Arayüz Sistemleri</a:t>
            </a:r>
            <a:endParaRPr lang="en-US" sz="3800" dirty="0"/>
          </a:p>
        </p:txBody>
      </p:sp>
      <p:sp>
        <p:nvSpPr>
          <p:cNvPr id="6" name="Text 4"/>
          <p:cNvSpPr/>
          <p:nvPr/>
        </p:nvSpPr>
        <p:spPr>
          <a:xfrm>
            <a:off x="566928" y="3794760"/>
            <a:ext cx="8778240" cy="457200"/>
          </a:xfrm>
          <a:prstGeom prst="rect">
            <a:avLst/>
          </a:prstGeom>
          <a:noFill/>
          <a:ln/>
        </p:spPr>
        <p:txBody>
          <a:bodyPr wrap="square" lIns="0" tIns="0" rIns="0" bIns="0" rtlCol="0" anchor="ctr"/>
          <a:lstStyle/>
          <a:p>
            <a:pPr indent="0" marL="0">
              <a:buNone/>
            </a:pPr>
            <a:r>
              <a:rPr lang="en-US" sz="1500" i="1" dirty="0">
                <a:solidFill>
                  <a:srgbClr val="7A83A8"/>
                </a:solidFill>
                <a:latin typeface="Calibri" pitchFamily="34" charset="0"/>
                <a:ea typeface="Calibri" pitchFamily="34" charset="-122"/>
                <a:cs typeface="Calibri" pitchFamily="34" charset="-120"/>
              </a:rPr>
              <a:t>C++ ve Blueprint entegrasyonu ile uygulamalı geliştirme, karşılaşılan hatalar ve çözümleri</a:t>
            </a:r>
            <a:endParaRPr lang="en-US" sz="1500" dirty="0"/>
          </a:p>
        </p:txBody>
      </p:sp>
      <p:sp>
        <p:nvSpPr>
          <p:cNvPr id="7" name="Shape 5"/>
          <p:cNvSpPr/>
          <p:nvPr/>
        </p:nvSpPr>
        <p:spPr>
          <a:xfrm>
            <a:off x="566928" y="4800600"/>
            <a:ext cx="2593010" cy="822960"/>
          </a:xfrm>
          <a:prstGeom prst="roundRect">
            <a:avLst>
              <a:gd name="adj" fmla="val 8889"/>
            </a:avLst>
          </a:prstGeom>
          <a:solidFill>
            <a:srgbClr val="242938"/>
          </a:solidFill>
          <a:ln w="12700">
            <a:solidFill>
              <a:srgbClr val="2A3042"/>
            </a:solidFill>
            <a:prstDash val="solid"/>
          </a:ln>
        </p:spPr>
      </p:sp>
      <p:sp>
        <p:nvSpPr>
          <p:cNvPr id="8" name="Text 6"/>
          <p:cNvSpPr/>
          <p:nvPr/>
        </p:nvSpPr>
        <p:spPr>
          <a:xfrm>
            <a:off x="749808" y="4901184"/>
            <a:ext cx="2227250" cy="237744"/>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PROJE</a:t>
            </a:r>
            <a:endParaRPr lang="en-US" sz="900" dirty="0"/>
          </a:p>
        </p:txBody>
      </p:sp>
      <p:sp>
        <p:nvSpPr>
          <p:cNvPr id="9" name="Text 7"/>
          <p:cNvSpPr/>
          <p:nvPr/>
        </p:nvSpPr>
        <p:spPr>
          <a:xfrm>
            <a:off x="749808" y="5138928"/>
            <a:ext cx="2227250" cy="310896"/>
          </a:xfrm>
          <a:prstGeom prst="rect">
            <a:avLst/>
          </a:prstGeom>
          <a:noFill/>
          <a:ln/>
        </p:spPr>
        <p:txBody>
          <a:bodyPr wrap="square" lIns="0" tIns="0" rIns="0" bIns="0" rtlCol="0" anchor="ctr"/>
          <a:lstStyle/>
          <a:p>
            <a:pPr indent="0" marL="0">
              <a:buNone/>
            </a:pPr>
            <a:r>
              <a:rPr lang="en-US" sz="1300" b="1" dirty="0">
                <a:solidFill>
                  <a:srgbClr val="C6CEF0"/>
                </a:solidFill>
                <a:latin typeface="Calibri" pitchFamily="34" charset="0"/>
                <a:ea typeface="Calibri" pitchFamily="34" charset="-122"/>
                <a:cs typeface="Calibri" pitchFamily="34" charset="-120"/>
              </a:rPr>
              <a:t>UEOgrenme</a:t>
            </a:r>
            <a:endParaRPr lang="en-US" sz="1300" dirty="0"/>
          </a:p>
        </p:txBody>
      </p:sp>
      <p:sp>
        <p:nvSpPr>
          <p:cNvPr id="10" name="Shape 8"/>
          <p:cNvSpPr/>
          <p:nvPr/>
        </p:nvSpPr>
        <p:spPr>
          <a:xfrm>
            <a:off x="3388538" y="4800600"/>
            <a:ext cx="2593010" cy="822960"/>
          </a:xfrm>
          <a:prstGeom prst="roundRect">
            <a:avLst>
              <a:gd name="adj" fmla="val 8889"/>
            </a:avLst>
          </a:prstGeom>
          <a:solidFill>
            <a:srgbClr val="242938"/>
          </a:solidFill>
          <a:ln w="12700">
            <a:solidFill>
              <a:srgbClr val="2A3042"/>
            </a:solidFill>
            <a:prstDash val="solid"/>
          </a:ln>
        </p:spPr>
      </p:sp>
      <p:sp>
        <p:nvSpPr>
          <p:cNvPr id="11" name="Text 9"/>
          <p:cNvSpPr/>
          <p:nvPr/>
        </p:nvSpPr>
        <p:spPr>
          <a:xfrm>
            <a:off x="3571418" y="4901184"/>
            <a:ext cx="2227250" cy="237744"/>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MOTOR</a:t>
            </a:r>
            <a:endParaRPr lang="en-US" sz="900" dirty="0"/>
          </a:p>
        </p:txBody>
      </p:sp>
      <p:sp>
        <p:nvSpPr>
          <p:cNvPr id="12" name="Text 10"/>
          <p:cNvSpPr/>
          <p:nvPr/>
        </p:nvSpPr>
        <p:spPr>
          <a:xfrm>
            <a:off x="3571418" y="5138928"/>
            <a:ext cx="2227250" cy="310896"/>
          </a:xfrm>
          <a:prstGeom prst="rect">
            <a:avLst/>
          </a:prstGeom>
          <a:noFill/>
          <a:ln/>
        </p:spPr>
        <p:txBody>
          <a:bodyPr wrap="square" lIns="0" tIns="0" rIns="0" bIns="0" rtlCol="0" anchor="ctr"/>
          <a:lstStyle/>
          <a:p>
            <a:pPr indent="0" marL="0">
              <a:buNone/>
            </a:pPr>
            <a:r>
              <a:rPr lang="en-US" sz="1300" b="1" dirty="0">
                <a:solidFill>
                  <a:srgbClr val="C6CEF0"/>
                </a:solidFill>
                <a:latin typeface="Calibri" pitchFamily="34" charset="0"/>
                <a:ea typeface="Calibri" pitchFamily="34" charset="-122"/>
                <a:cs typeface="Calibri" pitchFamily="34" charset="-120"/>
              </a:rPr>
              <a:t>Unreal Engine 5.7</a:t>
            </a:r>
            <a:endParaRPr lang="en-US" sz="1300" dirty="0"/>
          </a:p>
        </p:txBody>
      </p:sp>
      <p:sp>
        <p:nvSpPr>
          <p:cNvPr id="13" name="Shape 11"/>
          <p:cNvSpPr/>
          <p:nvPr/>
        </p:nvSpPr>
        <p:spPr>
          <a:xfrm>
            <a:off x="6210148" y="4800600"/>
            <a:ext cx="2593010" cy="822960"/>
          </a:xfrm>
          <a:prstGeom prst="roundRect">
            <a:avLst>
              <a:gd name="adj" fmla="val 8889"/>
            </a:avLst>
          </a:prstGeom>
          <a:solidFill>
            <a:srgbClr val="242938"/>
          </a:solidFill>
          <a:ln w="12700">
            <a:solidFill>
              <a:srgbClr val="2A3042"/>
            </a:solidFill>
            <a:prstDash val="solid"/>
          </a:ln>
        </p:spPr>
      </p:sp>
      <p:sp>
        <p:nvSpPr>
          <p:cNvPr id="14" name="Text 12"/>
          <p:cNvSpPr/>
          <p:nvPr/>
        </p:nvSpPr>
        <p:spPr>
          <a:xfrm>
            <a:off x="6393028" y="4901184"/>
            <a:ext cx="2227250" cy="237744"/>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PLATFORM</a:t>
            </a:r>
            <a:endParaRPr lang="en-US" sz="900" dirty="0"/>
          </a:p>
        </p:txBody>
      </p:sp>
      <p:sp>
        <p:nvSpPr>
          <p:cNvPr id="15" name="Text 13"/>
          <p:cNvSpPr/>
          <p:nvPr/>
        </p:nvSpPr>
        <p:spPr>
          <a:xfrm>
            <a:off x="6393028" y="5138928"/>
            <a:ext cx="2227250" cy="310896"/>
          </a:xfrm>
          <a:prstGeom prst="rect">
            <a:avLst/>
          </a:prstGeom>
          <a:noFill/>
          <a:ln/>
        </p:spPr>
        <p:txBody>
          <a:bodyPr wrap="square" lIns="0" tIns="0" rIns="0" bIns="0" rtlCol="0" anchor="ctr"/>
          <a:lstStyle/>
          <a:p>
            <a:pPr indent="0" marL="0">
              <a:buNone/>
            </a:pPr>
            <a:r>
              <a:rPr lang="en-US" sz="1300" b="1" dirty="0">
                <a:solidFill>
                  <a:srgbClr val="C6CEF0"/>
                </a:solidFill>
                <a:latin typeface="Calibri" pitchFamily="34" charset="0"/>
                <a:ea typeface="Calibri" pitchFamily="34" charset="-122"/>
                <a:cs typeface="Calibri" pitchFamily="34" charset="-120"/>
              </a:rPr>
              <a:t>macOS / Apple Silicon</a:t>
            </a:r>
            <a:endParaRPr lang="en-US" sz="1300" dirty="0"/>
          </a:p>
        </p:txBody>
      </p:sp>
      <p:sp>
        <p:nvSpPr>
          <p:cNvPr id="16" name="Shape 14"/>
          <p:cNvSpPr/>
          <p:nvPr/>
        </p:nvSpPr>
        <p:spPr>
          <a:xfrm>
            <a:off x="9031757" y="4800600"/>
            <a:ext cx="2593010" cy="822960"/>
          </a:xfrm>
          <a:prstGeom prst="roundRect">
            <a:avLst>
              <a:gd name="adj" fmla="val 8889"/>
            </a:avLst>
          </a:prstGeom>
          <a:solidFill>
            <a:srgbClr val="242938"/>
          </a:solidFill>
          <a:ln w="12700">
            <a:solidFill>
              <a:srgbClr val="2A3042"/>
            </a:solidFill>
            <a:prstDash val="solid"/>
          </a:ln>
        </p:spPr>
      </p:sp>
      <p:sp>
        <p:nvSpPr>
          <p:cNvPr id="17" name="Text 15"/>
          <p:cNvSpPr/>
          <p:nvPr/>
        </p:nvSpPr>
        <p:spPr>
          <a:xfrm>
            <a:off x="9214637" y="4901184"/>
            <a:ext cx="2227250" cy="237744"/>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DIL</a:t>
            </a:r>
            <a:endParaRPr lang="en-US" sz="900" dirty="0"/>
          </a:p>
        </p:txBody>
      </p:sp>
      <p:sp>
        <p:nvSpPr>
          <p:cNvPr id="18" name="Text 16"/>
          <p:cNvSpPr/>
          <p:nvPr/>
        </p:nvSpPr>
        <p:spPr>
          <a:xfrm>
            <a:off x="9214637" y="5138928"/>
            <a:ext cx="2227250" cy="310896"/>
          </a:xfrm>
          <a:prstGeom prst="rect">
            <a:avLst/>
          </a:prstGeom>
          <a:noFill/>
          <a:ln/>
        </p:spPr>
        <p:txBody>
          <a:bodyPr wrap="square" lIns="0" tIns="0" rIns="0" bIns="0" rtlCol="0" anchor="ctr"/>
          <a:lstStyle/>
          <a:p>
            <a:pPr indent="0" marL="0">
              <a:buNone/>
            </a:pPr>
            <a:r>
              <a:rPr lang="en-US" sz="1300" b="1" dirty="0">
                <a:solidFill>
                  <a:srgbClr val="C6CEF0"/>
                </a:solidFill>
                <a:latin typeface="Calibri" pitchFamily="34" charset="0"/>
                <a:ea typeface="Calibri" pitchFamily="34" charset="-122"/>
                <a:cs typeface="Calibri" pitchFamily="34" charset="-120"/>
              </a:rPr>
              <a:t>C++ 20 + Blueprint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İçindekiler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Sunum sekiz bölümden oluşmaktadır</a:t>
            </a:r>
            <a:endParaRPr lang="en-US" sz="1300" dirty="0"/>
          </a:p>
        </p:txBody>
      </p:sp>
      <p:sp>
        <p:nvSpPr>
          <p:cNvPr id="4" name="Shape 2"/>
          <p:cNvSpPr/>
          <p:nvPr/>
        </p:nvSpPr>
        <p:spPr>
          <a:xfrm>
            <a:off x="566928" y="1481328"/>
            <a:ext cx="5346040" cy="969264"/>
          </a:xfrm>
          <a:prstGeom prst="roundRect">
            <a:avLst>
              <a:gd name="adj" fmla="val 7547"/>
            </a:avLst>
          </a:prstGeom>
          <a:solidFill>
            <a:srgbClr val="242938"/>
          </a:solidFill>
          <a:ln w="12700">
            <a:solidFill>
              <a:srgbClr val="2A3042"/>
            </a:solidFill>
            <a:prstDash val="solid"/>
          </a:ln>
        </p:spPr>
      </p:sp>
      <p:sp>
        <p:nvSpPr>
          <p:cNvPr id="5" name="Text 3"/>
          <p:cNvSpPr/>
          <p:nvPr/>
        </p:nvSpPr>
        <p:spPr>
          <a:xfrm>
            <a:off x="768096" y="1627632"/>
            <a:ext cx="640080" cy="676656"/>
          </a:xfrm>
          <a:prstGeom prst="rect">
            <a:avLst/>
          </a:prstGeom>
          <a:noFill/>
          <a:ln/>
        </p:spPr>
        <p:txBody>
          <a:bodyPr wrap="square" lIns="0" tIns="0" rIns="0" bIns="0" rtlCol="0" anchor="ctr"/>
          <a:lstStyle/>
          <a:p>
            <a:pPr algn="l" indent="0" marL="0">
              <a:buNone/>
            </a:pPr>
            <a:r>
              <a:rPr lang="en-US" sz="2600" b="1" dirty="0">
                <a:solidFill>
                  <a:srgbClr val="7AA2F7"/>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481328" y="1645920"/>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Build Sistemi ve Modül Yönetimi</a:t>
            </a:r>
            <a:endParaRPr lang="en-US" sz="1500" dirty="0"/>
          </a:p>
        </p:txBody>
      </p:sp>
      <p:sp>
        <p:nvSpPr>
          <p:cNvPr id="7" name="Text 5"/>
          <p:cNvSpPr/>
          <p:nvPr/>
        </p:nvSpPr>
        <p:spPr>
          <a:xfrm>
            <a:off x="1481328" y="1993392"/>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Derleme akışı, Build.cs, modül bağımlılıkları</a:t>
            </a:r>
            <a:endParaRPr lang="en-US" sz="1100" dirty="0"/>
          </a:p>
        </p:txBody>
      </p:sp>
      <p:sp>
        <p:nvSpPr>
          <p:cNvPr id="8" name="Shape 6"/>
          <p:cNvSpPr/>
          <p:nvPr/>
        </p:nvSpPr>
        <p:spPr>
          <a:xfrm>
            <a:off x="6278728" y="1481328"/>
            <a:ext cx="5346040" cy="969264"/>
          </a:xfrm>
          <a:prstGeom prst="roundRect">
            <a:avLst>
              <a:gd name="adj" fmla="val 7547"/>
            </a:avLst>
          </a:prstGeom>
          <a:solidFill>
            <a:srgbClr val="242938"/>
          </a:solidFill>
          <a:ln w="12700">
            <a:solidFill>
              <a:srgbClr val="2A3042"/>
            </a:solidFill>
            <a:prstDash val="solid"/>
          </a:ln>
        </p:spPr>
      </p:sp>
      <p:sp>
        <p:nvSpPr>
          <p:cNvPr id="9" name="Text 7"/>
          <p:cNvSpPr/>
          <p:nvPr/>
        </p:nvSpPr>
        <p:spPr>
          <a:xfrm>
            <a:off x="6479896" y="1627632"/>
            <a:ext cx="640080" cy="676656"/>
          </a:xfrm>
          <a:prstGeom prst="rect">
            <a:avLst/>
          </a:prstGeom>
          <a:noFill/>
          <a:ln/>
        </p:spPr>
        <p:txBody>
          <a:bodyPr wrap="square" lIns="0" tIns="0" rIns="0" bIns="0" rtlCol="0" anchor="ctr"/>
          <a:lstStyle/>
          <a:p>
            <a:pPr algn="l" indent="0" marL="0">
              <a:buNone/>
            </a:pPr>
            <a:r>
              <a:rPr lang="en-US" sz="2600" b="1" dirty="0">
                <a:solidFill>
                  <a:srgbClr val="9ECE6A"/>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7193128" y="1645920"/>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Navigation ve Yapay Zekâ</a:t>
            </a:r>
            <a:endParaRPr lang="en-US" sz="1500" dirty="0"/>
          </a:p>
        </p:txBody>
      </p:sp>
      <p:sp>
        <p:nvSpPr>
          <p:cNvPr id="11" name="Text 9"/>
          <p:cNvSpPr/>
          <p:nvPr/>
        </p:nvSpPr>
        <p:spPr>
          <a:xfrm>
            <a:off x="7193128" y="1993392"/>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NavMesh, AI Controller, C++ ile dolaşan karakter</a:t>
            </a:r>
            <a:endParaRPr lang="en-US" sz="1100" dirty="0"/>
          </a:p>
        </p:txBody>
      </p:sp>
      <p:sp>
        <p:nvSpPr>
          <p:cNvPr id="12" name="Shape 10"/>
          <p:cNvSpPr/>
          <p:nvPr/>
        </p:nvSpPr>
        <p:spPr>
          <a:xfrm>
            <a:off x="566928" y="2615184"/>
            <a:ext cx="5346040" cy="969264"/>
          </a:xfrm>
          <a:prstGeom prst="roundRect">
            <a:avLst>
              <a:gd name="adj" fmla="val 7547"/>
            </a:avLst>
          </a:prstGeom>
          <a:solidFill>
            <a:srgbClr val="242938"/>
          </a:solidFill>
          <a:ln w="12700">
            <a:solidFill>
              <a:srgbClr val="2A3042"/>
            </a:solidFill>
            <a:prstDash val="solid"/>
          </a:ln>
        </p:spPr>
      </p:sp>
      <p:sp>
        <p:nvSpPr>
          <p:cNvPr id="13" name="Text 11"/>
          <p:cNvSpPr/>
          <p:nvPr/>
        </p:nvSpPr>
        <p:spPr>
          <a:xfrm>
            <a:off x="768096" y="2761488"/>
            <a:ext cx="640080" cy="676656"/>
          </a:xfrm>
          <a:prstGeom prst="rect">
            <a:avLst/>
          </a:prstGeom>
          <a:noFill/>
          <a:ln/>
        </p:spPr>
        <p:txBody>
          <a:bodyPr wrap="square" lIns="0" tIns="0" rIns="0" bIns="0" rtlCol="0" anchor="ctr"/>
          <a:lstStyle/>
          <a:p>
            <a:pPr algn="l" indent="0" marL="0">
              <a:buNone/>
            </a:pPr>
            <a:r>
              <a:rPr lang="en-US" sz="2600" b="1" dirty="0">
                <a:solidFill>
                  <a:srgbClr val="BB9AF7"/>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481328" y="2779776"/>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Delegate Sistemi</a:t>
            </a:r>
            <a:endParaRPr lang="en-US" sz="1500" dirty="0"/>
          </a:p>
        </p:txBody>
      </p:sp>
      <p:sp>
        <p:nvSpPr>
          <p:cNvPr id="15" name="Text 13"/>
          <p:cNvSpPr/>
          <p:nvPr/>
        </p:nvSpPr>
        <p:spPr>
          <a:xfrm>
            <a:off x="1481328" y="3127248"/>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Dynamic Multicast, Broadcast, Blueprint entegrasyonu</a:t>
            </a:r>
            <a:endParaRPr lang="en-US" sz="1100" dirty="0"/>
          </a:p>
        </p:txBody>
      </p:sp>
      <p:sp>
        <p:nvSpPr>
          <p:cNvPr id="16" name="Shape 14"/>
          <p:cNvSpPr/>
          <p:nvPr/>
        </p:nvSpPr>
        <p:spPr>
          <a:xfrm>
            <a:off x="6278728" y="2615184"/>
            <a:ext cx="5346040" cy="969264"/>
          </a:xfrm>
          <a:prstGeom prst="roundRect">
            <a:avLst>
              <a:gd name="adj" fmla="val 7547"/>
            </a:avLst>
          </a:prstGeom>
          <a:solidFill>
            <a:srgbClr val="242938"/>
          </a:solidFill>
          <a:ln w="12700">
            <a:solidFill>
              <a:srgbClr val="2A3042"/>
            </a:solidFill>
            <a:prstDash val="solid"/>
          </a:ln>
        </p:spPr>
      </p:sp>
      <p:sp>
        <p:nvSpPr>
          <p:cNvPr id="17" name="Text 15"/>
          <p:cNvSpPr/>
          <p:nvPr/>
        </p:nvSpPr>
        <p:spPr>
          <a:xfrm>
            <a:off x="6479896" y="2761488"/>
            <a:ext cx="640080" cy="676656"/>
          </a:xfrm>
          <a:prstGeom prst="rect">
            <a:avLst/>
          </a:prstGeom>
          <a:noFill/>
          <a:ln/>
        </p:spPr>
        <p:txBody>
          <a:bodyPr wrap="square" lIns="0" tIns="0" rIns="0" bIns="0" rtlCol="0" anchor="ctr"/>
          <a:lstStyle/>
          <a:p>
            <a:pPr algn="l" indent="0" marL="0">
              <a:buNone/>
            </a:pPr>
            <a:r>
              <a:rPr lang="en-US" sz="2600" b="1" dirty="0">
                <a:solidFill>
                  <a:srgbClr val="7DCFFF"/>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193128" y="2779776"/>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UMG ve Arayüz</a:t>
            </a:r>
            <a:endParaRPr lang="en-US" sz="1500" dirty="0"/>
          </a:p>
        </p:txBody>
      </p:sp>
      <p:sp>
        <p:nvSpPr>
          <p:cNvPr id="19" name="Text 17"/>
          <p:cNvSpPr/>
          <p:nvPr/>
        </p:nvSpPr>
        <p:spPr>
          <a:xfrm>
            <a:off x="7193128" y="3127248"/>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BindWidget, FText, Printf, yumuşak geçişler</a:t>
            </a:r>
            <a:endParaRPr lang="en-US" sz="1100" dirty="0"/>
          </a:p>
        </p:txBody>
      </p:sp>
      <p:sp>
        <p:nvSpPr>
          <p:cNvPr id="20" name="Shape 18"/>
          <p:cNvSpPr/>
          <p:nvPr/>
        </p:nvSpPr>
        <p:spPr>
          <a:xfrm>
            <a:off x="566928" y="3749040"/>
            <a:ext cx="5346040" cy="969264"/>
          </a:xfrm>
          <a:prstGeom prst="roundRect">
            <a:avLst>
              <a:gd name="adj" fmla="val 7547"/>
            </a:avLst>
          </a:prstGeom>
          <a:solidFill>
            <a:srgbClr val="242938"/>
          </a:solidFill>
          <a:ln w="12700">
            <a:solidFill>
              <a:srgbClr val="2A3042"/>
            </a:solidFill>
            <a:prstDash val="solid"/>
          </a:ln>
        </p:spPr>
      </p:sp>
      <p:sp>
        <p:nvSpPr>
          <p:cNvPr id="21" name="Text 19"/>
          <p:cNvSpPr/>
          <p:nvPr/>
        </p:nvSpPr>
        <p:spPr>
          <a:xfrm>
            <a:off x="768096" y="3895344"/>
            <a:ext cx="640080" cy="676656"/>
          </a:xfrm>
          <a:prstGeom prst="rect">
            <a:avLst/>
          </a:prstGeom>
          <a:noFill/>
          <a:ln/>
        </p:spPr>
        <p:txBody>
          <a:bodyPr wrap="square" lIns="0" tIns="0" rIns="0" bIns="0" rtlCol="0" anchor="ctr"/>
          <a:lstStyle/>
          <a:p>
            <a:pPr algn="l" indent="0" marL="0">
              <a:buNone/>
            </a:pPr>
            <a:r>
              <a:rPr lang="en-US" sz="2600" b="1" dirty="0">
                <a:solidFill>
                  <a:srgbClr val="E0AF68"/>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1481328" y="3913632"/>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Animasyon Teşhisi</a:t>
            </a:r>
            <a:endParaRPr lang="en-US" sz="1500" dirty="0"/>
          </a:p>
        </p:txBody>
      </p:sp>
      <p:sp>
        <p:nvSpPr>
          <p:cNvPr id="23" name="Text 21"/>
          <p:cNvSpPr/>
          <p:nvPr/>
        </p:nvSpPr>
        <p:spPr>
          <a:xfrm>
            <a:off x="1481328" y="4261104"/>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T-Pose sorunu ve sistematik teşhis zinciri</a:t>
            </a:r>
            <a:endParaRPr lang="en-US" sz="1100" dirty="0"/>
          </a:p>
        </p:txBody>
      </p:sp>
      <p:sp>
        <p:nvSpPr>
          <p:cNvPr id="24" name="Shape 22"/>
          <p:cNvSpPr/>
          <p:nvPr/>
        </p:nvSpPr>
        <p:spPr>
          <a:xfrm>
            <a:off x="6278728" y="3749040"/>
            <a:ext cx="5346040" cy="969264"/>
          </a:xfrm>
          <a:prstGeom prst="roundRect">
            <a:avLst>
              <a:gd name="adj" fmla="val 7547"/>
            </a:avLst>
          </a:prstGeom>
          <a:solidFill>
            <a:srgbClr val="242938"/>
          </a:solidFill>
          <a:ln w="12700">
            <a:solidFill>
              <a:srgbClr val="2A3042"/>
            </a:solidFill>
            <a:prstDash val="solid"/>
          </a:ln>
        </p:spPr>
      </p:sp>
      <p:sp>
        <p:nvSpPr>
          <p:cNvPr id="25" name="Text 23"/>
          <p:cNvSpPr/>
          <p:nvPr/>
        </p:nvSpPr>
        <p:spPr>
          <a:xfrm>
            <a:off x="6479896" y="3895344"/>
            <a:ext cx="640080" cy="676656"/>
          </a:xfrm>
          <a:prstGeom prst="rect">
            <a:avLst/>
          </a:prstGeom>
          <a:noFill/>
          <a:ln/>
        </p:spPr>
        <p:txBody>
          <a:bodyPr wrap="square" lIns="0" tIns="0" rIns="0" bIns="0" rtlCol="0" anchor="ctr"/>
          <a:lstStyle/>
          <a:p>
            <a:pPr algn="l" indent="0" marL="0">
              <a:buNone/>
            </a:pPr>
            <a:r>
              <a:rPr lang="en-US" sz="2600" b="1" dirty="0">
                <a:solidFill>
                  <a:srgbClr val="F7768E"/>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7193128" y="3913632"/>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Hata Ayıklama ve Çökme Analizi</a:t>
            </a:r>
            <a:endParaRPr lang="en-US" sz="1500" dirty="0"/>
          </a:p>
        </p:txBody>
      </p:sp>
      <p:sp>
        <p:nvSpPr>
          <p:cNvPr id="27" name="Text 25"/>
          <p:cNvSpPr/>
          <p:nvPr/>
        </p:nvSpPr>
        <p:spPr>
          <a:xfrm>
            <a:off x="7193128" y="4261104"/>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Callstack okuma, reentrancy, delegate birikmesi</a:t>
            </a:r>
            <a:endParaRPr lang="en-US" sz="1100" dirty="0"/>
          </a:p>
        </p:txBody>
      </p:sp>
      <p:sp>
        <p:nvSpPr>
          <p:cNvPr id="28" name="Shape 26"/>
          <p:cNvSpPr/>
          <p:nvPr/>
        </p:nvSpPr>
        <p:spPr>
          <a:xfrm>
            <a:off x="566928" y="4882896"/>
            <a:ext cx="5346040" cy="969264"/>
          </a:xfrm>
          <a:prstGeom prst="roundRect">
            <a:avLst>
              <a:gd name="adj" fmla="val 7547"/>
            </a:avLst>
          </a:prstGeom>
          <a:solidFill>
            <a:srgbClr val="242938"/>
          </a:solidFill>
          <a:ln w="12700">
            <a:solidFill>
              <a:srgbClr val="2A3042"/>
            </a:solidFill>
            <a:prstDash val="solid"/>
          </a:ln>
        </p:spPr>
      </p:sp>
      <p:sp>
        <p:nvSpPr>
          <p:cNvPr id="29" name="Text 27"/>
          <p:cNvSpPr/>
          <p:nvPr/>
        </p:nvSpPr>
        <p:spPr>
          <a:xfrm>
            <a:off x="768096" y="5029200"/>
            <a:ext cx="640080" cy="676656"/>
          </a:xfrm>
          <a:prstGeom prst="rect">
            <a:avLst/>
          </a:prstGeom>
          <a:noFill/>
          <a:ln/>
        </p:spPr>
        <p:txBody>
          <a:bodyPr wrap="square" lIns="0" tIns="0" rIns="0" bIns="0" rtlCol="0" anchor="ctr"/>
          <a:lstStyle/>
          <a:p>
            <a:pPr algn="l" indent="0" marL="0">
              <a:buNone/>
            </a:pPr>
            <a:r>
              <a:rPr lang="en-US" sz="2600" b="1" dirty="0">
                <a:solidFill>
                  <a:srgbClr val="7AA2F7"/>
                </a:solidFill>
                <a:latin typeface="Cambria" pitchFamily="34" charset="0"/>
                <a:ea typeface="Cambria" pitchFamily="34" charset="-122"/>
                <a:cs typeface="Cambria" pitchFamily="34" charset="-120"/>
              </a:rPr>
              <a:t>07</a:t>
            </a:r>
            <a:endParaRPr lang="en-US" sz="2600" dirty="0"/>
          </a:p>
        </p:txBody>
      </p:sp>
      <p:sp>
        <p:nvSpPr>
          <p:cNvPr id="30" name="Text 28"/>
          <p:cNvSpPr/>
          <p:nvPr/>
        </p:nvSpPr>
        <p:spPr>
          <a:xfrm>
            <a:off x="1481328" y="5047488"/>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 ve UHT Kuralları</a:t>
            </a:r>
            <a:endParaRPr lang="en-US" sz="1500" dirty="0"/>
          </a:p>
        </p:txBody>
      </p:sp>
      <p:sp>
        <p:nvSpPr>
          <p:cNvPr id="31" name="Text 29"/>
          <p:cNvSpPr/>
          <p:nvPr/>
        </p:nvSpPr>
        <p:spPr>
          <a:xfrm>
            <a:off x="1481328" y="5394960"/>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Derleyici hataları kataloğu, component, makrolar</a:t>
            </a:r>
            <a:endParaRPr lang="en-US" sz="1100" dirty="0"/>
          </a:p>
        </p:txBody>
      </p:sp>
      <p:sp>
        <p:nvSpPr>
          <p:cNvPr id="32" name="Shape 30"/>
          <p:cNvSpPr/>
          <p:nvPr/>
        </p:nvSpPr>
        <p:spPr>
          <a:xfrm>
            <a:off x="6278728" y="4882896"/>
            <a:ext cx="5346040" cy="969264"/>
          </a:xfrm>
          <a:prstGeom prst="roundRect">
            <a:avLst>
              <a:gd name="adj" fmla="val 7547"/>
            </a:avLst>
          </a:prstGeom>
          <a:solidFill>
            <a:srgbClr val="242938"/>
          </a:solidFill>
          <a:ln w="12700">
            <a:solidFill>
              <a:srgbClr val="2A3042"/>
            </a:solidFill>
            <a:prstDash val="solid"/>
          </a:ln>
        </p:spPr>
      </p:sp>
      <p:sp>
        <p:nvSpPr>
          <p:cNvPr id="33" name="Text 31"/>
          <p:cNvSpPr/>
          <p:nvPr/>
        </p:nvSpPr>
        <p:spPr>
          <a:xfrm>
            <a:off x="6479896" y="5029200"/>
            <a:ext cx="640080" cy="676656"/>
          </a:xfrm>
          <a:prstGeom prst="rect">
            <a:avLst/>
          </a:prstGeom>
          <a:noFill/>
          <a:ln/>
        </p:spPr>
        <p:txBody>
          <a:bodyPr wrap="square" lIns="0" tIns="0" rIns="0" bIns="0" rtlCol="0" anchor="ctr"/>
          <a:lstStyle/>
          <a:p>
            <a:pPr algn="l" indent="0" marL="0">
              <a:buNone/>
            </a:pPr>
            <a:r>
              <a:rPr lang="en-US" sz="2600" b="1" dirty="0">
                <a:solidFill>
                  <a:srgbClr val="9ECE6A"/>
                </a:solidFill>
                <a:latin typeface="Cambria" pitchFamily="34" charset="0"/>
                <a:ea typeface="Cambria" pitchFamily="34" charset="-122"/>
                <a:cs typeface="Cambria" pitchFamily="34" charset="-120"/>
              </a:rPr>
              <a:t>08</a:t>
            </a:r>
            <a:endParaRPr lang="en-US" sz="2600" dirty="0"/>
          </a:p>
        </p:txBody>
      </p:sp>
      <p:sp>
        <p:nvSpPr>
          <p:cNvPr id="34" name="Text 32"/>
          <p:cNvSpPr/>
          <p:nvPr/>
        </p:nvSpPr>
        <p:spPr>
          <a:xfrm>
            <a:off x="7193128" y="5047488"/>
            <a:ext cx="4212184"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Mimari Dersler</a:t>
            </a:r>
            <a:endParaRPr lang="en-US" sz="1500" dirty="0"/>
          </a:p>
        </p:txBody>
      </p:sp>
      <p:sp>
        <p:nvSpPr>
          <p:cNvPr id="35" name="Text 33"/>
          <p:cNvSpPr/>
          <p:nvPr/>
        </p:nvSpPr>
        <p:spPr>
          <a:xfrm>
            <a:off x="7193128" y="5394960"/>
            <a:ext cx="4212184" cy="310896"/>
          </a:xfrm>
          <a:prstGeom prst="rect">
            <a:avLst/>
          </a:prstGeom>
          <a:noFill/>
          <a:ln/>
        </p:spPr>
        <p:txBody>
          <a:bodyPr wrap="square" lIns="0" tIns="0" rIns="0" bIns="0" rtlCol="0" anchor="t"/>
          <a:lstStyle/>
          <a:p>
            <a:pPr indent="0" marL="0">
              <a:buNone/>
            </a:pPr>
            <a:r>
              <a:rPr lang="en-US" sz="1100" dirty="0">
                <a:solidFill>
                  <a:srgbClr val="7A83A8"/>
                </a:solidFill>
                <a:latin typeface="Calibri" pitchFamily="34" charset="0"/>
                <a:ea typeface="Calibri" pitchFamily="34" charset="-122"/>
                <a:cs typeface="Calibri" pitchFamily="34" charset="-120"/>
              </a:rPr>
              <a:t>Instance-asset ayrımı, reparent riskleri</a:t>
            </a:r>
            <a:endParaRPr lang="en-US" sz="1100" dirty="0"/>
          </a:p>
        </p:txBody>
      </p:sp>
      <p:sp>
        <p:nvSpPr>
          <p:cNvPr id="36" name="Text 34"/>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02</a:t>
            </a:r>
            <a:endParaRPr lang="en-US" sz="1000" dirty="0"/>
          </a:p>
        </p:txBody>
      </p:sp>
      <p:sp>
        <p:nvSpPr>
          <p:cNvPr id="37" name="Text 35"/>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icindekiler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Geliştirme Ortamı</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Tüm çalışma bu yapılandırma üzerinde yürütüldü</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ORTAM</a:t>
            </a:r>
            <a:endParaRPr lang="en-US" sz="1000" dirty="0"/>
          </a:p>
        </p:txBody>
      </p:sp>
      <p:sp>
        <p:nvSpPr>
          <p:cNvPr id="5" name="Shape 3"/>
          <p:cNvSpPr/>
          <p:nvPr/>
        </p:nvSpPr>
        <p:spPr>
          <a:xfrm>
            <a:off x="566928" y="1481328"/>
            <a:ext cx="3515258" cy="1627632"/>
          </a:xfrm>
          <a:prstGeom prst="roundRect">
            <a:avLst>
              <a:gd name="adj" fmla="val 4494"/>
            </a:avLst>
          </a:prstGeom>
          <a:solidFill>
            <a:srgbClr val="242938"/>
          </a:solidFill>
          <a:ln w="12700">
            <a:solidFill>
              <a:srgbClr val="2A3042"/>
            </a:solidFill>
            <a:prstDash val="solid"/>
          </a:ln>
        </p:spPr>
      </p:sp>
      <p:sp>
        <p:nvSpPr>
          <p:cNvPr id="6" name="Shape 4"/>
          <p:cNvSpPr/>
          <p:nvPr/>
        </p:nvSpPr>
        <p:spPr>
          <a:xfrm>
            <a:off x="768096" y="1664208"/>
            <a:ext cx="329184" cy="329184"/>
          </a:xfrm>
          <a:prstGeom prst="ellipse">
            <a:avLst/>
          </a:prstGeom>
          <a:solidFill>
            <a:srgbClr val="7AA2F7"/>
          </a:solidFill>
          <a:ln w="12700">
            <a:solidFill>
              <a:srgbClr val="7AA2F7"/>
            </a:solidFill>
            <a:prstDash val="solid"/>
          </a:ln>
        </p:spPr>
      </p:sp>
      <p:sp>
        <p:nvSpPr>
          <p:cNvPr id="7" name="Text 5"/>
          <p:cNvSpPr/>
          <p:nvPr/>
        </p:nvSpPr>
        <p:spPr>
          <a:xfrm>
            <a:off x="76809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207008" y="1645920"/>
            <a:ext cx="2655722" cy="365760"/>
          </a:xfrm>
          <a:prstGeom prst="rect">
            <a:avLst/>
          </a:prstGeom>
          <a:noFill/>
          <a:ln/>
        </p:spPr>
        <p:txBody>
          <a:bodyPr wrap="square" lIns="0" tIns="0" rIns="0" bIns="0" rtlCol="0" anchor="ctr"/>
          <a:lstStyle/>
          <a:p>
            <a:pPr algn="l" indent="0" marL="0">
              <a:buNone/>
            </a:pPr>
            <a:r>
              <a:rPr lang="en-US" sz="1500" b="1" dirty="0">
                <a:solidFill>
                  <a:srgbClr val="7AA2F7"/>
                </a:solidFill>
                <a:latin typeface="Calibri" pitchFamily="34" charset="0"/>
                <a:ea typeface="Calibri" pitchFamily="34" charset="-122"/>
                <a:cs typeface="Calibri" pitchFamily="34" charset="-120"/>
              </a:rPr>
              <a:t>Donanım</a:t>
            </a:r>
            <a:endParaRPr lang="en-US" sz="1500" dirty="0"/>
          </a:p>
        </p:txBody>
      </p:sp>
      <p:sp>
        <p:nvSpPr>
          <p:cNvPr id="9" name="Text 7"/>
          <p:cNvSpPr/>
          <p:nvPr/>
        </p:nvSpPr>
        <p:spPr>
          <a:xfrm>
            <a:off x="786384" y="2066544"/>
            <a:ext cx="3076346" cy="89611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MacBook Pro M3 Pro · 18 GB birleşik bellek. Bellek sınırı, editör ve IDE'nin aynı anda açık tutulmasını zorlaştırdı.</a:t>
            </a:r>
            <a:endParaRPr lang="en-US" sz="1150" dirty="0"/>
          </a:p>
        </p:txBody>
      </p:sp>
      <p:sp>
        <p:nvSpPr>
          <p:cNvPr id="10" name="Shape 8"/>
          <p:cNvSpPr/>
          <p:nvPr/>
        </p:nvSpPr>
        <p:spPr>
          <a:xfrm>
            <a:off x="4338218" y="1481328"/>
            <a:ext cx="3515258" cy="1627632"/>
          </a:xfrm>
          <a:prstGeom prst="roundRect">
            <a:avLst>
              <a:gd name="adj" fmla="val 4494"/>
            </a:avLst>
          </a:prstGeom>
          <a:solidFill>
            <a:srgbClr val="242938"/>
          </a:solidFill>
          <a:ln w="12700">
            <a:solidFill>
              <a:srgbClr val="2A3042"/>
            </a:solidFill>
            <a:prstDash val="solid"/>
          </a:ln>
        </p:spPr>
      </p:sp>
      <p:sp>
        <p:nvSpPr>
          <p:cNvPr id="11" name="Shape 9"/>
          <p:cNvSpPr/>
          <p:nvPr/>
        </p:nvSpPr>
        <p:spPr>
          <a:xfrm>
            <a:off x="4539386" y="1664208"/>
            <a:ext cx="329184" cy="329184"/>
          </a:xfrm>
          <a:prstGeom prst="ellipse">
            <a:avLst/>
          </a:prstGeom>
          <a:solidFill>
            <a:srgbClr val="9ECE6A"/>
          </a:solidFill>
          <a:ln w="12700">
            <a:solidFill>
              <a:srgbClr val="9ECE6A"/>
            </a:solidFill>
            <a:prstDash val="solid"/>
          </a:ln>
        </p:spPr>
      </p:sp>
      <p:sp>
        <p:nvSpPr>
          <p:cNvPr id="12" name="Text 10"/>
          <p:cNvSpPr/>
          <p:nvPr/>
        </p:nvSpPr>
        <p:spPr>
          <a:xfrm>
            <a:off x="453938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4978298" y="1645920"/>
            <a:ext cx="2655722"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Motor</a:t>
            </a:r>
            <a:endParaRPr lang="en-US" sz="1500" dirty="0"/>
          </a:p>
        </p:txBody>
      </p:sp>
      <p:sp>
        <p:nvSpPr>
          <p:cNvPr id="14" name="Text 12"/>
          <p:cNvSpPr/>
          <p:nvPr/>
        </p:nvSpPr>
        <p:spPr>
          <a:xfrm>
            <a:off x="4557674" y="2066544"/>
            <a:ext cx="3076346" cy="89611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Unreal Engine 5.7 · Third Person şablonu · World Partition etkin harita yapısı.</a:t>
            </a:r>
            <a:endParaRPr lang="en-US" sz="1150" dirty="0"/>
          </a:p>
        </p:txBody>
      </p:sp>
      <p:sp>
        <p:nvSpPr>
          <p:cNvPr id="15" name="Shape 13"/>
          <p:cNvSpPr/>
          <p:nvPr/>
        </p:nvSpPr>
        <p:spPr>
          <a:xfrm>
            <a:off x="8109509" y="1481328"/>
            <a:ext cx="3515258" cy="1627632"/>
          </a:xfrm>
          <a:prstGeom prst="roundRect">
            <a:avLst>
              <a:gd name="adj" fmla="val 4494"/>
            </a:avLst>
          </a:prstGeom>
          <a:solidFill>
            <a:srgbClr val="242938"/>
          </a:solidFill>
          <a:ln w="12700">
            <a:solidFill>
              <a:srgbClr val="2A3042"/>
            </a:solidFill>
            <a:prstDash val="solid"/>
          </a:ln>
        </p:spPr>
      </p:sp>
      <p:sp>
        <p:nvSpPr>
          <p:cNvPr id="16" name="Shape 14"/>
          <p:cNvSpPr/>
          <p:nvPr/>
        </p:nvSpPr>
        <p:spPr>
          <a:xfrm>
            <a:off x="8310677" y="1664208"/>
            <a:ext cx="329184" cy="329184"/>
          </a:xfrm>
          <a:prstGeom prst="ellipse">
            <a:avLst/>
          </a:prstGeom>
          <a:solidFill>
            <a:srgbClr val="BB9AF7"/>
          </a:solidFill>
          <a:ln w="12700">
            <a:solidFill>
              <a:srgbClr val="BB9AF7"/>
            </a:solidFill>
            <a:prstDash val="solid"/>
          </a:ln>
        </p:spPr>
      </p:sp>
      <p:sp>
        <p:nvSpPr>
          <p:cNvPr id="17" name="Text 15"/>
          <p:cNvSpPr/>
          <p:nvPr/>
        </p:nvSpPr>
        <p:spPr>
          <a:xfrm>
            <a:off x="8310677"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8749589" y="1645920"/>
            <a:ext cx="2655722" cy="365760"/>
          </a:xfrm>
          <a:prstGeom prst="rect">
            <a:avLst/>
          </a:prstGeom>
          <a:noFill/>
          <a:ln/>
        </p:spPr>
        <p:txBody>
          <a:bodyPr wrap="square" lIns="0" tIns="0" rIns="0" bIns="0" rtlCol="0" anchor="ctr"/>
          <a:lstStyle/>
          <a:p>
            <a:pPr algn="l" indent="0" marL="0">
              <a:buNone/>
            </a:pPr>
            <a:r>
              <a:rPr lang="en-US" sz="1500" b="1" dirty="0">
                <a:solidFill>
                  <a:srgbClr val="BB9AF7"/>
                </a:solidFill>
                <a:latin typeface="Calibri" pitchFamily="34" charset="0"/>
                <a:ea typeface="Calibri" pitchFamily="34" charset="-122"/>
                <a:cs typeface="Calibri" pitchFamily="34" charset="-120"/>
              </a:rPr>
              <a:t>IDE</a:t>
            </a:r>
            <a:endParaRPr lang="en-US" sz="1500" dirty="0"/>
          </a:p>
        </p:txBody>
      </p:sp>
      <p:sp>
        <p:nvSpPr>
          <p:cNvPr id="19" name="Text 17"/>
          <p:cNvSpPr/>
          <p:nvPr/>
        </p:nvSpPr>
        <p:spPr>
          <a:xfrm>
            <a:off x="8328965" y="2066544"/>
            <a:ext cx="3076346" cy="89611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JetBrains Rider — yalnızca kod düzenleme amaçlı. Run düğmesi ve RiderLink kullanılmadı.</a:t>
            </a:r>
            <a:endParaRPr lang="en-US" sz="1150" dirty="0"/>
          </a:p>
        </p:txBody>
      </p:sp>
      <p:sp>
        <p:nvSpPr>
          <p:cNvPr id="20" name="Shape 18"/>
          <p:cNvSpPr/>
          <p:nvPr/>
        </p:nvSpPr>
        <p:spPr>
          <a:xfrm>
            <a:off x="566928" y="3291840"/>
            <a:ext cx="3515258" cy="1627632"/>
          </a:xfrm>
          <a:prstGeom prst="roundRect">
            <a:avLst>
              <a:gd name="adj" fmla="val 4494"/>
            </a:avLst>
          </a:prstGeom>
          <a:solidFill>
            <a:srgbClr val="242938"/>
          </a:solidFill>
          <a:ln w="12700">
            <a:solidFill>
              <a:srgbClr val="2A3042"/>
            </a:solidFill>
            <a:prstDash val="solid"/>
          </a:ln>
        </p:spPr>
      </p:sp>
      <p:sp>
        <p:nvSpPr>
          <p:cNvPr id="21" name="Shape 19"/>
          <p:cNvSpPr/>
          <p:nvPr/>
        </p:nvSpPr>
        <p:spPr>
          <a:xfrm>
            <a:off x="768096" y="3474720"/>
            <a:ext cx="329184" cy="329184"/>
          </a:xfrm>
          <a:prstGeom prst="ellipse">
            <a:avLst/>
          </a:prstGeom>
          <a:solidFill>
            <a:srgbClr val="E0AF68"/>
          </a:solidFill>
          <a:ln w="12700">
            <a:solidFill>
              <a:srgbClr val="E0AF68"/>
            </a:solidFill>
            <a:prstDash val="solid"/>
          </a:ln>
        </p:spPr>
      </p:sp>
      <p:sp>
        <p:nvSpPr>
          <p:cNvPr id="22" name="Text 20"/>
          <p:cNvSpPr/>
          <p:nvPr/>
        </p:nvSpPr>
        <p:spPr>
          <a:xfrm>
            <a:off x="768096" y="3474720"/>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1207008" y="3456432"/>
            <a:ext cx="2655722" cy="365760"/>
          </a:xfrm>
          <a:prstGeom prst="rect">
            <a:avLst/>
          </a:prstGeom>
          <a:noFill/>
          <a:ln/>
        </p:spPr>
        <p:txBody>
          <a:bodyPr wrap="square" lIns="0" tIns="0" rIns="0" bIns="0" rtlCol="0" anchor="ctr"/>
          <a:lstStyle/>
          <a:p>
            <a:pPr algn="l" indent="0" marL="0">
              <a:buNone/>
            </a:pPr>
            <a:r>
              <a:rPr lang="en-US" sz="1500" b="1" dirty="0">
                <a:solidFill>
                  <a:srgbClr val="E0AF68"/>
                </a:solidFill>
                <a:latin typeface="Calibri" pitchFamily="34" charset="0"/>
                <a:ea typeface="Calibri" pitchFamily="34" charset="-122"/>
                <a:cs typeface="Calibri" pitchFamily="34" charset="-120"/>
              </a:rPr>
              <a:t>Derleme</a:t>
            </a:r>
            <a:endParaRPr lang="en-US" sz="1500" dirty="0"/>
          </a:p>
        </p:txBody>
      </p:sp>
      <p:sp>
        <p:nvSpPr>
          <p:cNvPr id="24" name="Text 22"/>
          <p:cNvSpPr/>
          <p:nvPr/>
        </p:nvSpPr>
        <p:spPr>
          <a:xfrm>
            <a:off x="786384" y="3877056"/>
            <a:ext cx="3076346" cy="89611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Terminal üzerinden Build.sh. Hedef daima UEOgrenmeEditor, oyun hedefi değil.</a:t>
            </a:r>
            <a:endParaRPr lang="en-US" sz="1150" dirty="0"/>
          </a:p>
        </p:txBody>
      </p:sp>
      <p:sp>
        <p:nvSpPr>
          <p:cNvPr id="25" name="Shape 23"/>
          <p:cNvSpPr/>
          <p:nvPr/>
        </p:nvSpPr>
        <p:spPr>
          <a:xfrm>
            <a:off x="4338218" y="3291840"/>
            <a:ext cx="3515258" cy="1627632"/>
          </a:xfrm>
          <a:prstGeom prst="roundRect">
            <a:avLst>
              <a:gd name="adj" fmla="val 4494"/>
            </a:avLst>
          </a:prstGeom>
          <a:solidFill>
            <a:srgbClr val="242938"/>
          </a:solidFill>
          <a:ln w="12700">
            <a:solidFill>
              <a:srgbClr val="2A3042"/>
            </a:solidFill>
            <a:prstDash val="solid"/>
          </a:ln>
        </p:spPr>
      </p:sp>
      <p:sp>
        <p:nvSpPr>
          <p:cNvPr id="26" name="Shape 24"/>
          <p:cNvSpPr/>
          <p:nvPr/>
        </p:nvSpPr>
        <p:spPr>
          <a:xfrm>
            <a:off x="4539386" y="3474720"/>
            <a:ext cx="329184" cy="329184"/>
          </a:xfrm>
          <a:prstGeom prst="ellipse">
            <a:avLst/>
          </a:prstGeom>
          <a:solidFill>
            <a:srgbClr val="7DCFFF"/>
          </a:solidFill>
          <a:ln w="12700">
            <a:solidFill>
              <a:srgbClr val="7DCFFF"/>
            </a:solidFill>
            <a:prstDash val="solid"/>
          </a:ln>
        </p:spPr>
      </p:sp>
      <p:sp>
        <p:nvSpPr>
          <p:cNvPr id="27" name="Text 25"/>
          <p:cNvSpPr/>
          <p:nvPr/>
        </p:nvSpPr>
        <p:spPr>
          <a:xfrm>
            <a:off x="4539386" y="3474720"/>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4978298" y="3456432"/>
            <a:ext cx="2655722" cy="365760"/>
          </a:xfrm>
          <a:prstGeom prst="rect">
            <a:avLst/>
          </a:prstGeom>
          <a:noFill/>
          <a:ln/>
        </p:spPr>
        <p:txBody>
          <a:bodyPr wrap="square" lIns="0" tIns="0" rIns="0" bIns="0" rtlCol="0" anchor="ctr"/>
          <a:lstStyle/>
          <a:p>
            <a:pPr algn="l" indent="0" marL="0">
              <a:buNone/>
            </a:pPr>
            <a:r>
              <a:rPr lang="en-US" sz="1500" b="1" dirty="0">
                <a:solidFill>
                  <a:srgbClr val="7DCFFF"/>
                </a:solidFill>
                <a:latin typeface="Calibri" pitchFamily="34" charset="0"/>
                <a:ea typeface="Calibri" pitchFamily="34" charset="-122"/>
                <a:cs typeface="Calibri" pitchFamily="34" charset="-120"/>
              </a:rPr>
              <a:t>Dil</a:t>
            </a:r>
            <a:endParaRPr lang="en-US" sz="1500" dirty="0"/>
          </a:p>
        </p:txBody>
      </p:sp>
      <p:sp>
        <p:nvSpPr>
          <p:cNvPr id="29" name="Text 27"/>
          <p:cNvSpPr/>
          <p:nvPr/>
        </p:nvSpPr>
        <p:spPr>
          <a:xfrm>
            <a:off x="4557674" y="3877056"/>
            <a:ext cx="3076346" cy="89611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C++ ile çekirdek mantık, Blueprint ile arayüz ve hızlı prototipleme.</a:t>
            </a:r>
            <a:endParaRPr lang="en-US" sz="1150" dirty="0"/>
          </a:p>
        </p:txBody>
      </p:sp>
      <p:sp>
        <p:nvSpPr>
          <p:cNvPr id="30" name="Shape 28"/>
          <p:cNvSpPr/>
          <p:nvPr/>
        </p:nvSpPr>
        <p:spPr>
          <a:xfrm>
            <a:off x="8109509" y="3291840"/>
            <a:ext cx="3515258" cy="1627632"/>
          </a:xfrm>
          <a:prstGeom prst="roundRect">
            <a:avLst>
              <a:gd name="adj" fmla="val 4494"/>
            </a:avLst>
          </a:prstGeom>
          <a:solidFill>
            <a:srgbClr val="242938"/>
          </a:solidFill>
          <a:ln w="12700">
            <a:solidFill>
              <a:srgbClr val="2A3042"/>
            </a:solidFill>
            <a:prstDash val="solid"/>
          </a:ln>
        </p:spPr>
      </p:sp>
      <p:sp>
        <p:nvSpPr>
          <p:cNvPr id="31" name="Shape 29"/>
          <p:cNvSpPr/>
          <p:nvPr/>
        </p:nvSpPr>
        <p:spPr>
          <a:xfrm>
            <a:off x="8310677" y="3474720"/>
            <a:ext cx="329184" cy="329184"/>
          </a:xfrm>
          <a:prstGeom prst="ellipse">
            <a:avLst/>
          </a:prstGeom>
          <a:solidFill>
            <a:srgbClr val="F7768E"/>
          </a:solidFill>
          <a:ln w="12700">
            <a:solidFill>
              <a:srgbClr val="F7768E"/>
            </a:solidFill>
            <a:prstDash val="solid"/>
          </a:ln>
        </p:spPr>
      </p:sp>
      <p:sp>
        <p:nvSpPr>
          <p:cNvPr id="32" name="Text 30"/>
          <p:cNvSpPr/>
          <p:nvPr/>
        </p:nvSpPr>
        <p:spPr>
          <a:xfrm>
            <a:off x="8310677" y="3474720"/>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8749589" y="3456432"/>
            <a:ext cx="2655722" cy="365760"/>
          </a:xfrm>
          <a:prstGeom prst="rect">
            <a:avLst/>
          </a:prstGeom>
          <a:noFill/>
          <a:ln/>
        </p:spPr>
        <p:txBody>
          <a:bodyPr wrap="square" lIns="0" tIns="0" rIns="0" bIns="0" rtlCol="0" anchor="ctr"/>
          <a:lstStyle/>
          <a:p>
            <a:pPr algn="l" indent="0" marL="0">
              <a:buNone/>
            </a:pPr>
            <a:r>
              <a:rPr lang="en-US" sz="1500" b="1" dirty="0">
                <a:solidFill>
                  <a:srgbClr val="F7768E"/>
                </a:solidFill>
                <a:latin typeface="Calibri" pitchFamily="34" charset="0"/>
                <a:ea typeface="Calibri" pitchFamily="34" charset="-122"/>
                <a:cs typeface="Calibri" pitchFamily="34" charset="-120"/>
              </a:rPr>
              <a:t>Kaynak</a:t>
            </a:r>
            <a:endParaRPr lang="en-US" sz="1500" dirty="0"/>
          </a:p>
        </p:txBody>
      </p:sp>
      <p:sp>
        <p:nvSpPr>
          <p:cNvPr id="34" name="Text 32"/>
          <p:cNvSpPr/>
          <p:nvPr/>
        </p:nvSpPr>
        <p:spPr>
          <a:xfrm>
            <a:off x="8328965" y="3877056"/>
            <a:ext cx="3076346" cy="89611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Staj eğitim programı ödevleri · her ödev için kod, dokümantasyon ve sunum.</a:t>
            </a:r>
            <a:endParaRPr lang="en-US" sz="1150" dirty="0"/>
          </a:p>
        </p:txBody>
      </p:sp>
      <p:sp>
        <p:nvSpPr>
          <p:cNvPr id="35" name="Text 33"/>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03</a:t>
            </a:r>
            <a:endParaRPr lang="en-US" sz="1000" dirty="0"/>
          </a:p>
        </p:txBody>
      </p:sp>
      <p:sp>
        <p:nvSpPr>
          <p:cNvPr id="36" name="Text 34"/>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ortam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7AA2F7"/>
          </a:solidFill>
          <a:ln w="12700">
            <a:solidFill>
              <a:srgbClr val="7AA2F7"/>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01</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Build Sistemi ve</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Modül Yönetimi</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Unreal Engine'de kod değişikliğinin motora yansıması, değişikliğin türüne göre farklı bir derleme yolu izler. Bu ayrım bilinmediğinde saatler kaybedilir.</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Derleme akışı kararı</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Build.cs ve modüller</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Vaka: eksik generated.h</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04</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Derleme Akışı: Hangi Değişiklik, Hangi Yol?</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Yanlış yol seçildiğinde kod derlenir ama motora yansımaz</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01 / BUILD</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3657600"/>
                <a:gridCol w="3703320"/>
                <a:gridCol w="3703320"/>
              </a:tblGrid>
              <a:tr h="384048">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Değişiklik Türü</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AA2F7"/>
                    </a:solidFill>
                  </a:tcPr>
                </a:tc>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İzlenecek Yol</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AA2F7"/>
                    </a:solidFill>
                  </a:tcPr>
                </a:tc>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Editör Durumu</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AA2F7"/>
                    </a:solidFill>
                  </a:tcPr>
                </a:tc>
              </a:tr>
              <a:tr h="384048">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.cpp gövde değişikliği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Editördeki Compile düğmesi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Açık kalabilir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Yeni UFUNCTION / UPROPERTY</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Terminalden tam build</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Kapatılmalı, sonra yeniden aç</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84048">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Header / imza değişikliği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Terminalden tam build</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Kapatılmalı, sonra yeniden aç</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Yeni sınıf eklenmesi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Terminalden tam build</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Kapatılmalı, sonra yeniden aç</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84048">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Build.cs düzenlemesi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Tam build (modül yeniden çözülür)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Kapatılmalı, sonra yeniden aç</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Değişiklik yansımıyor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Binaries + Intermediate sil, tam build</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Kapatılmalı, sonra yeniden aç</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bl>
          </a:graphicData>
        </a:graphic>
      </p:graphicFrame>
      <p:sp>
        <p:nvSpPr>
          <p:cNvPr id="6" name="Shape 3"/>
          <p:cNvSpPr/>
          <p:nvPr/>
        </p:nvSpPr>
        <p:spPr>
          <a:xfrm>
            <a:off x="566928" y="4224528"/>
            <a:ext cx="11057839" cy="1481328"/>
          </a:xfrm>
          <a:prstGeom prst="roundRect">
            <a:avLst>
              <a:gd name="adj" fmla="val 3704"/>
            </a:avLst>
          </a:prstGeom>
          <a:solidFill>
            <a:srgbClr val="13141C"/>
          </a:solidFill>
          <a:ln w="12700">
            <a:solidFill>
              <a:srgbClr val="2A3042"/>
            </a:solidFill>
            <a:prstDash val="solid"/>
          </a:ln>
        </p:spPr>
      </p:sp>
      <p:sp>
        <p:nvSpPr>
          <p:cNvPr id="7" name="Text 4"/>
          <p:cNvSpPr/>
          <p:nvPr/>
        </p:nvSpPr>
        <p:spPr>
          <a:xfrm>
            <a:off x="713232" y="4288536"/>
            <a:ext cx="10765231"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TERMINAL — TAM BUILD</a:t>
            </a:r>
            <a:endParaRPr lang="en-US" sz="900" dirty="0"/>
          </a:p>
        </p:txBody>
      </p:sp>
      <p:sp>
        <p:nvSpPr>
          <p:cNvPr id="8" name="Text 5"/>
          <p:cNvSpPr/>
          <p:nvPr/>
        </p:nvSpPr>
        <p:spPr>
          <a:xfrm>
            <a:off x="713232" y="4517136"/>
            <a:ext cx="10765231" cy="1078992"/>
          </a:xfrm>
          <a:prstGeom prst="rect">
            <a:avLst/>
          </a:prstGeom>
          <a:noFill/>
          <a:ln/>
        </p:spPr>
        <p:txBody>
          <a:bodyPr wrap="square" lIns="0" tIns="0" rIns="0" bIns="0" rtlCol="0" anchor="t"/>
          <a:lstStyle/>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cd "/Users/Shared/Epic Games/UE_5.7/Engine/Build/BatchFiles/Mac"</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./Build.sh UEOgrenmeEditor Mac Development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-project="/Users/recep/.../UEOgrenme.uproject"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Hedef daima UEOgrenmeEditor. UEOgrenme yazılırsa oyun hedefi</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derlenir ve editör hiçbir değişikliği göstermez.</a:t>
            </a:r>
            <a:endParaRPr lang="en-US" sz="1100" dirty="0"/>
          </a:p>
        </p:txBody>
      </p:sp>
      <p:sp>
        <p:nvSpPr>
          <p:cNvPr id="10" name="Text 6"/>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05</a:t>
            </a:r>
            <a:endParaRPr lang="en-US" sz="1000" dirty="0"/>
          </a:p>
        </p:txBody>
      </p:sp>
      <p:sp>
        <p:nvSpPr>
          <p:cNvPr id="11" name="Text 7"/>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01 / build akisi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Modül Bağımlılıkları: Build.cs</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Unreal modüler bir mimaridir; kullanılmayan modüller projeye bağlanmaz</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01 / BUILD</a:t>
            </a:r>
            <a:endParaRPr lang="en-US" sz="1000" dirty="0"/>
          </a:p>
        </p:txBody>
      </p:sp>
      <p:sp>
        <p:nvSpPr>
          <p:cNvPr id="5" name="Shape 3"/>
          <p:cNvSpPr/>
          <p:nvPr/>
        </p:nvSpPr>
        <p:spPr>
          <a:xfrm>
            <a:off x="566928" y="1481328"/>
            <a:ext cx="5806440" cy="2468880"/>
          </a:xfrm>
          <a:prstGeom prst="roundRect">
            <a:avLst>
              <a:gd name="adj" fmla="val 2222"/>
            </a:avLst>
          </a:prstGeom>
          <a:solidFill>
            <a:srgbClr val="13141C"/>
          </a:solidFill>
          <a:ln w="12700">
            <a:solidFill>
              <a:srgbClr val="2A3042"/>
            </a:solidFill>
            <a:prstDash val="solid"/>
          </a:ln>
        </p:spPr>
      </p:sp>
      <p:sp>
        <p:nvSpPr>
          <p:cNvPr id="6" name="Text 4"/>
          <p:cNvSpPr/>
          <p:nvPr/>
        </p:nvSpPr>
        <p:spPr>
          <a:xfrm>
            <a:off x="713232" y="1545336"/>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ÖNCE — VARSAYILAN</a:t>
            </a:r>
            <a:endParaRPr lang="en-US" sz="900" dirty="0"/>
          </a:p>
        </p:txBody>
      </p:sp>
      <p:sp>
        <p:nvSpPr>
          <p:cNvPr id="7" name="Text 5"/>
          <p:cNvSpPr/>
          <p:nvPr/>
        </p:nvSpPr>
        <p:spPr>
          <a:xfrm>
            <a:off x="713232" y="1773936"/>
            <a:ext cx="5513832" cy="2066544"/>
          </a:xfrm>
          <a:prstGeom prst="rect">
            <a:avLst/>
          </a:prstGeom>
          <a:noFill/>
          <a:ln/>
        </p:spPr>
        <p:txBody>
          <a:bodyPr wrap="square" lIns="0" tIns="0" rIns="0" bIns="0" rtlCol="0" anchor="t"/>
          <a:lstStyle/>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PublicDependencyModuleNames.AddRange(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new string[]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"Core",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"CoreUObject",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"Engine",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"InputCore"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AI ve navigasyon başlıkları erişilemez</a:t>
            </a:r>
            <a:endParaRPr lang="en-US" sz="1100" dirty="0"/>
          </a:p>
        </p:txBody>
      </p:sp>
      <p:sp>
        <p:nvSpPr>
          <p:cNvPr id="8" name="Shape 6"/>
          <p:cNvSpPr/>
          <p:nvPr/>
        </p:nvSpPr>
        <p:spPr>
          <a:xfrm>
            <a:off x="6647688" y="1481328"/>
            <a:ext cx="5806440" cy="2468880"/>
          </a:xfrm>
          <a:prstGeom prst="roundRect">
            <a:avLst>
              <a:gd name="adj" fmla="val 2222"/>
            </a:avLst>
          </a:prstGeom>
          <a:solidFill>
            <a:srgbClr val="13141C"/>
          </a:solidFill>
          <a:ln w="12700">
            <a:solidFill>
              <a:srgbClr val="2A3042"/>
            </a:solidFill>
            <a:prstDash val="solid"/>
          </a:ln>
        </p:spPr>
      </p:sp>
      <p:sp>
        <p:nvSpPr>
          <p:cNvPr id="9" name="Text 7"/>
          <p:cNvSpPr/>
          <p:nvPr/>
        </p:nvSpPr>
        <p:spPr>
          <a:xfrm>
            <a:off x="6793992" y="1545336"/>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SONRA — GENİŞLETİLMİŞ</a:t>
            </a:r>
            <a:endParaRPr lang="en-US" sz="900" dirty="0"/>
          </a:p>
        </p:txBody>
      </p:sp>
      <p:sp>
        <p:nvSpPr>
          <p:cNvPr id="10" name="Text 8"/>
          <p:cNvSpPr/>
          <p:nvPr/>
        </p:nvSpPr>
        <p:spPr>
          <a:xfrm>
            <a:off x="6793992" y="1773936"/>
            <a:ext cx="5513832" cy="2066544"/>
          </a:xfrm>
          <a:prstGeom prst="rect">
            <a:avLst/>
          </a:prstGeom>
          <a:noFill/>
          <a:ln/>
        </p:spPr>
        <p:txBody>
          <a:bodyPr wrap="square" lIns="0" tIns="0" rIns="0" bIns="0" rtlCol="0" anchor="t"/>
          <a:lstStyle/>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PublicDependencyModuleNames.AddRange(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new string[]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"Core", "CoreUObject", "Engine", "InputCore",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"EnhancedInput",     </a:t>
            </a:r>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girdi sistemi</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"AIModule",          </a:t>
            </a:r>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AIController, AITypes</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"NavigationSystem"   </a:t>
            </a:r>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NavMesh, pathfinding</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Artık ilgili başlıklar include edilebilir</a:t>
            </a:r>
            <a:endParaRPr lang="en-US" sz="1100" dirty="0"/>
          </a:p>
        </p:txBody>
      </p:sp>
      <p:sp>
        <p:nvSpPr>
          <p:cNvPr id="11" name="Shape 9"/>
          <p:cNvSpPr/>
          <p:nvPr/>
        </p:nvSpPr>
        <p:spPr>
          <a:xfrm>
            <a:off x="566928" y="4206240"/>
            <a:ext cx="3515258" cy="1371600"/>
          </a:xfrm>
          <a:prstGeom prst="roundRect">
            <a:avLst>
              <a:gd name="adj" fmla="val 5333"/>
            </a:avLst>
          </a:prstGeom>
          <a:solidFill>
            <a:srgbClr val="242938"/>
          </a:solidFill>
          <a:ln w="12700">
            <a:solidFill>
              <a:srgbClr val="2A3042"/>
            </a:solidFill>
            <a:prstDash val="solid"/>
          </a:ln>
        </p:spPr>
      </p:sp>
      <p:sp>
        <p:nvSpPr>
          <p:cNvPr id="12" name="Text 10"/>
          <p:cNvSpPr/>
          <p:nvPr/>
        </p:nvSpPr>
        <p:spPr>
          <a:xfrm>
            <a:off x="786384" y="4370832"/>
            <a:ext cx="3076346"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AIModule</a:t>
            </a:r>
            <a:endParaRPr lang="en-US" sz="1500" dirty="0"/>
          </a:p>
        </p:txBody>
      </p:sp>
      <p:sp>
        <p:nvSpPr>
          <p:cNvPr id="13" name="Text 11"/>
          <p:cNvSpPr/>
          <p:nvPr/>
        </p:nvSpPr>
        <p:spPr>
          <a:xfrm>
            <a:off x="786384" y="4791456"/>
            <a:ext cx="3076346" cy="6400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AAIController, AITypes, Behavior Tree, algılama sistemi</a:t>
            </a:r>
            <a:endParaRPr lang="en-US" sz="1200" dirty="0"/>
          </a:p>
        </p:txBody>
      </p:sp>
      <p:sp>
        <p:nvSpPr>
          <p:cNvPr id="14" name="Shape 12"/>
          <p:cNvSpPr/>
          <p:nvPr/>
        </p:nvSpPr>
        <p:spPr>
          <a:xfrm>
            <a:off x="4338218" y="4206240"/>
            <a:ext cx="3515258" cy="1371600"/>
          </a:xfrm>
          <a:prstGeom prst="roundRect">
            <a:avLst>
              <a:gd name="adj" fmla="val 5333"/>
            </a:avLst>
          </a:prstGeom>
          <a:solidFill>
            <a:srgbClr val="242938"/>
          </a:solidFill>
          <a:ln w="12700">
            <a:solidFill>
              <a:srgbClr val="2A3042"/>
            </a:solidFill>
            <a:prstDash val="solid"/>
          </a:ln>
        </p:spPr>
      </p:sp>
      <p:sp>
        <p:nvSpPr>
          <p:cNvPr id="15" name="Text 13"/>
          <p:cNvSpPr/>
          <p:nvPr/>
        </p:nvSpPr>
        <p:spPr>
          <a:xfrm>
            <a:off x="4557674" y="4370832"/>
            <a:ext cx="3076346" cy="365760"/>
          </a:xfrm>
          <a:prstGeom prst="rect">
            <a:avLst/>
          </a:prstGeom>
          <a:noFill/>
          <a:ln/>
        </p:spPr>
        <p:txBody>
          <a:bodyPr wrap="square" lIns="0" tIns="0" rIns="0" bIns="0" rtlCol="0" anchor="ctr"/>
          <a:lstStyle/>
          <a:p>
            <a:pPr algn="l" indent="0" marL="0">
              <a:buNone/>
            </a:pPr>
            <a:r>
              <a:rPr lang="en-US" sz="1500" b="1" dirty="0">
                <a:solidFill>
                  <a:srgbClr val="7DCFFF"/>
                </a:solidFill>
                <a:latin typeface="Calibri" pitchFamily="34" charset="0"/>
                <a:ea typeface="Calibri" pitchFamily="34" charset="-122"/>
                <a:cs typeface="Calibri" pitchFamily="34" charset="-120"/>
              </a:rPr>
              <a:t>NavigationSystem</a:t>
            </a:r>
            <a:endParaRPr lang="en-US" sz="1500" dirty="0"/>
          </a:p>
        </p:txBody>
      </p:sp>
      <p:sp>
        <p:nvSpPr>
          <p:cNvPr id="16" name="Text 14"/>
          <p:cNvSpPr/>
          <p:nvPr/>
        </p:nvSpPr>
        <p:spPr>
          <a:xfrm>
            <a:off x="4557674" y="4791456"/>
            <a:ext cx="3076346" cy="6400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UNavigationSystemV1, NavMesh sorguları, yol bulma</a:t>
            </a:r>
            <a:endParaRPr lang="en-US" sz="1200" dirty="0"/>
          </a:p>
        </p:txBody>
      </p:sp>
      <p:sp>
        <p:nvSpPr>
          <p:cNvPr id="17" name="Shape 15"/>
          <p:cNvSpPr/>
          <p:nvPr/>
        </p:nvSpPr>
        <p:spPr>
          <a:xfrm>
            <a:off x="8109509" y="4206240"/>
            <a:ext cx="3515258" cy="1371600"/>
          </a:xfrm>
          <a:prstGeom prst="roundRect">
            <a:avLst>
              <a:gd name="adj" fmla="val 5333"/>
            </a:avLst>
          </a:prstGeom>
          <a:solidFill>
            <a:srgbClr val="242938"/>
          </a:solidFill>
          <a:ln w="12700">
            <a:solidFill>
              <a:srgbClr val="2A3042"/>
            </a:solidFill>
            <a:prstDash val="solid"/>
          </a:ln>
        </p:spPr>
      </p:sp>
      <p:sp>
        <p:nvSpPr>
          <p:cNvPr id="18" name="Text 16"/>
          <p:cNvSpPr/>
          <p:nvPr/>
        </p:nvSpPr>
        <p:spPr>
          <a:xfrm>
            <a:off x="8328965" y="4370832"/>
            <a:ext cx="3076346" cy="365760"/>
          </a:xfrm>
          <a:prstGeom prst="rect">
            <a:avLst/>
          </a:prstGeom>
          <a:noFill/>
          <a:ln/>
        </p:spPr>
        <p:txBody>
          <a:bodyPr wrap="square" lIns="0" tIns="0" rIns="0" bIns="0" rtlCol="0" anchor="ctr"/>
          <a:lstStyle/>
          <a:p>
            <a:pPr algn="l" indent="0" marL="0">
              <a:buNone/>
            </a:pPr>
            <a:r>
              <a:rPr lang="en-US" sz="1500" b="1" dirty="0">
                <a:solidFill>
                  <a:srgbClr val="BB9AF7"/>
                </a:solidFill>
                <a:latin typeface="Calibri" pitchFamily="34" charset="0"/>
                <a:ea typeface="Calibri" pitchFamily="34" charset="-122"/>
                <a:cs typeface="Calibri" pitchFamily="34" charset="-120"/>
              </a:rPr>
              <a:t>EnhancedInput</a:t>
            </a:r>
            <a:endParaRPr lang="en-US" sz="1500" dirty="0"/>
          </a:p>
        </p:txBody>
      </p:sp>
      <p:sp>
        <p:nvSpPr>
          <p:cNvPr id="19" name="Text 17"/>
          <p:cNvSpPr/>
          <p:nvPr/>
        </p:nvSpPr>
        <p:spPr>
          <a:xfrm>
            <a:off x="8328965" y="4791456"/>
            <a:ext cx="3076346" cy="6400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UE5'in yeni girdi sistemi; Input Action ve Mapping Context</a:t>
            </a:r>
            <a:endParaRPr lang="en-US" sz="1200" dirty="0"/>
          </a:p>
        </p:txBody>
      </p:sp>
      <p:sp>
        <p:nvSpPr>
          <p:cNvPr id="20" name="Text 18"/>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06</a:t>
            </a:r>
            <a:endParaRPr lang="en-US" sz="1000" dirty="0"/>
          </a:p>
        </p:txBody>
      </p:sp>
      <p:sp>
        <p:nvSpPr>
          <p:cNvPr id="21" name="Text 19"/>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01 / modul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Vaka Analizi: Eksik generated.h Hatası</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İlk AI kodunun derlenmesinde alınan hata ve kök nedeni</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F7768E"/>
                </a:solidFill>
                <a:latin typeface="Courier New" pitchFamily="34" charset="0"/>
                <a:ea typeface="Courier New" pitchFamily="34" charset="-122"/>
                <a:cs typeface="Courier New" pitchFamily="34" charset="-120"/>
              </a:rPr>
              <a:t>01 / VAKA</a:t>
            </a:r>
            <a:endParaRPr lang="en-US" sz="1000" dirty="0"/>
          </a:p>
        </p:txBody>
      </p:sp>
      <p:sp>
        <p:nvSpPr>
          <p:cNvPr id="5" name="Shape 3"/>
          <p:cNvSpPr/>
          <p:nvPr/>
        </p:nvSpPr>
        <p:spPr>
          <a:xfrm>
            <a:off x="566928" y="1481328"/>
            <a:ext cx="11057839" cy="1225296"/>
          </a:xfrm>
          <a:prstGeom prst="roundRect">
            <a:avLst>
              <a:gd name="adj" fmla="val 4478"/>
            </a:avLst>
          </a:prstGeom>
          <a:solidFill>
            <a:srgbClr val="13141C"/>
          </a:solidFill>
          <a:ln w="12700">
            <a:solidFill>
              <a:srgbClr val="2A3042"/>
            </a:solidFill>
            <a:prstDash val="solid"/>
          </a:ln>
        </p:spPr>
      </p:sp>
      <p:sp>
        <p:nvSpPr>
          <p:cNvPr id="6" name="Text 4"/>
          <p:cNvSpPr/>
          <p:nvPr/>
        </p:nvSpPr>
        <p:spPr>
          <a:xfrm>
            <a:off x="713232" y="1545336"/>
            <a:ext cx="10765231"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DERLEYİCİ ÇIKTISI</a:t>
            </a:r>
            <a:endParaRPr lang="en-US" sz="900" dirty="0"/>
          </a:p>
        </p:txBody>
      </p:sp>
      <p:sp>
        <p:nvSpPr>
          <p:cNvPr id="7" name="Text 5"/>
          <p:cNvSpPr/>
          <p:nvPr/>
        </p:nvSpPr>
        <p:spPr>
          <a:xfrm>
            <a:off x="713232" y="1773936"/>
            <a:ext cx="10765231" cy="822960"/>
          </a:xfrm>
          <a:prstGeom prst="rect">
            <a:avLst/>
          </a:prstGeom>
          <a:noFill/>
          <a:ln/>
        </p:spPr>
        <p:txBody>
          <a:bodyPr wrap="square" lIns="0" tIns="0" rIns="0" bIns="0" rtlCol="0" anchor="t"/>
          <a:lstStyle/>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AITypes.h:17:10: fatal error: 'AITypes.generated.h' file not found</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17 | #include "AITypes.generated.h"</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Result: Failed (OtherCompilationError)</a:t>
            </a:r>
            <a:endParaRPr lang="en-US" sz="1100" dirty="0"/>
          </a:p>
        </p:txBody>
      </p:sp>
      <p:sp>
        <p:nvSpPr>
          <p:cNvPr id="8" name="Shape 6"/>
          <p:cNvSpPr/>
          <p:nvPr/>
        </p:nvSpPr>
        <p:spPr>
          <a:xfrm>
            <a:off x="566928" y="2944368"/>
            <a:ext cx="2599868" cy="2286000"/>
          </a:xfrm>
          <a:prstGeom prst="roundRect">
            <a:avLst>
              <a:gd name="adj" fmla="val 3200"/>
            </a:avLst>
          </a:prstGeom>
          <a:solidFill>
            <a:srgbClr val="242938"/>
          </a:solidFill>
          <a:ln w="12700">
            <a:solidFill>
              <a:srgbClr val="2A3042"/>
            </a:solidFill>
            <a:prstDash val="solid"/>
          </a:ln>
        </p:spPr>
      </p:sp>
      <p:sp>
        <p:nvSpPr>
          <p:cNvPr id="9" name="Shape 7"/>
          <p:cNvSpPr/>
          <p:nvPr/>
        </p:nvSpPr>
        <p:spPr>
          <a:xfrm>
            <a:off x="768096" y="3127248"/>
            <a:ext cx="329184" cy="329184"/>
          </a:xfrm>
          <a:prstGeom prst="ellipse">
            <a:avLst/>
          </a:prstGeom>
          <a:solidFill>
            <a:srgbClr val="F7768E"/>
          </a:solidFill>
          <a:ln w="12700">
            <a:solidFill>
              <a:srgbClr val="F7768E"/>
            </a:solidFill>
            <a:prstDash val="solid"/>
          </a:ln>
        </p:spPr>
      </p:sp>
      <p:sp>
        <p:nvSpPr>
          <p:cNvPr id="10" name="Text 8"/>
          <p:cNvSpPr/>
          <p:nvPr/>
        </p:nvSpPr>
        <p:spPr>
          <a:xfrm>
            <a:off x="768096" y="312724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207008" y="3108960"/>
            <a:ext cx="1740332" cy="365760"/>
          </a:xfrm>
          <a:prstGeom prst="rect">
            <a:avLst/>
          </a:prstGeom>
          <a:noFill/>
          <a:ln/>
        </p:spPr>
        <p:txBody>
          <a:bodyPr wrap="square" lIns="0" tIns="0" rIns="0" bIns="0" rtlCol="0" anchor="ctr"/>
          <a:lstStyle/>
          <a:p>
            <a:pPr algn="l" indent="0" marL="0">
              <a:buNone/>
            </a:pPr>
            <a:r>
              <a:rPr lang="en-US" sz="1500" b="1" dirty="0">
                <a:solidFill>
                  <a:srgbClr val="F7768E"/>
                </a:solidFill>
                <a:latin typeface="Calibri" pitchFamily="34" charset="0"/>
                <a:ea typeface="Calibri" pitchFamily="34" charset="-122"/>
                <a:cs typeface="Calibri" pitchFamily="34" charset="-120"/>
              </a:rPr>
              <a:t>Belirti</a:t>
            </a:r>
            <a:endParaRPr lang="en-US" sz="1500" dirty="0"/>
          </a:p>
        </p:txBody>
      </p:sp>
      <p:sp>
        <p:nvSpPr>
          <p:cNvPr id="12" name="Text 10"/>
          <p:cNvSpPr/>
          <p:nvPr/>
        </p:nvSpPr>
        <p:spPr>
          <a:xfrm>
            <a:off x="786384" y="3529584"/>
            <a:ext cx="2160956" cy="15544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AIController.h include edildi, dosya bulunamadı hatası alındı.</a:t>
            </a:r>
            <a:endParaRPr lang="en-US" sz="1200" dirty="0"/>
          </a:p>
        </p:txBody>
      </p:sp>
      <p:sp>
        <p:nvSpPr>
          <p:cNvPr id="13" name="Shape 11"/>
          <p:cNvSpPr/>
          <p:nvPr/>
        </p:nvSpPr>
        <p:spPr>
          <a:xfrm>
            <a:off x="3386252" y="2944368"/>
            <a:ext cx="2599868" cy="2286000"/>
          </a:xfrm>
          <a:prstGeom prst="roundRect">
            <a:avLst>
              <a:gd name="adj" fmla="val 3200"/>
            </a:avLst>
          </a:prstGeom>
          <a:solidFill>
            <a:srgbClr val="242938"/>
          </a:solidFill>
          <a:ln w="12700">
            <a:solidFill>
              <a:srgbClr val="2A3042"/>
            </a:solidFill>
            <a:prstDash val="solid"/>
          </a:ln>
        </p:spPr>
      </p:sp>
      <p:sp>
        <p:nvSpPr>
          <p:cNvPr id="14" name="Shape 12"/>
          <p:cNvSpPr/>
          <p:nvPr/>
        </p:nvSpPr>
        <p:spPr>
          <a:xfrm>
            <a:off x="3587420" y="3127248"/>
            <a:ext cx="329184" cy="329184"/>
          </a:xfrm>
          <a:prstGeom prst="ellipse">
            <a:avLst/>
          </a:prstGeom>
          <a:solidFill>
            <a:srgbClr val="E0AF68"/>
          </a:solidFill>
          <a:ln w="12700">
            <a:solidFill>
              <a:srgbClr val="E0AF68"/>
            </a:solidFill>
            <a:prstDash val="solid"/>
          </a:ln>
        </p:spPr>
      </p:sp>
      <p:sp>
        <p:nvSpPr>
          <p:cNvPr id="15" name="Text 13"/>
          <p:cNvSpPr/>
          <p:nvPr/>
        </p:nvSpPr>
        <p:spPr>
          <a:xfrm>
            <a:off x="3587420" y="312724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4026332" y="3108960"/>
            <a:ext cx="1740332" cy="365760"/>
          </a:xfrm>
          <a:prstGeom prst="rect">
            <a:avLst/>
          </a:prstGeom>
          <a:noFill/>
          <a:ln/>
        </p:spPr>
        <p:txBody>
          <a:bodyPr wrap="square" lIns="0" tIns="0" rIns="0" bIns="0" rtlCol="0" anchor="ctr"/>
          <a:lstStyle/>
          <a:p>
            <a:pPr algn="l" indent="0" marL="0">
              <a:buNone/>
            </a:pPr>
            <a:r>
              <a:rPr lang="en-US" sz="1500" b="1" dirty="0">
                <a:solidFill>
                  <a:srgbClr val="E0AF68"/>
                </a:solidFill>
                <a:latin typeface="Calibri" pitchFamily="34" charset="0"/>
                <a:ea typeface="Calibri" pitchFamily="34" charset="-122"/>
                <a:cs typeface="Calibri" pitchFamily="34" charset="-120"/>
              </a:rPr>
              <a:t>Kök Neden</a:t>
            </a:r>
            <a:endParaRPr lang="en-US" sz="1500" dirty="0"/>
          </a:p>
        </p:txBody>
      </p:sp>
      <p:sp>
        <p:nvSpPr>
          <p:cNvPr id="17" name="Text 15"/>
          <p:cNvSpPr/>
          <p:nvPr/>
        </p:nvSpPr>
        <p:spPr>
          <a:xfrm>
            <a:off x="3605708" y="3529584"/>
            <a:ext cx="2160956" cy="15544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Proje modülü AIModule'a bağımlı değildi. UHT o modülün üretilmiş başlıklarını projeye açmamıştı.</a:t>
            </a:r>
            <a:endParaRPr lang="en-US" sz="1200" dirty="0"/>
          </a:p>
        </p:txBody>
      </p:sp>
      <p:sp>
        <p:nvSpPr>
          <p:cNvPr id="18" name="Shape 16"/>
          <p:cNvSpPr/>
          <p:nvPr/>
        </p:nvSpPr>
        <p:spPr>
          <a:xfrm>
            <a:off x="6205576" y="2944368"/>
            <a:ext cx="2599868" cy="2286000"/>
          </a:xfrm>
          <a:prstGeom prst="roundRect">
            <a:avLst>
              <a:gd name="adj" fmla="val 3200"/>
            </a:avLst>
          </a:prstGeom>
          <a:solidFill>
            <a:srgbClr val="242938"/>
          </a:solidFill>
          <a:ln w="12700">
            <a:solidFill>
              <a:srgbClr val="2A3042"/>
            </a:solidFill>
            <a:prstDash val="solid"/>
          </a:ln>
        </p:spPr>
      </p:sp>
      <p:sp>
        <p:nvSpPr>
          <p:cNvPr id="19" name="Shape 17"/>
          <p:cNvSpPr/>
          <p:nvPr/>
        </p:nvSpPr>
        <p:spPr>
          <a:xfrm>
            <a:off x="6406744" y="3127248"/>
            <a:ext cx="329184" cy="329184"/>
          </a:xfrm>
          <a:prstGeom prst="ellipse">
            <a:avLst/>
          </a:prstGeom>
          <a:solidFill>
            <a:srgbClr val="9ECE6A"/>
          </a:solidFill>
          <a:ln w="12700">
            <a:solidFill>
              <a:srgbClr val="9ECE6A"/>
            </a:solidFill>
            <a:prstDash val="solid"/>
          </a:ln>
        </p:spPr>
      </p:sp>
      <p:sp>
        <p:nvSpPr>
          <p:cNvPr id="20" name="Text 18"/>
          <p:cNvSpPr/>
          <p:nvPr/>
        </p:nvSpPr>
        <p:spPr>
          <a:xfrm>
            <a:off x="6406744" y="312724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845656" y="3108960"/>
            <a:ext cx="1740332"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Çözüm</a:t>
            </a:r>
            <a:endParaRPr lang="en-US" sz="1500" dirty="0"/>
          </a:p>
        </p:txBody>
      </p:sp>
      <p:sp>
        <p:nvSpPr>
          <p:cNvPr id="22" name="Text 20"/>
          <p:cNvSpPr/>
          <p:nvPr/>
        </p:nvSpPr>
        <p:spPr>
          <a:xfrm>
            <a:off x="6425032" y="3529584"/>
            <a:ext cx="2160956" cy="15544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Build.cs içine AIModule ve NavigationSystem eklendi, ardından tam build alındı.</a:t>
            </a:r>
            <a:endParaRPr lang="en-US" sz="1200" dirty="0"/>
          </a:p>
        </p:txBody>
      </p:sp>
      <p:sp>
        <p:nvSpPr>
          <p:cNvPr id="23" name="Shape 21"/>
          <p:cNvSpPr/>
          <p:nvPr/>
        </p:nvSpPr>
        <p:spPr>
          <a:xfrm>
            <a:off x="9024899" y="2944368"/>
            <a:ext cx="2599868" cy="2286000"/>
          </a:xfrm>
          <a:prstGeom prst="roundRect">
            <a:avLst>
              <a:gd name="adj" fmla="val 3200"/>
            </a:avLst>
          </a:prstGeom>
          <a:solidFill>
            <a:srgbClr val="242938"/>
          </a:solidFill>
          <a:ln w="12700">
            <a:solidFill>
              <a:srgbClr val="2A3042"/>
            </a:solidFill>
            <a:prstDash val="solid"/>
          </a:ln>
        </p:spPr>
      </p:sp>
      <p:sp>
        <p:nvSpPr>
          <p:cNvPr id="24" name="Shape 22"/>
          <p:cNvSpPr/>
          <p:nvPr/>
        </p:nvSpPr>
        <p:spPr>
          <a:xfrm>
            <a:off x="9226067" y="3127248"/>
            <a:ext cx="329184" cy="329184"/>
          </a:xfrm>
          <a:prstGeom prst="ellipse">
            <a:avLst/>
          </a:prstGeom>
          <a:solidFill>
            <a:srgbClr val="7AA2F7"/>
          </a:solidFill>
          <a:ln w="12700">
            <a:solidFill>
              <a:srgbClr val="7AA2F7"/>
            </a:solidFill>
            <a:prstDash val="solid"/>
          </a:ln>
        </p:spPr>
      </p:sp>
      <p:sp>
        <p:nvSpPr>
          <p:cNvPr id="25" name="Text 23"/>
          <p:cNvSpPr/>
          <p:nvPr/>
        </p:nvSpPr>
        <p:spPr>
          <a:xfrm>
            <a:off x="9226067" y="312724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9664979" y="3108960"/>
            <a:ext cx="1740332" cy="365760"/>
          </a:xfrm>
          <a:prstGeom prst="rect">
            <a:avLst/>
          </a:prstGeom>
          <a:noFill/>
          <a:ln/>
        </p:spPr>
        <p:txBody>
          <a:bodyPr wrap="square" lIns="0" tIns="0" rIns="0" bIns="0" rtlCol="0" anchor="ctr"/>
          <a:lstStyle/>
          <a:p>
            <a:pPr algn="l" indent="0" marL="0">
              <a:buNone/>
            </a:pPr>
            <a:r>
              <a:rPr lang="en-US" sz="1500" b="1" dirty="0">
                <a:solidFill>
                  <a:srgbClr val="7AA2F7"/>
                </a:solidFill>
                <a:latin typeface="Calibri" pitchFamily="34" charset="0"/>
                <a:ea typeface="Calibri" pitchFamily="34" charset="-122"/>
                <a:cs typeface="Calibri" pitchFamily="34" charset="-120"/>
              </a:rPr>
              <a:t>Ders</a:t>
            </a:r>
            <a:endParaRPr lang="en-US" sz="1500" dirty="0"/>
          </a:p>
        </p:txBody>
      </p:sp>
      <p:sp>
        <p:nvSpPr>
          <p:cNvPr id="27" name="Text 25"/>
          <p:cNvSpPr/>
          <p:nvPr/>
        </p:nvSpPr>
        <p:spPr>
          <a:xfrm>
            <a:off x="9244355" y="3529584"/>
            <a:ext cx="2160956" cy="155448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generated.h bulunamıyorsa sorun kodda değil, modül bağımlılığındadır. Dosya yolu aramak zaman kaybıdır.</a:t>
            </a:r>
            <a:endParaRPr lang="en-US" sz="1200" dirty="0"/>
          </a:p>
        </p:txBody>
      </p:sp>
      <p:sp>
        <p:nvSpPr>
          <p:cNvPr id="28" name="Text 26"/>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07</a:t>
            </a:r>
            <a:endParaRPr lang="en-US" sz="1000" dirty="0"/>
          </a:p>
        </p:txBody>
      </p:sp>
      <p:sp>
        <p:nvSpPr>
          <p:cNvPr id="29" name="Text 27"/>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01 / vaka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9ECE6A"/>
          </a:solidFill>
          <a:ln w="12700">
            <a:solidFill>
              <a:srgbClr val="9ECE6A"/>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02</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Navigation ve</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Yapay Zekâ</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Bir karakterin haritada kendi başına yol bulup hareket edebilmesi için üç katman gerekir: yürünebilir alan verisi, karakteri yöneten bir denetleyici ve hareket emrini veren mantık.</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NavMesh temelleri</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Blueprint ile hareket</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C++ ile dolaşan karakter</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08</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NavMesh: Yürünebilir Alan Haritası</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Yapay zekânın dünyayı algılama biçimi</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02 / NAVMESH</a:t>
            </a:r>
            <a:endParaRPr lang="en-US" sz="1000" dirty="0"/>
          </a:p>
        </p:txBody>
      </p:sp>
      <p:sp>
        <p:nvSpPr>
          <p:cNvPr id="5" name="Shape 3"/>
          <p:cNvSpPr/>
          <p:nvPr/>
        </p:nvSpPr>
        <p:spPr>
          <a:xfrm>
            <a:off x="566928" y="1481328"/>
            <a:ext cx="5806440" cy="1572768"/>
          </a:xfrm>
          <a:prstGeom prst="roundRect">
            <a:avLst>
              <a:gd name="adj" fmla="val 4651"/>
            </a:avLst>
          </a:prstGeom>
          <a:solidFill>
            <a:srgbClr val="242938"/>
          </a:solidFill>
          <a:ln w="12700">
            <a:solidFill>
              <a:srgbClr val="2A3042"/>
            </a:solidFill>
            <a:prstDash val="solid"/>
          </a:ln>
        </p:spPr>
      </p:sp>
      <p:sp>
        <p:nvSpPr>
          <p:cNvPr id="6" name="Text 4"/>
          <p:cNvSpPr/>
          <p:nvPr/>
        </p:nvSpPr>
        <p:spPr>
          <a:xfrm>
            <a:off x="786384" y="1645920"/>
            <a:ext cx="5367528" cy="365760"/>
          </a:xfrm>
          <a:prstGeom prst="rect">
            <a:avLst/>
          </a:prstGeom>
          <a:noFill/>
          <a:ln/>
        </p:spPr>
        <p:txBody>
          <a:bodyPr wrap="square" lIns="0" tIns="0" rIns="0" bIns="0" rtlCol="0" anchor="ctr"/>
          <a:lstStyle/>
          <a:p>
            <a:pPr algn="l" indent="0" marL="0">
              <a:buNone/>
            </a:pPr>
            <a:r>
              <a:rPr lang="en-US" sz="1600" b="1" dirty="0">
                <a:solidFill>
                  <a:srgbClr val="9ECE6A"/>
                </a:solidFill>
                <a:latin typeface="Calibri" pitchFamily="34" charset="0"/>
                <a:ea typeface="Calibri" pitchFamily="34" charset="-122"/>
                <a:cs typeface="Calibri" pitchFamily="34" charset="-120"/>
              </a:rPr>
              <a:t>Tanım</a:t>
            </a:r>
            <a:endParaRPr lang="en-US" sz="1600" dirty="0"/>
          </a:p>
        </p:txBody>
      </p:sp>
      <p:sp>
        <p:nvSpPr>
          <p:cNvPr id="7" name="Text 5"/>
          <p:cNvSpPr/>
          <p:nvPr/>
        </p:nvSpPr>
        <p:spPr>
          <a:xfrm>
            <a:off x="786384" y="2066544"/>
            <a:ext cx="5367528" cy="841248"/>
          </a:xfrm>
          <a:prstGeom prst="rect">
            <a:avLst/>
          </a:prstGeom>
          <a:noFill/>
          <a:ln/>
        </p:spPr>
        <p:txBody>
          <a:bodyPr wrap="square" lIns="0" tIns="0" rIns="0" bIns="0" rtlCol="0" anchor="t"/>
          <a:lstStyle/>
          <a:p>
            <a:pPr algn="l" indent="0" marL="0">
              <a:lnSpc>
                <a:spcPct val="115000"/>
              </a:lnSpc>
              <a:buNone/>
            </a:pPr>
            <a:r>
              <a:rPr lang="en-US" sz="1250" dirty="0">
                <a:solidFill>
                  <a:srgbClr val="C6CEF0"/>
                </a:solidFill>
                <a:latin typeface="Calibri" pitchFamily="34" charset="0"/>
                <a:ea typeface="Calibri" pitchFamily="34" charset="-122"/>
                <a:cs typeface="Calibri" pitchFamily="34" charset="-120"/>
              </a:rPr>
              <a:t>NavMesh, seviyedeki geometrinin üzerine serilen ve yalnızca yürünebilir yüzeyleri temsil eden basitleştirilmiş bir poligon ağıdır. Yol bulma algoritması dünyanın tamamını değil, sadece bu ağı tarar.</a:t>
            </a:r>
            <a:endParaRPr lang="en-US" sz="1250" dirty="0"/>
          </a:p>
        </p:txBody>
      </p:sp>
      <p:sp>
        <p:nvSpPr>
          <p:cNvPr id="8" name="Shape 6"/>
          <p:cNvSpPr/>
          <p:nvPr/>
        </p:nvSpPr>
        <p:spPr>
          <a:xfrm>
            <a:off x="6647688" y="1481328"/>
            <a:ext cx="5806440" cy="1572768"/>
          </a:xfrm>
          <a:prstGeom prst="roundRect">
            <a:avLst>
              <a:gd name="adj" fmla="val 4651"/>
            </a:avLst>
          </a:prstGeom>
          <a:solidFill>
            <a:srgbClr val="242938"/>
          </a:solidFill>
          <a:ln w="12700">
            <a:solidFill>
              <a:srgbClr val="2A3042"/>
            </a:solidFill>
            <a:prstDash val="solid"/>
          </a:ln>
        </p:spPr>
      </p:sp>
      <p:sp>
        <p:nvSpPr>
          <p:cNvPr id="9" name="Text 7"/>
          <p:cNvSpPr/>
          <p:nvPr/>
        </p:nvSpPr>
        <p:spPr>
          <a:xfrm>
            <a:off x="6867144" y="1645920"/>
            <a:ext cx="5367528" cy="365760"/>
          </a:xfrm>
          <a:prstGeom prst="rect">
            <a:avLst/>
          </a:prstGeom>
          <a:noFill/>
          <a:ln/>
        </p:spPr>
        <p:txBody>
          <a:bodyPr wrap="square" lIns="0" tIns="0" rIns="0" bIns="0" rtlCol="0" anchor="ctr"/>
          <a:lstStyle/>
          <a:p>
            <a:pPr algn="l" indent="0" marL="0">
              <a:buNone/>
            </a:pPr>
            <a:r>
              <a:rPr lang="en-US" sz="1600" b="1" dirty="0">
                <a:solidFill>
                  <a:srgbClr val="7DCFFF"/>
                </a:solidFill>
                <a:latin typeface="Calibri" pitchFamily="34" charset="0"/>
                <a:ea typeface="Calibri" pitchFamily="34" charset="-122"/>
                <a:cs typeface="Calibri" pitchFamily="34" charset="-120"/>
              </a:rPr>
              <a:t>Benzetme</a:t>
            </a:r>
            <a:endParaRPr lang="en-US" sz="1600" dirty="0"/>
          </a:p>
        </p:txBody>
      </p:sp>
      <p:sp>
        <p:nvSpPr>
          <p:cNvPr id="10" name="Text 8"/>
          <p:cNvSpPr/>
          <p:nvPr/>
        </p:nvSpPr>
        <p:spPr>
          <a:xfrm>
            <a:off x="6867144" y="2066544"/>
            <a:ext cx="5367528" cy="841248"/>
          </a:xfrm>
          <a:prstGeom prst="rect">
            <a:avLst/>
          </a:prstGeom>
          <a:noFill/>
          <a:ln/>
        </p:spPr>
        <p:txBody>
          <a:bodyPr wrap="square" lIns="0" tIns="0" rIns="0" bIns="0" rtlCol="0" anchor="t"/>
          <a:lstStyle/>
          <a:p>
            <a:pPr algn="l" indent="0" marL="0">
              <a:lnSpc>
                <a:spcPct val="115000"/>
              </a:lnSpc>
              <a:buNone/>
            </a:pPr>
            <a:r>
              <a:rPr lang="en-US" sz="1250" dirty="0">
                <a:solidFill>
                  <a:srgbClr val="C6CEF0"/>
                </a:solidFill>
                <a:latin typeface="Calibri" pitchFamily="34" charset="0"/>
                <a:ea typeface="Calibri" pitchFamily="34" charset="-122"/>
                <a:cs typeface="Calibri" pitchFamily="34" charset="-120"/>
              </a:rPr>
              <a:t>Bir alışveriş merkezinin kat planı gibidir. Plan duvarların dokusunu, vitrinlerin rengini içermez; yalnızca nereden nereye yürünebileceğini gösterir. AI da dünyayı bu sadelikte görür.</a:t>
            </a:r>
            <a:endParaRPr lang="en-US" sz="1250" dirty="0"/>
          </a:p>
        </p:txBody>
      </p:sp>
      <p:sp>
        <p:nvSpPr>
          <p:cNvPr id="11" name="Shape 9"/>
          <p:cNvSpPr/>
          <p:nvPr/>
        </p:nvSpPr>
        <p:spPr>
          <a:xfrm>
            <a:off x="566928" y="3310128"/>
            <a:ext cx="3515258" cy="1920240"/>
          </a:xfrm>
          <a:prstGeom prst="roundRect">
            <a:avLst>
              <a:gd name="adj" fmla="val 3810"/>
            </a:avLst>
          </a:prstGeom>
          <a:solidFill>
            <a:srgbClr val="242938"/>
          </a:solidFill>
          <a:ln w="12700">
            <a:solidFill>
              <a:srgbClr val="2A3042"/>
            </a:solidFill>
            <a:prstDash val="solid"/>
          </a:ln>
        </p:spPr>
      </p:sp>
      <p:sp>
        <p:nvSpPr>
          <p:cNvPr id="12" name="Shape 10"/>
          <p:cNvSpPr/>
          <p:nvPr/>
        </p:nvSpPr>
        <p:spPr>
          <a:xfrm>
            <a:off x="768096" y="3493008"/>
            <a:ext cx="329184" cy="329184"/>
          </a:xfrm>
          <a:prstGeom prst="ellipse">
            <a:avLst/>
          </a:prstGeom>
          <a:solidFill>
            <a:srgbClr val="7AA2F7"/>
          </a:solidFill>
          <a:ln w="12700">
            <a:solidFill>
              <a:srgbClr val="7AA2F7"/>
            </a:solidFill>
            <a:prstDash val="solid"/>
          </a:ln>
        </p:spPr>
      </p:sp>
      <p:sp>
        <p:nvSpPr>
          <p:cNvPr id="13" name="Text 11"/>
          <p:cNvSpPr/>
          <p:nvPr/>
        </p:nvSpPr>
        <p:spPr>
          <a:xfrm>
            <a:off x="768096" y="34930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1207008" y="3474720"/>
            <a:ext cx="2655722" cy="365760"/>
          </a:xfrm>
          <a:prstGeom prst="rect">
            <a:avLst/>
          </a:prstGeom>
          <a:noFill/>
          <a:ln/>
        </p:spPr>
        <p:txBody>
          <a:bodyPr wrap="square" lIns="0" tIns="0" rIns="0" bIns="0" rtlCol="0" anchor="ctr"/>
          <a:lstStyle/>
          <a:p>
            <a:pPr algn="l" indent="0" marL="0">
              <a:buNone/>
            </a:pPr>
            <a:r>
              <a:rPr lang="en-US" sz="1500" b="1" dirty="0">
                <a:solidFill>
                  <a:srgbClr val="7AA2F7"/>
                </a:solidFill>
                <a:latin typeface="Calibri" pitchFamily="34" charset="0"/>
                <a:ea typeface="Calibri" pitchFamily="34" charset="-122"/>
                <a:cs typeface="Calibri" pitchFamily="34" charset="-120"/>
              </a:rPr>
              <a:t>Yerleştirme</a:t>
            </a:r>
            <a:endParaRPr lang="en-US" sz="1500" dirty="0"/>
          </a:p>
        </p:txBody>
      </p:sp>
      <p:sp>
        <p:nvSpPr>
          <p:cNvPr id="15" name="Text 13"/>
          <p:cNvSpPr/>
          <p:nvPr/>
        </p:nvSpPr>
        <p:spPr>
          <a:xfrm>
            <a:off x="786384" y="3895344"/>
            <a:ext cx="3076346" cy="118872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Place Actors panelinden NavMeshBoundsVolume sahneye eklenir ve zemini kapsayacak biçimde ölçeklenir.</a:t>
            </a:r>
            <a:endParaRPr lang="en-US" sz="1200" dirty="0"/>
          </a:p>
        </p:txBody>
      </p:sp>
      <p:sp>
        <p:nvSpPr>
          <p:cNvPr id="16" name="Shape 14"/>
          <p:cNvSpPr/>
          <p:nvPr/>
        </p:nvSpPr>
        <p:spPr>
          <a:xfrm>
            <a:off x="4338218" y="3310128"/>
            <a:ext cx="3515258" cy="1920240"/>
          </a:xfrm>
          <a:prstGeom prst="roundRect">
            <a:avLst>
              <a:gd name="adj" fmla="val 3810"/>
            </a:avLst>
          </a:prstGeom>
          <a:solidFill>
            <a:srgbClr val="242938"/>
          </a:solidFill>
          <a:ln w="12700">
            <a:solidFill>
              <a:srgbClr val="2A3042"/>
            </a:solidFill>
            <a:prstDash val="solid"/>
          </a:ln>
        </p:spPr>
      </p:sp>
      <p:sp>
        <p:nvSpPr>
          <p:cNvPr id="17" name="Shape 15"/>
          <p:cNvSpPr/>
          <p:nvPr/>
        </p:nvSpPr>
        <p:spPr>
          <a:xfrm>
            <a:off x="4539386" y="3493008"/>
            <a:ext cx="329184" cy="329184"/>
          </a:xfrm>
          <a:prstGeom prst="ellipse">
            <a:avLst/>
          </a:prstGeom>
          <a:solidFill>
            <a:srgbClr val="E0AF68"/>
          </a:solidFill>
          <a:ln w="12700">
            <a:solidFill>
              <a:srgbClr val="E0AF68"/>
            </a:solidFill>
            <a:prstDash val="solid"/>
          </a:ln>
        </p:spPr>
      </p:sp>
      <p:sp>
        <p:nvSpPr>
          <p:cNvPr id="18" name="Text 16"/>
          <p:cNvSpPr/>
          <p:nvPr/>
        </p:nvSpPr>
        <p:spPr>
          <a:xfrm>
            <a:off x="4539386" y="34930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4978298" y="3474720"/>
            <a:ext cx="2655722" cy="365760"/>
          </a:xfrm>
          <a:prstGeom prst="rect">
            <a:avLst/>
          </a:prstGeom>
          <a:noFill/>
          <a:ln/>
        </p:spPr>
        <p:txBody>
          <a:bodyPr wrap="square" lIns="0" tIns="0" rIns="0" bIns="0" rtlCol="0" anchor="ctr"/>
          <a:lstStyle/>
          <a:p>
            <a:pPr algn="l" indent="0" marL="0">
              <a:buNone/>
            </a:pPr>
            <a:r>
              <a:rPr lang="en-US" sz="1500" b="1" dirty="0">
                <a:solidFill>
                  <a:srgbClr val="E0AF68"/>
                </a:solidFill>
                <a:latin typeface="Calibri" pitchFamily="34" charset="0"/>
                <a:ea typeface="Calibri" pitchFamily="34" charset="-122"/>
                <a:cs typeface="Calibri" pitchFamily="34" charset="-120"/>
              </a:rPr>
              <a:t>Doğrulama</a:t>
            </a:r>
            <a:endParaRPr lang="en-US" sz="1500" dirty="0"/>
          </a:p>
        </p:txBody>
      </p:sp>
      <p:sp>
        <p:nvSpPr>
          <p:cNvPr id="20" name="Text 18"/>
          <p:cNvSpPr/>
          <p:nvPr/>
        </p:nvSpPr>
        <p:spPr>
          <a:xfrm>
            <a:off x="4557674" y="3895344"/>
            <a:ext cx="3076346" cy="118872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Viewport'ta P tuşuna basıldığında yürünebilir alanlar yeşil boyanır. Yeşil yoksa hacim üretilmemiştir.</a:t>
            </a:r>
            <a:endParaRPr lang="en-US" sz="1200" dirty="0"/>
          </a:p>
        </p:txBody>
      </p:sp>
      <p:sp>
        <p:nvSpPr>
          <p:cNvPr id="21" name="Shape 19"/>
          <p:cNvSpPr/>
          <p:nvPr/>
        </p:nvSpPr>
        <p:spPr>
          <a:xfrm>
            <a:off x="8109509" y="3310128"/>
            <a:ext cx="3515258" cy="1920240"/>
          </a:xfrm>
          <a:prstGeom prst="roundRect">
            <a:avLst>
              <a:gd name="adj" fmla="val 3810"/>
            </a:avLst>
          </a:prstGeom>
          <a:solidFill>
            <a:srgbClr val="242938"/>
          </a:solidFill>
          <a:ln w="12700">
            <a:solidFill>
              <a:srgbClr val="2A3042"/>
            </a:solidFill>
            <a:prstDash val="solid"/>
          </a:ln>
        </p:spPr>
      </p:sp>
      <p:sp>
        <p:nvSpPr>
          <p:cNvPr id="22" name="Shape 20"/>
          <p:cNvSpPr/>
          <p:nvPr/>
        </p:nvSpPr>
        <p:spPr>
          <a:xfrm>
            <a:off x="8310677" y="3493008"/>
            <a:ext cx="329184" cy="329184"/>
          </a:xfrm>
          <a:prstGeom prst="ellipse">
            <a:avLst/>
          </a:prstGeom>
          <a:solidFill>
            <a:srgbClr val="BB9AF7"/>
          </a:solidFill>
          <a:ln w="12700">
            <a:solidFill>
              <a:srgbClr val="BB9AF7"/>
            </a:solidFill>
            <a:prstDash val="solid"/>
          </a:ln>
        </p:spPr>
      </p:sp>
      <p:sp>
        <p:nvSpPr>
          <p:cNvPr id="23" name="Text 21"/>
          <p:cNvSpPr/>
          <p:nvPr/>
        </p:nvSpPr>
        <p:spPr>
          <a:xfrm>
            <a:off x="8310677" y="34930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8749589" y="3474720"/>
            <a:ext cx="2655722" cy="365760"/>
          </a:xfrm>
          <a:prstGeom prst="rect">
            <a:avLst/>
          </a:prstGeom>
          <a:noFill/>
          <a:ln/>
        </p:spPr>
        <p:txBody>
          <a:bodyPr wrap="square" lIns="0" tIns="0" rIns="0" bIns="0" rtlCol="0" anchor="ctr"/>
          <a:lstStyle/>
          <a:p>
            <a:pPr algn="l" indent="0" marL="0">
              <a:buNone/>
            </a:pPr>
            <a:r>
              <a:rPr lang="en-US" sz="1500" b="1" dirty="0">
                <a:solidFill>
                  <a:srgbClr val="BB9AF7"/>
                </a:solidFill>
                <a:latin typeface="Calibri" pitchFamily="34" charset="0"/>
                <a:ea typeface="Calibri" pitchFamily="34" charset="-122"/>
                <a:cs typeface="Calibri" pitchFamily="34" charset="-120"/>
              </a:rPr>
              <a:t>Optimizasyon</a:t>
            </a:r>
            <a:endParaRPr lang="en-US" sz="1500" dirty="0"/>
          </a:p>
        </p:txBody>
      </p:sp>
      <p:sp>
        <p:nvSpPr>
          <p:cNvPr id="25" name="Text 23"/>
          <p:cNvSpPr/>
          <p:nvPr/>
        </p:nvSpPr>
        <p:spPr>
          <a:xfrm>
            <a:off x="8328965" y="3895344"/>
            <a:ext cx="3076346" cy="118872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Project Settings içinde Runtime Generation değeri Static yapılırsa ağ bir kez üretilir, oyun sırasında yeniden hesaplanmaz.</a:t>
            </a:r>
            <a:endParaRPr lang="en-US" sz="1200" dirty="0"/>
          </a:p>
        </p:txBody>
      </p:sp>
      <p:sp>
        <p:nvSpPr>
          <p:cNvPr id="26" name="Text 24"/>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09</a:t>
            </a:r>
            <a:endParaRPr lang="en-US" sz="1000" dirty="0"/>
          </a:p>
        </p:txBody>
      </p:sp>
      <p:sp>
        <p:nvSpPr>
          <p:cNvPr id="27" name="Text 25"/>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02 / navmesh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AI Hareket Etmiyor: Kontrol Listesi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Sorun neredeyse her zaman bu beş maddeden biridir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02 / TESHIS</a:t>
            </a:r>
            <a:endParaRPr lang="en-US" sz="1000" dirty="0"/>
          </a:p>
        </p:txBody>
      </p:sp>
      <p:sp>
        <p:nvSpPr>
          <p:cNvPr id="5" name="Shape 3"/>
          <p:cNvSpPr/>
          <p:nvPr/>
        </p:nvSpPr>
        <p:spPr>
          <a:xfrm>
            <a:off x="566928" y="1481328"/>
            <a:ext cx="11057839" cy="786384"/>
          </a:xfrm>
          <a:prstGeom prst="roundRect">
            <a:avLst>
              <a:gd name="adj" fmla="val 6977"/>
            </a:avLst>
          </a:prstGeom>
          <a:solidFill>
            <a:srgbClr val="242938"/>
          </a:solidFill>
          <a:ln w="12700">
            <a:solidFill>
              <a:srgbClr val="2A3042"/>
            </a:solidFill>
            <a:prstDash val="solid"/>
          </a:ln>
        </p:spPr>
      </p:sp>
      <p:sp>
        <p:nvSpPr>
          <p:cNvPr id="6" name="Shape 4"/>
          <p:cNvSpPr/>
          <p:nvPr/>
        </p:nvSpPr>
        <p:spPr>
          <a:xfrm>
            <a:off x="786384" y="1709928"/>
            <a:ext cx="329184" cy="329184"/>
          </a:xfrm>
          <a:prstGeom prst="ellipse">
            <a:avLst/>
          </a:prstGeom>
          <a:solidFill>
            <a:srgbClr val="9ECE6A"/>
          </a:solidFill>
          <a:ln w="12700">
            <a:solidFill>
              <a:srgbClr val="9ECE6A"/>
            </a:solidFill>
            <a:prstDash val="solid"/>
          </a:ln>
        </p:spPr>
      </p:sp>
      <p:sp>
        <p:nvSpPr>
          <p:cNvPr id="7" name="Text 5"/>
          <p:cNvSpPr/>
          <p:nvPr/>
        </p:nvSpPr>
        <p:spPr>
          <a:xfrm>
            <a:off x="786384" y="170992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61872" y="1481328"/>
            <a:ext cx="2651760" cy="7863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NavMesh üretildi mi?</a:t>
            </a:r>
            <a:endParaRPr lang="en-US" sz="1350" dirty="0"/>
          </a:p>
        </p:txBody>
      </p:sp>
      <p:sp>
        <p:nvSpPr>
          <p:cNvPr id="9" name="Text 7"/>
          <p:cNvSpPr/>
          <p:nvPr/>
        </p:nvSpPr>
        <p:spPr>
          <a:xfrm>
            <a:off x="3968496" y="1481328"/>
            <a:ext cx="3657600" cy="786384"/>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Viewport'ta P tuşu · zemin yeşil olmalı</a:t>
            </a:r>
            <a:endParaRPr lang="en-US" sz="1150" dirty="0"/>
          </a:p>
        </p:txBody>
      </p:sp>
      <p:sp>
        <p:nvSpPr>
          <p:cNvPr id="10" name="Text 8"/>
          <p:cNvSpPr/>
          <p:nvPr/>
        </p:nvSpPr>
        <p:spPr>
          <a:xfrm>
            <a:off x="7717536" y="1481328"/>
            <a:ext cx="3687775" cy="786384"/>
          </a:xfrm>
          <a:prstGeom prst="rect">
            <a:avLst/>
          </a:prstGeom>
          <a:noFill/>
          <a:ln/>
        </p:spPr>
        <p:txBody>
          <a:bodyPr wrap="square" lIns="0" tIns="0" rIns="0" bIns="0" rtlCol="0" anchor="ctr"/>
          <a:lstStyle/>
          <a:p>
            <a:pPr indent="0" marL="0">
              <a:buNone/>
            </a:pPr>
            <a:r>
              <a:rPr lang="en-US" sz="1150" i="1" dirty="0">
                <a:solidFill>
                  <a:srgbClr val="F7768E"/>
                </a:solidFill>
                <a:latin typeface="Calibri" pitchFamily="34" charset="0"/>
                <a:ea typeface="Calibri" pitchFamily="34" charset="-122"/>
                <a:cs typeface="Calibri" pitchFamily="34" charset="-120"/>
              </a:rPr>
              <a:t>Hacim zeminin içine gömülü değil ya da çok küçük</a:t>
            </a:r>
            <a:endParaRPr lang="en-US" sz="1150" dirty="0"/>
          </a:p>
        </p:txBody>
      </p:sp>
      <p:sp>
        <p:nvSpPr>
          <p:cNvPr id="11" name="Shape 9"/>
          <p:cNvSpPr/>
          <p:nvPr/>
        </p:nvSpPr>
        <p:spPr>
          <a:xfrm>
            <a:off x="566928" y="2414016"/>
            <a:ext cx="11057839" cy="786384"/>
          </a:xfrm>
          <a:prstGeom prst="roundRect">
            <a:avLst>
              <a:gd name="adj" fmla="val 6977"/>
            </a:avLst>
          </a:prstGeom>
          <a:solidFill>
            <a:srgbClr val="2A3042"/>
          </a:solidFill>
          <a:ln w="12700">
            <a:solidFill>
              <a:srgbClr val="2A3042"/>
            </a:solidFill>
            <a:prstDash val="solid"/>
          </a:ln>
        </p:spPr>
      </p:sp>
      <p:sp>
        <p:nvSpPr>
          <p:cNvPr id="12" name="Shape 10"/>
          <p:cNvSpPr/>
          <p:nvPr/>
        </p:nvSpPr>
        <p:spPr>
          <a:xfrm>
            <a:off x="786384" y="2642616"/>
            <a:ext cx="329184" cy="329184"/>
          </a:xfrm>
          <a:prstGeom prst="ellipse">
            <a:avLst/>
          </a:prstGeom>
          <a:solidFill>
            <a:srgbClr val="9ECE6A"/>
          </a:solidFill>
          <a:ln w="12700">
            <a:solidFill>
              <a:srgbClr val="9ECE6A"/>
            </a:solidFill>
            <a:prstDash val="solid"/>
          </a:ln>
        </p:spPr>
      </p:sp>
      <p:sp>
        <p:nvSpPr>
          <p:cNvPr id="13" name="Text 11"/>
          <p:cNvSpPr/>
          <p:nvPr/>
        </p:nvSpPr>
        <p:spPr>
          <a:xfrm>
            <a:off x="786384" y="2642616"/>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261872" y="2414016"/>
            <a:ext cx="2651760" cy="7863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AI Controller atandı mı?</a:t>
            </a:r>
            <a:endParaRPr lang="en-US" sz="1350" dirty="0"/>
          </a:p>
        </p:txBody>
      </p:sp>
      <p:sp>
        <p:nvSpPr>
          <p:cNvPr id="15" name="Text 13"/>
          <p:cNvSpPr/>
          <p:nvPr/>
        </p:nvSpPr>
        <p:spPr>
          <a:xfrm>
            <a:off x="3968496" y="2414016"/>
            <a:ext cx="3657600" cy="786384"/>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Class Defaults › Pawn › AI Controller Class</a:t>
            </a:r>
            <a:endParaRPr lang="en-US" sz="1150" dirty="0"/>
          </a:p>
        </p:txBody>
      </p:sp>
      <p:sp>
        <p:nvSpPr>
          <p:cNvPr id="16" name="Text 14"/>
          <p:cNvSpPr/>
          <p:nvPr/>
        </p:nvSpPr>
        <p:spPr>
          <a:xfrm>
            <a:off x="7717536" y="2414016"/>
            <a:ext cx="3687775" cy="786384"/>
          </a:xfrm>
          <a:prstGeom prst="rect">
            <a:avLst/>
          </a:prstGeom>
          <a:noFill/>
          <a:ln/>
        </p:spPr>
        <p:txBody>
          <a:bodyPr wrap="square" lIns="0" tIns="0" rIns="0" bIns="0" rtlCol="0" anchor="ctr"/>
          <a:lstStyle/>
          <a:p>
            <a:pPr indent="0" marL="0">
              <a:buNone/>
            </a:pPr>
            <a:r>
              <a:rPr lang="en-US" sz="1150" i="1" dirty="0">
                <a:solidFill>
                  <a:srgbClr val="F7768E"/>
                </a:solidFill>
                <a:latin typeface="Calibri" pitchFamily="34" charset="0"/>
                <a:ea typeface="Calibri" pitchFamily="34" charset="-122"/>
                <a:cs typeface="Calibri" pitchFamily="34" charset="-120"/>
              </a:rPr>
              <a:t>Alan boş bırakılmış, karakteri yöneten kimse yok</a:t>
            </a:r>
            <a:endParaRPr lang="en-US" sz="1150" dirty="0"/>
          </a:p>
        </p:txBody>
      </p:sp>
      <p:sp>
        <p:nvSpPr>
          <p:cNvPr id="17" name="Shape 15"/>
          <p:cNvSpPr/>
          <p:nvPr/>
        </p:nvSpPr>
        <p:spPr>
          <a:xfrm>
            <a:off x="566928" y="3346704"/>
            <a:ext cx="11057839" cy="786384"/>
          </a:xfrm>
          <a:prstGeom prst="roundRect">
            <a:avLst>
              <a:gd name="adj" fmla="val 6977"/>
            </a:avLst>
          </a:prstGeom>
          <a:solidFill>
            <a:srgbClr val="242938"/>
          </a:solidFill>
          <a:ln w="12700">
            <a:solidFill>
              <a:srgbClr val="2A3042"/>
            </a:solidFill>
            <a:prstDash val="solid"/>
          </a:ln>
        </p:spPr>
      </p:sp>
      <p:sp>
        <p:nvSpPr>
          <p:cNvPr id="18" name="Shape 16"/>
          <p:cNvSpPr/>
          <p:nvPr/>
        </p:nvSpPr>
        <p:spPr>
          <a:xfrm>
            <a:off x="786384" y="3575304"/>
            <a:ext cx="329184" cy="329184"/>
          </a:xfrm>
          <a:prstGeom prst="ellipse">
            <a:avLst/>
          </a:prstGeom>
          <a:solidFill>
            <a:srgbClr val="9ECE6A"/>
          </a:solidFill>
          <a:ln w="12700">
            <a:solidFill>
              <a:srgbClr val="9ECE6A"/>
            </a:solidFill>
            <a:prstDash val="solid"/>
          </a:ln>
        </p:spPr>
      </p:sp>
      <p:sp>
        <p:nvSpPr>
          <p:cNvPr id="19" name="Text 17"/>
          <p:cNvSpPr/>
          <p:nvPr/>
        </p:nvSpPr>
        <p:spPr>
          <a:xfrm>
            <a:off x="786384" y="35753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261872" y="3346704"/>
            <a:ext cx="2651760" cy="7863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Auto Possess AI açık mı?</a:t>
            </a:r>
            <a:endParaRPr lang="en-US" sz="1350" dirty="0"/>
          </a:p>
        </p:txBody>
      </p:sp>
      <p:sp>
        <p:nvSpPr>
          <p:cNvPr id="21" name="Text 19"/>
          <p:cNvSpPr/>
          <p:nvPr/>
        </p:nvSpPr>
        <p:spPr>
          <a:xfrm>
            <a:off x="3968496" y="3346704"/>
            <a:ext cx="3657600" cy="786384"/>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Placed in World or Spawned seçili olmalı</a:t>
            </a:r>
            <a:endParaRPr lang="en-US" sz="1150" dirty="0"/>
          </a:p>
        </p:txBody>
      </p:sp>
      <p:sp>
        <p:nvSpPr>
          <p:cNvPr id="22" name="Text 20"/>
          <p:cNvSpPr/>
          <p:nvPr/>
        </p:nvSpPr>
        <p:spPr>
          <a:xfrm>
            <a:off x="7717536" y="3346704"/>
            <a:ext cx="3687775" cy="786384"/>
          </a:xfrm>
          <a:prstGeom prst="rect">
            <a:avLst/>
          </a:prstGeom>
          <a:noFill/>
          <a:ln/>
        </p:spPr>
        <p:txBody>
          <a:bodyPr wrap="square" lIns="0" tIns="0" rIns="0" bIns="0" rtlCol="0" anchor="ctr"/>
          <a:lstStyle/>
          <a:p>
            <a:pPr indent="0" marL="0">
              <a:buNone/>
            </a:pPr>
            <a:r>
              <a:rPr lang="en-US" sz="1150" i="1" dirty="0">
                <a:solidFill>
                  <a:srgbClr val="F7768E"/>
                </a:solidFill>
                <a:latin typeface="Calibri" pitchFamily="34" charset="0"/>
                <a:ea typeface="Calibri" pitchFamily="34" charset="-122"/>
                <a:cs typeface="Calibri" pitchFamily="34" charset="-120"/>
              </a:rPr>
              <a:t>Disabled değerinde kalmış, denetleyici hiç oluşmuyor</a:t>
            </a:r>
            <a:endParaRPr lang="en-US" sz="1150" dirty="0"/>
          </a:p>
        </p:txBody>
      </p:sp>
      <p:sp>
        <p:nvSpPr>
          <p:cNvPr id="23" name="Shape 21"/>
          <p:cNvSpPr/>
          <p:nvPr/>
        </p:nvSpPr>
        <p:spPr>
          <a:xfrm>
            <a:off x="566928" y="4279392"/>
            <a:ext cx="11057839" cy="786384"/>
          </a:xfrm>
          <a:prstGeom prst="roundRect">
            <a:avLst>
              <a:gd name="adj" fmla="val 6977"/>
            </a:avLst>
          </a:prstGeom>
          <a:solidFill>
            <a:srgbClr val="2A3042"/>
          </a:solidFill>
          <a:ln w="12700">
            <a:solidFill>
              <a:srgbClr val="2A3042"/>
            </a:solidFill>
            <a:prstDash val="solid"/>
          </a:ln>
        </p:spPr>
      </p:sp>
      <p:sp>
        <p:nvSpPr>
          <p:cNvPr id="24" name="Shape 22"/>
          <p:cNvSpPr/>
          <p:nvPr/>
        </p:nvSpPr>
        <p:spPr>
          <a:xfrm>
            <a:off x="786384" y="4507992"/>
            <a:ext cx="329184" cy="329184"/>
          </a:xfrm>
          <a:prstGeom prst="ellipse">
            <a:avLst/>
          </a:prstGeom>
          <a:solidFill>
            <a:srgbClr val="9ECE6A"/>
          </a:solidFill>
          <a:ln w="12700">
            <a:solidFill>
              <a:srgbClr val="9ECE6A"/>
            </a:solidFill>
            <a:prstDash val="solid"/>
          </a:ln>
        </p:spPr>
      </p:sp>
      <p:sp>
        <p:nvSpPr>
          <p:cNvPr id="25" name="Text 23"/>
          <p:cNvSpPr/>
          <p:nvPr/>
        </p:nvSpPr>
        <p:spPr>
          <a:xfrm>
            <a:off x="786384" y="450799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261872" y="4279392"/>
            <a:ext cx="2651760" cy="7863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Hedef geçerli mi?</a:t>
            </a:r>
            <a:endParaRPr lang="en-US" sz="1350" dirty="0"/>
          </a:p>
        </p:txBody>
      </p:sp>
      <p:sp>
        <p:nvSpPr>
          <p:cNvPr id="27" name="Text 25"/>
          <p:cNvSpPr/>
          <p:nvPr/>
        </p:nvSpPr>
        <p:spPr>
          <a:xfrm>
            <a:off x="3968496" y="4279392"/>
            <a:ext cx="3657600" cy="786384"/>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Destination koordinatı NavMesh içinde olmalı</a:t>
            </a:r>
            <a:endParaRPr lang="en-US" sz="1150" dirty="0"/>
          </a:p>
        </p:txBody>
      </p:sp>
      <p:sp>
        <p:nvSpPr>
          <p:cNvPr id="28" name="Text 26"/>
          <p:cNvSpPr/>
          <p:nvPr/>
        </p:nvSpPr>
        <p:spPr>
          <a:xfrm>
            <a:off x="7717536" y="4279392"/>
            <a:ext cx="3687775" cy="786384"/>
          </a:xfrm>
          <a:prstGeom prst="rect">
            <a:avLst/>
          </a:prstGeom>
          <a:noFill/>
          <a:ln/>
        </p:spPr>
        <p:txBody>
          <a:bodyPr wrap="square" lIns="0" tIns="0" rIns="0" bIns="0" rtlCol="0" anchor="ctr"/>
          <a:lstStyle/>
          <a:p>
            <a:pPr indent="0" marL="0">
              <a:buNone/>
            </a:pPr>
            <a:r>
              <a:rPr lang="en-US" sz="1150" i="1" dirty="0">
                <a:solidFill>
                  <a:srgbClr val="F7768E"/>
                </a:solidFill>
                <a:latin typeface="Calibri" pitchFamily="34" charset="0"/>
                <a:ea typeface="Calibri" pitchFamily="34" charset="-122"/>
                <a:cs typeface="Calibri" pitchFamily="34" charset="-120"/>
              </a:rPr>
              <a:t>Varsayılan (0,0,0) değeri dünya merkezini işaret ediyor</a:t>
            </a:r>
            <a:endParaRPr lang="en-US" sz="1150" dirty="0"/>
          </a:p>
        </p:txBody>
      </p:sp>
      <p:sp>
        <p:nvSpPr>
          <p:cNvPr id="29" name="Shape 27"/>
          <p:cNvSpPr/>
          <p:nvPr/>
        </p:nvSpPr>
        <p:spPr>
          <a:xfrm>
            <a:off x="566928" y="5212080"/>
            <a:ext cx="11057839" cy="786384"/>
          </a:xfrm>
          <a:prstGeom prst="roundRect">
            <a:avLst>
              <a:gd name="adj" fmla="val 6977"/>
            </a:avLst>
          </a:prstGeom>
          <a:solidFill>
            <a:srgbClr val="242938"/>
          </a:solidFill>
          <a:ln w="12700">
            <a:solidFill>
              <a:srgbClr val="2A3042"/>
            </a:solidFill>
            <a:prstDash val="solid"/>
          </a:ln>
        </p:spPr>
      </p:sp>
      <p:sp>
        <p:nvSpPr>
          <p:cNvPr id="30" name="Shape 28"/>
          <p:cNvSpPr/>
          <p:nvPr/>
        </p:nvSpPr>
        <p:spPr>
          <a:xfrm>
            <a:off x="786384" y="5440680"/>
            <a:ext cx="329184" cy="329184"/>
          </a:xfrm>
          <a:prstGeom prst="ellipse">
            <a:avLst/>
          </a:prstGeom>
          <a:solidFill>
            <a:srgbClr val="9ECE6A"/>
          </a:solidFill>
          <a:ln w="12700">
            <a:solidFill>
              <a:srgbClr val="9ECE6A"/>
            </a:solidFill>
            <a:prstDash val="solid"/>
          </a:ln>
        </p:spPr>
      </p:sp>
      <p:sp>
        <p:nvSpPr>
          <p:cNvPr id="31" name="Text 29"/>
          <p:cNvSpPr/>
          <p:nvPr/>
        </p:nvSpPr>
        <p:spPr>
          <a:xfrm>
            <a:off x="786384" y="5440680"/>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5</a:t>
            </a:r>
            <a:endParaRPr lang="en-US" sz="1300" dirty="0"/>
          </a:p>
        </p:txBody>
      </p:sp>
      <p:sp>
        <p:nvSpPr>
          <p:cNvPr id="32" name="Text 30"/>
          <p:cNvSpPr/>
          <p:nvPr/>
        </p:nvSpPr>
        <p:spPr>
          <a:xfrm>
            <a:off x="1261872" y="5212080"/>
            <a:ext cx="2651760" cy="78638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Hareket hızı var mı?</a:t>
            </a:r>
            <a:endParaRPr lang="en-US" sz="1350" dirty="0"/>
          </a:p>
        </p:txBody>
      </p:sp>
      <p:sp>
        <p:nvSpPr>
          <p:cNvPr id="33" name="Text 31"/>
          <p:cNvSpPr/>
          <p:nvPr/>
        </p:nvSpPr>
        <p:spPr>
          <a:xfrm>
            <a:off x="3968496" y="5212080"/>
            <a:ext cx="3657600" cy="786384"/>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CharacterMovement › Max Walk Speed</a:t>
            </a:r>
            <a:endParaRPr lang="en-US" sz="1150" dirty="0"/>
          </a:p>
        </p:txBody>
      </p:sp>
      <p:sp>
        <p:nvSpPr>
          <p:cNvPr id="34" name="Text 32"/>
          <p:cNvSpPr/>
          <p:nvPr/>
        </p:nvSpPr>
        <p:spPr>
          <a:xfrm>
            <a:off x="7717536" y="5212080"/>
            <a:ext cx="3687775" cy="786384"/>
          </a:xfrm>
          <a:prstGeom prst="rect">
            <a:avLst/>
          </a:prstGeom>
          <a:noFill/>
          <a:ln/>
        </p:spPr>
        <p:txBody>
          <a:bodyPr wrap="square" lIns="0" tIns="0" rIns="0" bIns="0" rtlCol="0" anchor="ctr"/>
          <a:lstStyle/>
          <a:p>
            <a:pPr indent="0" marL="0">
              <a:buNone/>
            </a:pPr>
            <a:r>
              <a:rPr lang="en-US" sz="1150" i="1" dirty="0">
                <a:solidFill>
                  <a:srgbClr val="F7768E"/>
                </a:solidFill>
                <a:latin typeface="Calibri" pitchFamily="34" charset="0"/>
                <a:ea typeface="Calibri" pitchFamily="34" charset="-122"/>
                <a:cs typeface="Calibri" pitchFamily="34" charset="-120"/>
              </a:rPr>
              <a:t>Değer sıfırlanmış, karakter emri alıyor ama ilerlemiyor</a:t>
            </a:r>
            <a:endParaRPr lang="en-US" sz="1150" dirty="0"/>
          </a:p>
        </p:txBody>
      </p:sp>
      <p:sp>
        <p:nvSpPr>
          <p:cNvPr id="35" name="Text 33"/>
          <p:cNvSpPr/>
          <p:nvPr/>
        </p:nvSpPr>
        <p:spPr>
          <a:xfrm>
            <a:off x="1261872" y="1225296"/>
            <a:ext cx="2651760" cy="219456"/>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KONTROL</a:t>
            </a:r>
            <a:endParaRPr lang="en-US" sz="900" dirty="0"/>
          </a:p>
        </p:txBody>
      </p:sp>
      <p:sp>
        <p:nvSpPr>
          <p:cNvPr id="36" name="Text 34"/>
          <p:cNvSpPr/>
          <p:nvPr/>
        </p:nvSpPr>
        <p:spPr>
          <a:xfrm>
            <a:off x="3968496" y="1225296"/>
            <a:ext cx="3657600" cy="219456"/>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NEREYE BAKILIR</a:t>
            </a:r>
            <a:endParaRPr lang="en-US" sz="900" dirty="0"/>
          </a:p>
        </p:txBody>
      </p:sp>
      <p:sp>
        <p:nvSpPr>
          <p:cNvPr id="37" name="Text 35"/>
          <p:cNvSpPr/>
          <p:nvPr/>
        </p:nvSpPr>
        <p:spPr>
          <a:xfrm>
            <a:off x="7717536" y="1225296"/>
            <a:ext cx="3657600" cy="219456"/>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SIK GÖRÜLEN HATA</a:t>
            </a:r>
            <a:endParaRPr lang="en-US" sz="900" dirty="0"/>
          </a:p>
        </p:txBody>
      </p:sp>
      <p:sp>
        <p:nvSpPr>
          <p:cNvPr id="38" name="Text 36"/>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10</a:t>
            </a:r>
            <a:endParaRPr lang="en-US" sz="1000" dirty="0"/>
          </a:p>
        </p:txBody>
      </p:sp>
      <p:sp>
        <p:nvSpPr>
          <p:cNvPr id="39" name="Text 37"/>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02 / kontrol listesi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Blueprint Tarafı: İki Farklı Hareket Düğümü</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Aynı işi yapan ama farklı sözleşmelere sahip iki yol</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02 / BLUEPRINT</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2468880"/>
                <a:gridCol w="4297680"/>
                <a:gridCol w="4297680"/>
              </a:tblGrid>
              <a:tr h="402336">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Özellik</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9ECE6A"/>
                    </a:solidFill>
                  </a:tcPr>
                </a:tc>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AI MoveTo</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9ECE6A"/>
                    </a:solidFill>
                  </a:tcPr>
                </a:tc>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Move to Location</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9ECE6A"/>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Hedef nesne</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Pawn pini (karakterin kendisi)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AIController referansı</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Çağrı tipi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Latent — hareket bitene kadar bekler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Anında döner, sonucu beklemez</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Sonuç bildirimi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On Success / On Fail pinleri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Return Value ile durum kodu</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Zincirleme</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On Success çıkışından devam edilir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Delegate ile ayrıca dinlenmeli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Kullanım kolaylığı</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Yüksek — denetleyiciyi kendi bulur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Denetleyici önce elde edilmeli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bl>
          </a:graphicData>
        </a:graphic>
      </p:graphicFrame>
      <p:sp>
        <p:nvSpPr>
          <p:cNvPr id="6" name="Shape 3"/>
          <p:cNvSpPr/>
          <p:nvPr/>
        </p:nvSpPr>
        <p:spPr>
          <a:xfrm>
            <a:off x="566928" y="4315968"/>
            <a:ext cx="3515258" cy="1463040"/>
          </a:xfrm>
          <a:prstGeom prst="roundRect">
            <a:avLst>
              <a:gd name="adj" fmla="val 5000"/>
            </a:avLst>
          </a:prstGeom>
          <a:solidFill>
            <a:srgbClr val="242938"/>
          </a:solidFill>
          <a:ln w="12700">
            <a:solidFill>
              <a:srgbClr val="2A3042"/>
            </a:solidFill>
            <a:prstDash val="solid"/>
          </a:ln>
        </p:spPr>
      </p:sp>
      <p:sp>
        <p:nvSpPr>
          <p:cNvPr id="7" name="Text 4"/>
          <p:cNvSpPr/>
          <p:nvPr/>
        </p:nvSpPr>
        <p:spPr>
          <a:xfrm>
            <a:off x="786384" y="4480560"/>
            <a:ext cx="3076346" cy="365760"/>
          </a:xfrm>
          <a:prstGeom prst="rect">
            <a:avLst/>
          </a:prstGeom>
          <a:noFill/>
          <a:ln/>
        </p:spPr>
        <p:txBody>
          <a:bodyPr wrap="square" lIns="0" tIns="0" rIns="0" bIns="0" rtlCol="0" anchor="ctr"/>
          <a:lstStyle/>
          <a:p>
            <a:pPr algn="l" indent="0" marL="0">
              <a:buNone/>
            </a:pPr>
            <a:r>
              <a:rPr lang="en-US" sz="1350" b="1" dirty="0">
                <a:solidFill>
                  <a:srgbClr val="F7768E"/>
                </a:solidFill>
                <a:latin typeface="Calibri" pitchFamily="34" charset="0"/>
                <a:ea typeface="Calibri" pitchFamily="34" charset="-122"/>
                <a:cs typeface="Calibri" pitchFamily="34" charset="-120"/>
              </a:rPr>
              <a:t>Pawn pini boş bırakılmamalı</a:t>
            </a:r>
            <a:endParaRPr lang="en-US" sz="1350" dirty="0"/>
          </a:p>
        </p:txBody>
      </p:sp>
      <p:sp>
        <p:nvSpPr>
          <p:cNvPr id="8" name="Text 5"/>
          <p:cNvSpPr/>
          <p:nvPr/>
        </p:nvSpPr>
        <p:spPr>
          <a:xfrm>
            <a:off x="786384" y="4901184"/>
            <a:ext cx="3076346" cy="73152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Bu pin doldurulmazsa düğüm sessizce hiçbir şey yapmaz; hata da vermez.</a:t>
            </a:r>
            <a:endParaRPr lang="en-US" sz="1150" dirty="0"/>
          </a:p>
        </p:txBody>
      </p:sp>
      <p:sp>
        <p:nvSpPr>
          <p:cNvPr id="9" name="Shape 6"/>
          <p:cNvSpPr/>
          <p:nvPr/>
        </p:nvSpPr>
        <p:spPr>
          <a:xfrm>
            <a:off x="4338218" y="4315968"/>
            <a:ext cx="3515258" cy="1463040"/>
          </a:xfrm>
          <a:prstGeom prst="roundRect">
            <a:avLst>
              <a:gd name="adj" fmla="val 5000"/>
            </a:avLst>
          </a:prstGeom>
          <a:solidFill>
            <a:srgbClr val="242938"/>
          </a:solidFill>
          <a:ln w="12700">
            <a:solidFill>
              <a:srgbClr val="2A3042"/>
            </a:solidFill>
            <a:prstDash val="solid"/>
          </a:ln>
        </p:spPr>
      </p:sp>
      <p:sp>
        <p:nvSpPr>
          <p:cNvPr id="10" name="Text 7"/>
          <p:cNvSpPr/>
          <p:nvPr/>
        </p:nvSpPr>
        <p:spPr>
          <a:xfrm>
            <a:off x="4557674" y="4480560"/>
            <a:ext cx="3076346" cy="365760"/>
          </a:xfrm>
          <a:prstGeom prst="rect">
            <a:avLst/>
          </a:prstGeom>
          <a:noFill/>
          <a:ln/>
        </p:spPr>
        <p:txBody>
          <a:bodyPr wrap="square" lIns="0" tIns="0" rIns="0" bIns="0" rtlCol="0" anchor="ctr"/>
          <a:lstStyle/>
          <a:p>
            <a:pPr algn="l" indent="0" marL="0">
              <a:buNone/>
            </a:pPr>
            <a:r>
              <a:rPr lang="en-US" sz="1350" b="1" dirty="0">
                <a:solidFill>
                  <a:srgbClr val="E0AF68"/>
                </a:solidFill>
                <a:latin typeface="Calibri" pitchFamily="34" charset="0"/>
                <a:ea typeface="Calibri" pitchFamily="34" charset="-122"/>
                <a:cs typeface="Calibri" pitchFamily="34" charset="-120"/>
              </a:rPr>
              <a:t>Zincirleme On Success ile yapılır</a:t>
            </a:r>
            <a:endParaRPr lang="en-US" sz="1350" dirty="0"/>
          </a:p>
        </p:txBody>
      </p:sp>
      <p:sp>
        <p:nvSpPr>
          <p:cNvPr id="11" name="Text 8"/>
          <p:cNvSpPr/>
          <p:nvPr/>
        </p:nvSpPr>
        <p:spPr>
          <a:xfrm>
            <a:off x="4557674" y="4901184"/>
            <a:ext cx="3076346" cy="73152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Üstteki düz exec çıkışı kullanılırsa tüm hedefler aynı karede tetiklenir ve yalnızca sonuncusu geçerli olur.</a:t>
            </a:r>
            <a:endParaRPr lang="en-US" sz="1150" dirty="0"/>
          </a:p>
        </p:txBody>
      </p:sp>
      <p:sp>
        <p:nvSpPr>
          <p:cNvPr id="12" name="Shape 9"/>
          <p:cNvSpPr/>
          <p:nvPr/>
        </p:nvSpPr>
        <p:spPr>
          <a:xfrm>
            <a:off x="8109509" y="4315968"/>
            <a:ext cx="3515258" cy="1463040"/>
          </a:xfrm>
          <a:prstGeom prst="roundRect">
            <a:avLst>
              <a:gd name="adj" fmla="val 5000"/>
            </a:avLst>
          </a:prstGeom>
          <a:solidFill>
            <a:srgbClr val="242938"/>
          </a:solidFill>
          <a:ln w="12700">
            <a:solidFill>
              <a:srgbClr val="2A3042"/>
            </a:solidFill>
            <a:prstDash val="solid"/>
          </a:ln>
        </p:spPr>
      </p:sp>
      <p:sp>
        <p:nvSpPr>
          <p:cNvPr id="13" name="Text 10"/>
          <p:cNvSpPr/>
          <p:nvPr/>
        </p:nvSpPr>
        <p:spPr>
          <a:xfrm>
            <a:off x="8328965" y="4480560"/>
            <a:ext cx="3076346" cy="365760"/>
          </a:xfrm>
          <a:prstGeom prst="rect">
            <a:avLst/>
          </a:prstGeom>
          <a:noFill/>
          <a:ln/>
        </p:spPr>
        <p:txBody>
          <a:bodyPr wrap="square" lIns="0" tIns="0" rIns="0" bIns="0" rtlCol="0" anchor="ctr"/>
          <a:lstStyle/>
          <a:p>
            <a:pPr algn="l" indent="0" marL="0">
              <a:buNone/>
            </a:pPr>
            <a:r>
              <a:rPr lang="en-US" sz="1350" b="1" dirty="0">
                <a:solidFill>
                  <a:srgbClr val="BB9AF7"/>
                </a:solidFill>
                <a:latin typeface="Calibri" pitchFamily="34" charset="0"/>
                <a:ea typeface="Calibri" pitchFamily="34" charset="-122"/>
                <a:cs typeface="Calibri" pitchFamily="34" charset="-120"/>
              </a:rPr>
              <a:t>Hedef koordinatı gerçek olmalı</a:t>
            </a:r>
            <a:endParaRPr lang="en-US" sz="1350" dirty="0"/>
          </a:p>
        </p:txBody>
      </p:sp>
      <p:sp>
        <p:nvSpPr>
          <p:cNvPr id="14" name="Text 11"/>
          <p:cNvSpPr/>
          <p:nvPr/>
        </p:nvSpPr>
        <p:spPr>
          <a:xfrm>
            <a:off x="8328965" y="4901184"/>
            <a:ext cx="3076346" cy="73152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Kopyalanan düğümlerde Destination değeri (0,0,0) kalır ve istek anında başarısız olur.</a:t>
            </a:r>
            <a:endParaRPr lang="en-US" sz="1150" dirty="0"/>
          </a:p>
        </p:txBody>
      </p:sp>
      <p:sp>
        <p:nvSpPr>
          <p:cNvPr id="15"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11</a:t>
            </a:r>
            <a:endParaRPr lang="en-US" sz="1000" dirty="0"/>
          </a:p>
        </p:txBody>
      </p:sp>
      <p:sp>
        <p:nvSpPr>
          <p:cNvPr id="16"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02 / blueprint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 Tarafı: Navigation System'e Erişim</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Rastgele fakat ulaşılabilir bir hedef noktası bulmak</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02 / C++</a:t>
            </a:r>
            <a:endParaRPr lang="en-US" sz="1000" dirty="0"/>
          </a:p>
        </p:txBody>
      </p:sp>
      <p:sp>
        <p:nvSpPr>
          <p:cNvPr id="5" name="Shape 3"/>
          <p:cNvSpPr/>
          <p:nvPr/>
        </p:nvSpPr>
        <p:spPr>
          <a:xfrm>
            <a:off x="566928" y="1481328"/>
            <a:ext cx="6766560" cy="4023360"/>
          </a:xfrm>
          <a:prstGeom prst="roundRect">
            <a:avLst>
              <a:gd name="adj" fmla="val 1364"/>
            </a:avLst>
          </a:prstGeom>
          <a:solidFill>
            <a:srgbClr val="13141C"/>
          </a:solidFill>
          <a:ln w="12700">
            <a:solidFill>
              <a:srgbClr val="2A3042"/>
            </a:solidFill>
            <a:prstDash val="solid"/>
          </a:ln>
        </p:spPr>
      </p:sp>
      <p:sp>
        <p:nvSpPr>
          <p:cNvPr id="6" name="Text 4"/>
          <p:cNvSpPr/>
          <p:nvPr/>
        </p:nvSpPr>
        <p:spPr>
          <a:xfrm>
            <a:off x="713232" y="1545336"/>
            <a:ext cx="647395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AI_CharacterCpp.cpp — HEDEF BULMA</a:t>
            </a:r>
            <a:endParaRPr lang="en-US" sz="900" dirty="0"/>
          </a:p>
        </p:txBody>
      </p:sp>
      <p:sp>
        <p:nvSpPr>
          <p:cNvPr id="7" name="Text 5"/>
          <p:cNvSpPr/>
          <p:nvPr/>
        </p:nvSpPr>
        <p:spPr>
          <a:xfrm>
            <a:off x="713232" y="1773936"/>
            <a:ext cx="6473952" cy="362102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Haritadaki NavMesh verisini tutan sisteme erişim.</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GetWorld() hangi dünyanın sistemi olduğunu belirtir.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NavSys = FNavigationSystem::GetCurrent&lt;UNavigationSystemV1&gt;(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GetWorld());</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Haritada NavMeshBoundsVolume yoksa NavSys null döner.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Pointer'ı -&gt; ile kullanmadan önce kontrol zorunludur.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if (!NavSys || !AIC_Ref) return;</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Karakterin konumundan 1500 birim yarıçapta,</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NavMesh üzerinde yürünebilir rastgele bir nokta bulur.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Sonuç NavLocation'a yazılır (out parametre).</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Dönüş değeri: nokta bulunabildi mi?</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bool bBulundu = NavSys-&gt;GetRandomReachablePointInRadius(</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GetActorLocation(), 1500.f, NavLocation);</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if (bBulundu)</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AIC_Ref-&gt;MoveToLocation(NavLocation.Location);</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p:txBody>
      </p:sp>
      <p:sp>
        <p:nvSpPr>
          <p:cNvPr id="8" name="Shape 6"/>
          <p:cNvSpPr/>
          <p:nvPr/>
        </p:nvSpPr>
        <p:spPr>
          <a:xfrm>
            <a:off x="7607808" y="1481328"/>
            <a:ext cx="4016959" cy="1243584"/>
          </a:xfrm>
          <a:prstGeom prst="roundRect">
            <a:avLst>
              <a:gd name="adj" fmla="val 5882"/>
            </a:avLst>
          </a:prstGeom>
          <a:solidFill>
            <a:srgbClr val="242938"/>
          </a:solidFill>
          <a:ln w="12700">
            <a:solidFill>
              <a:srgbClr val="2A3042"/>
            </a:solidFill>
            <a:prstDash val="solid"/>
          </a:ln>
        </p:spPr>
      </p:sp>
      <p:sp>
        <p:nvSpPr>
          <p:cNvPr id="9" name="Text 7"/>
          <p:cNvSpPr/>
          <p:nvPr/>
        </p:nvSpPr>
        <p:spPr>
          <a:xfrm>
            <a:off x="7827264" y="1645920"/>
            <a:ext cx="3578047" cy="365760"/>
          </a:xfrm>
          <a:prstGeom prst="rect">
            <a:avLst/>
          </a:prstGeom>
          <a:noFill/>
          <a:ln/>
        </p:spPr>
        <p:txBody>
          <a:bodyPr wrap="square" lIns="0" tIns="0" rIns="0" bIns="0" rtlCol="0" anchor="ctr"/>
          <a:lstStyle/>
          <a:p>
            <a:pPr algn="l" indent="0" marL="0">
              <a:buNone/>
            </a:pPr>
            <a:r>
              <a:rPr lang="en-US" sz="1300" b="1" dirty="0">
                <a:solidFill>
                  <a:srgbClr val="F7768E"/>
                </a:solidFill>
                <a:latin typeface="Calibri" pitchFamily="34" charset="0"/>
                <a:ea typeface="Calibri" pitchFamily="34" charset="-122"/>
                <a:cs typeface="Calibri" pitchFamily="34" charset="-120"/>
              </a:rPr>
              <a:t>Yarıçap seçimi kritiktir</a:t>
            </a:r>
            <a:endParaRPr lang="en-US" sz="1300" dirty="0"/>
          </a:p>
        </p:txBody>
      </p:sp>
      <p:sp>
        <p:nvSpPr>
          <p:cNvPr id="10" name="Text 8"/>
          <p:cNvSpPr/>
          <p:nvPr/>
        </p:nvSpPr>
        <p:spPr>
          <a:xfrm>
            <a:off x="7827264" y="2066544"/>
            <a:ext cx="3578047" cy="51206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Taranan alan yarıçapın karesiyle büyür. 10000 birimlik arama tek karede yapıldığı için oyunu kilitler; 1500 birim yeterli ve akıcıdır.</a:t>
            </a:r>
            <a:endParaRPr lang="en-US" sz="1100" dirty="0"/>
          </a:p>
        </p:txBody>
      </p:sp>
      <p:sp>
        <p:nvSpPr>
          <p:cNvPr id="11" name="Shape 9"/>
          <p:cNvSpPr/>
          <p:nvPr/>
        </p:nvSpPr>
        <p:spPr>
          <a:xfrm>
            <a:off x="7607808" y="2871216"/>
            <a:ext cx="4016959" cy="1243584"/>
          </a:xfrm>
          <a:prstGeom prst="roundRect">
            <a:avLst>
              <a:gd name="adj" fmla="val 5882"/>
            </a:avLst>
          </a:prstGeom>
          <a:solidFill>
            <a:srgbClr val="242938"/>
          </a:solidFill>
          <a:ln w="12700">
            <a:solidFill>
              <a:srgbClr val="2A3042"/>
            </a:solidFill>
            <a:prstDash val="solid"/>
          </a:ln>
        </p:spPr>
      </p:sp>
      <p:sp>
        <p:nvSpPr>
          <p:cNvPr id="12" name="Text 10"/>
          <p:cNvSpPr/>
          <p:nvPr/>
        </p:nvSpPr>
        <p:spPr>
          <a:xfrm>
            <a:off x="7827264" y="3035808"/>
            <a:ext cx="3578047" cy="365760"/>
          </a:xfrm>
          <a:prstGeom prst="rect">
            <a:avLst/>
          </a:prstGeom>
          <a:noFill/>
          <a:ln/>
        </p:spPr>
        <p:txBody>
          <a:bodyPr wrap="square" lIns="0" tIns="0" rIns="0" bIns="0" rtlCol="0" anchor="ctr"/>
          <a:lstStyle/>
          <a:p>
            <a:pPr algn="l" indent="0" marL="0">
              <a:buNone/>
            </a:pPr>
            <a:r>
              <a:rPr lang="en-US" sz="1300" b="1" dirty="0">
                <a:solidFill>
                  <a:srgbClr val="E0AF68"/>
                </a:solidFill>
                <a:latin typeface="Calibri" pitchFamily="34" charset="0"/>
                <a:ea typeface="Calibri" pitchFamily="34" charset="-122"/>
                <a:cs typeface="Calibri" pitchFamily="34" charset="-120"/>
              </a:rPr>
              <a:t>FNavLocation bir USTRUCT değildir</a:t>
            </a:r>
            <a:endParaRPr lang="en-US" sz="1300" dirty="0"/>
          </a:p>
        </p:txBody>
      </p:sp>
      <p:sp>
        <p:nvSpPr>
          <p:cNvPr id="13" name="Text 11"/>
          <p:cNvSpPr/>
          <p:nvPr/>
        </p:nvSpPr>
        <p:spPr>
          <a:xfrm>
            <a:off x="7827264" y="3456432"/>
            <a:ext cx="3578047" cy="51206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Bu tip yansıma sistemine kayıtlı olmadığından UPROPERTY ile işaretlenemez. Düz üye değişken olarak tanımlanır.</a:t>
            </a:r>
            <a:endParaRPr lang="en-US" sz="1100" dirty="0"/>
          </a:p>
        </p:txBody>
      </p:sp>
      <p:sp>
        <p:nvSpPr>
          <p:cNvPr id="14" name="Shape 12"/>
          <p:cNvSpPr/>
          <p:nvPr/>
        </p:nvSpPr>
        <p:spPr>
          <a:xfrm>
            <a:off x="7607808" y="4261104"/>
            <a:ext cx="4016959" cy="1243584"/>
          </a:xfrm>
          <a:prstGeom prst="roundRect">
            <a:avLst>
              <a:gd name="adj" fmla="val 5882"/>
            </a:avLst>
          </a:prstGeom>
          <a:solidFill>
            <a:srgbClr val="242938"/>
          </a:solidFill>
          <a:ln w="12700">
            <a:solidFill>
              <a:srgbClr val="2A3042"/>
            </a:solidFill>
            <a:prstDash val="solid"/>
          </a:ln>
        </p:spPr>
      </p:sp>
      <p:sp>
        <p:nvSpPr>
          <p:cNvPr id="15" name="Text 13"/>
          <p:cNvSpPr/>
          <p:nvPr/>
        </p:nvSpPr>
        <p:spPr>
          <a:xfrm>
            <a:off x="7827264" y="4425696"/>
            <a:ext cx="3578047" cy="365760"/>
          </a:xfrm>
          <a:prstGeom prst="rect">
            <a:avLst/>
          </a:prstGeom>
          <a:noFill/>
          <a:ln/>
        </p:spPr>
        <p:txBody>
          <a:bodyPr wrap="square" lIns="0" tIns="0" rIns="0" bIns="0" rtlCol="0" anchor="ctr"/>
          <a:lstStyle/>
          <a:p>
            <a:pPr algn="l" indent="0" marL="0">
              <a:buNone/>
            </a:pPr>
            <a:r>
              <a:rPr lang="en-US" sz="1300" b="1" dirty="0">
                <a:solidFill>
                  <a:srgbClr val="7AA2F7"/>
                </a:solidFill>
                <a:latin typeface="Calibri" pitchFamily="34" charset="0"/>
                <a:ea typeface="Calibri" pitchFamily="34" charset="-122"/>
                <a:cs typeface="Calibri" pitchFamily="34" charset="-120"/>
              </a:rPr>
              <a:t>Dönüş değeri kontrol edilmeli</a:t>
            </a:r>
            <a:endParaRPr lang="en-US" sz="1300" dirty="0"/>
          </a:p>
        </p:txBody>
      </p:sp>
      <p:sp>
        <p:nvSpPr>
          <p:cNvPr id="16" name="Text 14"/>
          <p:cNvSpPr/>
          <p:nvPr/>
        </p:nvSpPr>
        <p:spPr>
          <a:xfrm>
            <a:off x="7827264" y="4846320"/>
            <a:ext cx="3578047" cy="51206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Nokta bulunamazsa NavLocation geçersiz veri içerir ve karakter tanımsız bir konuma yönlendirilir.</a:t>
            </a:r>
            <a:endParaRPr lang="en-US" sz="1100" dirty="0"/>
          </a:p>
        </p:txBody>
      </p:sp>
      <p:sp>
        <p:nvSpPr>
          <p:cNvPr id="17" name="Text 15"/>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12</a:t>
            </a:r>
            <a:endParaRPr lang="en-US" sz="1000" dirty="0"/>
          </a:p>
        </p:txBody>
      </p:sp>
      <p:sp>
        <p:nvSpPr>
          <p:cNvPr id="18" name="Text 16"/>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02 / c++ navigation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Sonsuz Dolaşan AI: Döngü Mimarisi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Delegate ve zamanlayıcı birlikte kapalı bir çevrim oluşturur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02 / MIMARI</a:t>
            </a:r>
            <a:endParaRPr lang="en-US" sz="1000" dirty="0"/>
          </a:p>
        </p:txBody>
      </p:sp>
      <p:sp>
        <p:nvSpPr>
          <p:cNvPr id="5" name="Shape 3"/>
          <p:cNvSpPr/>
          <p:nvPr/>
        </p:nvSpPr>
        <p:spPr>
          <a:xfrm>
            <a:off x="566928" y="1691640"/>
            <a:ext cx="2615184" cy="1572768"/>
          </a:xfrm>
          <a:prstGeom prst="roundRect">
            <a:avLst>
              <a:gd name="adj" fmla="val 4651"/>
            </a:avLst>
          </a:prstGeom>
          <a:solidFill>
            <a:srgbClr val="242938"/>
          </a:solidFill>
          <a:ln w="19050">
            <a:solidFill>
              <a:srgbClr val="7AA2F7"/>
            </a:solidFill>
            <a:prstDash val="solid"/>
          </a:ln>
        </p:spPr>
      </p:sp>
      <p:sp>
        <p:nvSpPr>
          <p:cNvPr id="6" name="Text 4"/>
          <p:cNvSpPr/>
          <p:nvPr/>
        </p:nvSpPr>
        <p:spPr>
          <a:xfrm>
            <a:off x="731520" y="1847088"/>
            <a:ext cx="2286000" cy="365760"/>
          </a:xfrm>
          <a:prstGeom prst="rect">
            <a:avLst/>
          </a:prstGeom>
          <a:noFill/>
          <a:ln/>
        </p:spPr>
        <p:txBody>
          <a:bodyPr wrap="square" lIns="0" tIns="0" rIns="0" bIns="0" rtlCol="0" anchor="ctr"/>
          <a:lstStyle/>
          <a:p>
            <a:pPr indent="0" marL="0">
              <a:buNone/>
            </a:pPr>
            <a:r>
              <a:rPr lang="en-US" sz="1600" b="1" dirty="0">
                <a:solidFill>
                  <a:srgbClr val="7AA2F7"/>
                </a:solidFill>
                <a:latin typeface="Calibri" pitchFamily="34" charset="0"/>
                <a:ea typeface="Calibri" pitchFamily="34" charset="-122"/>
                <a:cs typeface="Calibri" pitchFamily="34" charset="-120"/>
              </a:rPr>
              <a:t>BeginPlay</a:t>
            </a:r>
            <a:endParaRPr lang="en-US" sz="1600" dirty="0"/>
          </a:p>
        </p:txBody>
      </p:sp>
      <p:sp>
        <p:nvSpPr>
          <p:cNvPr id="7" name="Text 5"/>
          <p:cNvSpPr/>
          <p:nvPr/>
        </p:nvSpPr>
        <p:spPr>
          <a:xfrm>
            <a:off x="731520" y="2249424"/>
            <a:ext cx="2286000" cy="868680"/>
          </a:xfrm>
          <a:prstGeom prst="rect">
            <a:avLst/>
          </a:prstGeom>
          <a:noFill/>
          <a:ln/>
        </p:spPr>
        <p:txBody>
          <a:bodyPr wrap="square" lIns="0" tIns="0" rIns="0" bIns="0" rtlCol="0" anchor="ctr"/>
          <a:lstStyle/>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Sistem referansları alınır,</a:t>
            </a:r>
            <a:endParaRPr lang="en-US" sz="1150" dirty="0"/>
          </a:p>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delegate bir kez bağlanır</a:t>
            </a:r>
            <a:endParaRPr lang="en-US" sz="1150" dirty="0"/>
          </a:p>
        </p:txBody>
      </p:sp>
      <p:sp>
        <p:nvSpPr>
          <p:cNvPr id="8" name="Shape 6"/>
          <p:cNvSpPr/>
          <p:nvPr/>
        </p:nvSpPr>
        <p:spPr>
          <a:xfrm>
            <a:off x="3236976" y="2340864"/>
            <a:ext cx="274320" cy="274320"/>
          </a:xfrm>
          <a:prstGeom prst="rightArrow">
            <a:avLst/>
          </a:prstGeom>
          <a:solidFill>
            <a:srgbClr val="7A83A8"/>
          </a:solidFill>
          <a:ln w="12700">
            <a:solidFill>
              <a:srgbClr val="7A83A8"/>
            </a:solidFill>
            <a:prstDash val="solid"/>
          </a:ln>
        </p:spPr>
      </p:sp>
      <p:sp>
        <p:nvSpPr>
          <p:cNvPr id="9" name="Shape 7"/>
          <p:cNvSpPr/>
          <p:nvPr/>
        </p:nvSpPr>
        <p:spPr>
          <a:xfrm>
            <a:off x="3566160" y="1691640"/>
            <a:ext cx="2615184" cy="1572768"/>
          </a:xfrm>
          <a:prstGeom prst="roundRect">
            <a:avLst>
              <a:gd name="adj" fmla="val 4651"/>
            </a:avLst>
          </a:prstGeom>
          <a:solidFill>
            <a:srgbClr val="242938"/>
          </a:solidFill>
          <a:ln w="19050">
            <a:solidFill>
              <a:srgbClr val="9ECE6A"/>
            </a:solidFill>
            <a:prstDash val="solid"/>
          </a:ln>
        </p:spPr>
      </p:sp>
      <p:sp>
        <p:nvSpPr>
          <p:cNvPr id="10" name="Text 8"/>
          <p:cNvSpPr/>
          <p:nvPr/>
        </p:nvSpPr>
        <p:spPr>
          <a:xfrm>
            <a:off x="3730752" y="1847088"/>
            <a:ext cx="2286000" cy="365760"/>
          </a:xfrm>
          <a:prstGeom prst="rect">
            <a:avLst/>
          </a:prstGeom>
          <a:noFill/>
          <a:ln/>
        </p:spPr>
        <p:txBody>
          <a:bodyPr wrap="square" lIns="0" tIns="0" rIns="0" bIns="0" rtlCol="0" anchor="ctr"/>
          <a:lstStyle/>
          <a:p>
            <a:pPr indent="0" marL="0">
              <a:buNone/>
            </a:pPr>
            <a:r>
              <a:rPr lang="en-US" sz="1600" b="1" dirty="0">
                <a:solidFill>
                  <a:srgbClr val="9ECE6A"/>
                </a:solidFill>
                <a:latin typeface="Calibri" pitchFamily="34" charset="0"/>
                <a:ea typeface="Calibri" pitchFamily="34" charset="-122"/>
                <a:cs typeface="Calibri" pitchFamily="34" charset="-120"/>
              </a:rPr>
              <a:t>YeniHareket</a:t>
            </a:r>
            <a:endParaRPr lang="en-US" sz="1600" dirty="0"/>
          </a:p>
        </p:txBody>
      </p:sp>
      <p:sp>
        <p:nvSpPr>
          <p:cNvPr id="11" name="Text 9"/>
          <p:cNvSpPr/>
          <p:nvPr/>
        </p:nvSpPr>
        <p:spPr>
          <a:xfrm>
            <a:off x="3730752" y="2249424"/>
            <a:ext cx="2286000" cy="868680"/>
          </a:xfrm>
          <a:prstGeom prst="rect">
            <a:avLst/>
          </a:prstGeom>
          <a:noFill/>
          <a:ln/>
        </p:spPr>
        <p:txBody>
          <a:bodyPr wrap="square" lIns="0" tIns="0" rIns="0" bIns="0" rtlCol="0" anchor="ctr"/>
          <a:lstStyle/>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Rastgele hedef bulunur,</a:t>
            </a:r>
            <a:endParaRPr lang="en-US" sz="1150" dirty="0"/>
          </a:p>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MoveToLocation çağrılır</a:t>
            </a:r>
            <a:endParaRPr lang="en-US" sz="1150" dirty="0"/>
          </a:p>
        </p:txBody>
      </p:sp>
      <p:sp>
        <p:nvSpPr>
          <p:cNvPr id="12" name="Shape 10"/>
          <p:cNvSpPr/>
          <p:nvPr/>
        </p:nvSpPr>
        <p:spPr>
          <a:xfrm>
            <a:off x="6236208" y="2340864"/>
            <a:ext cx="274320" cy="274320"/>
          </a:xfrm>
          <a:prstGeom prst="rightArrow">
            <a:avLst/>
          </a:prstGeom>
          <a:solidFill>
            <a:srgbClr val="7A83A8"/>
          </a:solidFill>
          <a:ln w="12700">
            <a:solidFill>
              <a:srgbClr val="7A83A8"/>
            </a:solidFill>
            <a:prstDash val="solid"/>
          </a:ln>
        </p:spPr>
      </p:sp>
      <p:sp>
        <p:nvSpPr>
          <p:cNvPr id="13" name="Shape 11"/>
          <p:cNvSpPr/>
          <p:nvPr/>
        </p:nvSpPr>
        <p:spPr>
          <a:xfrm>
            <a:off x="6565392" y="1691640"/>
            <a:ext cx="2615184" cy="1572768"/>
          </a:xfrm>
          <a:prstGeom prst="roundRect">
            <a:avLst>
              <a:gd name="adj" fmla="val 4651"/>
            </a:avLst>
          </a:prstGeom>
          <a:solidFill>
            <a:srgbClr val="242938"/>
          </a:solidFill>
          <a:ln w="19050">
            <a:solidFill>
              <a:srgbClr val="7DCFFF"/>
            </a:solidFill>
            <a:prstDash val="solid"/>
          </a:ln>
        </p:spPr>
      </p:sp>
      <p:sp>
        <p:nvSpPr>
          <p:cNvPr id="14" name="Text 12"/>
          <p:cNvSpPr/>
          <p:nvPr/>
        </p:nvSpPr>
        <p:spPr>
          <a:xfrm>
            <a:off x="6729984" y="1847088"/>
            <a:ext cx="2286000" cy="365760"/>
          </a:xfrm>
          <a:prstGeom prst="rect">
            <a:avLst/>
          </a:prstGeom>
          <a:noFill/>
          <a:ln/>
        </p:spPr>
        <p:txBody>
          <a:bodyPr wrap="square" lIns="0" tIns="0" rIns="0" bIns="0" rtlCol="0" anchor="ctr"/>
          <a:lstStyle/>
          <a:p>
            <a:pPr indent="0" marL="0">
              <a:buNone/>
            </a:pPr>
            <a:r>
              <a:rPr lang="en-US" sz="1600" b="1" dirty="0">
                <a:solidFill>
                  <a:srgbClr val="7DCFFF"/>
                </a:solidFill>
                <a:latin typeface="Calibri" pitchFamily="34" charset="0"/>
                <a:ea typeface="Calibri" pitchFamily="34" charset="-122"/>
                <a:cs typeface="Calibri" pitchFamily="34" charset="-120"/>
              </a:rPr>
              <a:t>Motor</a:t>
            </a:r>
            <a:endParaRPr lang="en-US" sz="1600" dirty="0"/>
          </a:p>
        </p:txBody>
      </p:sp>
      <p:sp>
        <p:nvSpPr>
          <p:cNvPr id="15" name="Text 13"/>
          <p:cNvSpPr/>
          <p:nvPr/>
        </p:nvSpPr>
        <p:spPr>
          <a:xfrm>
            <a:off x="6729984" y="2249424"/>
            <a:ext cx="2286000" cy="868680"/>
          </a:xfrm>
          <a:prstGeom prst="rect">
            <a:avLst/>
          </a:prstGeom>
          <a:noFill/>
          <a:ln/>
        </p:spPr>
        <p:txBody>
          <a:bodyPr wrap="square" lIns="0" tIns="0" rIns="0" bIns="0" rtlCol="0" anchor="ctr"/>
          <a:lstStyle/>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Yol bulunur, karakter</a:t>
            </a:r>
            <a:endParaRPr lang="en-US" sz="1150" dirty="0"/>
          </a:p>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hedefe doğru yürür</a:t>
            </a:r>
            <a:endParaRPr lang="en-US" sz="1150" dirty="0"/>
          </a:p>
        </p:txBody>
      </p:sp>
      <p:sp>
        <p:nvSpPr>
          <p:cNvPr id="16" name="Shape 14"/>
          <p:cNvSpPr/>
          <p:nvPr/>
        </p:nvSpPr>
        <p:spPr>
          <a:xfrm>
            <a:off x="9235440" y="2340864"/>
            <a:ext cx="274320" cy="274320"/>
          </a:xfrm>
          <a:prstGeom prst="rightArrow">
            <a:avLst/>
          </a:prstGeom>
          <a:solidFill>
            <a:srgbClr val="7A83A8"/>
          </a:solidFill>
          <a:ln w="12700">
            <a:solidFill>
              <a:srgbClr val="7A83A8"/>
            </a:solidFill>
            <a:prstDash val="solid"/>
          </a:ln>
        </p:spPr>
      </p:sp>
      <p:sp>
        <p:nvSpPr>
          <p:cNvPr id="17" name="Shape 15"/>
          <p:cNvSpPr/>
          <p:nvPr/>
        </p:nvSpPr>
        <p:spPr>
          <a:xfrm>
            <a:off x="9564624" y="1691640"/>
            <a:ext cx="2615184" cy="1572768"/>
          </a:xfrm>
          <a:prstGeom prst="roundRect">
            <a:avLst>
              <a:gd name="adj" fmla="val 4651"/>
            </a:avLst>
          </a:prstGeom>
          <a:solidFill>
            <a:srgbClr val="242938"/>
          </a:solidFill>
          <a:ln w="19050">
            <a:solidFill>
              <a:srgbClr val="BB9AF7"/>
            </a:solidFill>
            <a:prstDash val="solid"/>
          </a:ln>
        </p:spPr>
      </p:sp>
      <p:sp>
        <p:nvSpPr>
          <p:cNvPr id="18" name="Text 16"/>
          <p:cNvSpPr/>
          <p:nvPr/>
        </p:nvSpPr>
        <p:spPr>
          <a:xfrm>
            <a:off x="9729216" y="1847088"/>
            <a:ext cx="2286000" cy="365760"/>
          </a:xfrm>
          <a:prstGeom prst="rect">
            <a:avLst/>
          </a:prstGeom>
          <a:noFill/>
          <a:ln/>
        </p:spPr>
        <p:txBody>
          <a:bodyPr wrap="square" lIns="0" tIns="0" rIns="0" bIns="0" rtlCol="0" anchor="ctr"/>
          <a:lstStyle/>
          <a:p>
            <a:pPr indent="0" marL="0">
              <a:buNone/>
            </a:pPr>
            <a:r>
              <a:rPr lang="en-US" sz="1600" b="1" dirty="0">
                <a:solidFill>
                  <a:srgbClr val="BB9AF7"/>
                </a:solidFill>
                <a:latin typeface="Calibri" pitchFamily="34" charset="0"/>
                <a:ea typeface="Calibri" pitchFamily="34" charset="-122"/>
                <a:cs typeface="Calibri" pitchFamily="34" charset="-120"/>
              </a:rPr>
              <a:t>HareketBitti</a:t>
            </a:r>
            <a:endParaRPr lang="en-US" sz="1600" dirty="0"/>
          </a:p>
        </p:txBody>
      </p:sp>
      <p:sp>
        <p:nvSpPr>
          <p:cNvPr id="19" name="Text 17"/>
          <p:cNvSpPr/>
          <p:nvPr/>
        </p:nvSpPr>
        <p:spPr>
          <a:xfrm>
            <a:off x="9729216" y="2249424"/>
            <a:ext cx="2286000" cy="868680"/>
          </a:xfrm>
          <a:prstGeom prst="rect">
            <a:avLst/>
          </a:prstGeom>
          <a:noFill/>
          <a:ln/>
        </p:spPr>
        <p:txBody>
          <a:bodyPr wrap="square" lIns="0" tIns="0" rIns="0" bIns="0" rtlCol="0" anchor="ctr"/>
          <a:lstStyle/>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Delegate tetiklenir,</a:t>
            </a:r>
            <a:endParaRPr lang="en-US" sz="1150" dirty="0"/>
          </a:p>
          <a:p>
            <a:pPr indent="0" marL="0">
              <a:lnSpc>
                <a:spcPct val="110000"/>
              </a:lnSpc>
              <a:buNone/>
            </a:pPr>
            <a:r>
              <a:rPr lang="en-US" sz="1150" dirty="0">
                <a:solidFill>
                  <a:srgbClr val="C6CEF0"/>
                </a:solidFill>
                <a:latin typeface="Calibri" pitchFamily="34" charset="0"/>
                <a:ea typeface="Calibri" pitchFamily="34" charset="-122"/>
                <a:cs typeface="Calibri" pitchFamily="34" charset="-120"/>
              </a:rPr>
              <a:t>2 sn'lik zamanlayıcı kurulur</a:t>
            </a:r>
            <a:endParaRPr lang="en-US" sz="1150" dirty="0"/>
          </a:p>
        </p:txBody>
      </p:sp>
      <p:sp>
        <p:nvSpPr>
          <p:cNvPr id="20" name="Shape 18"/>
          <p:cNvSpPr/>
          <p:nvPr/>
        </p:nvSpPr>
        <p:spPr>
          <a:xfrm>
            <a:off x="1664208" y="3529584"/>
            <a:ext cx="9509760" cy="384048"/>
          </a:xfrm>
          <a:prstGeom prst="roundRect">
            <a:avLst>
              <a:gd name="adj" fmla="val 14286"/>
            </a:avLst>
          </a:prstGeom>
          <a:solidFill>
            <a:srgbClr val="2A3042"/>
          </a:solidFill>
          <a:ln w="12700">
            <a:solidFill>
              <a:srgbClr val="2A3042"/>
            </a:solidFill>
            <a:prstDash val="solid"/>
          </a:ln>
        </p:spPr>
      </p:sp>
      <p:sp>
        <p:nvSpPr>
          <p:cNvPr id="21" name="Text 19"/>
          <p:cNvSpPr/>
          <p:nvPr/>
        </p:nvSpPr>
        <p:spPr>
          <a:xfrm>
            <a:off x="1664208" y="3529584"/>
            <a:ext cx="9509760" cy="384048"/>
          </a:xfrm>
          <a:prstGeom prst="rect">
            <a:avLst/>
          </a:prstGeom>
          <a:noFill/>
          <a:ln/>
        </p:spPr>
        <p:txBody>
          <a:bodyPr wrap="square" lIns="0" tIns="0" rIns="0" bIns="0" rtlCol="0" anchor="ctr"/>
          <a:lstStyle/>
          <a:p>
            <a:pPr algn="ctr" indent="0" marL="0">
              <a:buNone/>
            </a:pPr>
            <a:r>
              <a:rPr lang="en-US" sz="1150" i="1" dirty="0">
                <a:solidFill>
                  <a:srgbClr val="E0AF68"/>
                </a:solidFill>
                <a:latin typeface="Calibri" pitchFamily="34" charset="0"/>
                <a:ea typeface="Calibri" pitchFamily="34" charset="-122"/>
                <a:cs typeface="Calibri" pitchFamily="34" charset="-120"/>
              </a:rPr>
              <a:t>Zamanlayıcı dolduğunda döngü YeniHareket adımına geri döner</a:t>
            </a:r>
            <a:endParaRPr lang="en-US" sz="1150" dirty="0"/>
          </a:p>
        </p:txBody>
      </p:sp>
      <p:sp>
        <p:nvSpPr>
          <p:cNvPr id="22" name="Shape 20"/>
          <p:cNvSpPr/>
          <p:nvPr/>
        </p:nvSpPr>
        <p:spPr>
          <a:xfrm>
            <a:off x="566928" y="4114800"/>
            <a:ext cx="11057839" cy="1572768"/>
          </a:xfrm>
          <a:prstGeom prst="roundRect">
            <a:avLst>
              <a:gd name="adj" fmla="val 3488"/>
            </a:avLst>
          </a:prstGeom>
          <a:solidFill>
            <a:srgbClr val="13141C"/>
          </a:solidFill>
          <a:ln w="12700">
            <a:solidFill>
              <a:srgbClr val="2A3042"/>
            </a:solidFill>
            <a:prstDash val="solid"/>
          </a:ln>
        </p:spPr>
      </p:sp>
      <p:sp>
        <p:nvSpPr>
          <p:cNvPr id="23" name="Text 21"/>
          <p:cNvSpPr/>
          <p:nvPr/>
        </p:nvSpPr>
        <p:spPr>
          <a:xfrm>
            <a:off x="713232" y="4178808"/>
            <a:ext cx="10765231"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DÖNGÜYÜ AYAKTA TUTAN ÜÇ KURAL</a:t>
            </a:r>
            <a:endParaRPr lang="en-US" sz="900" dirty="0"/>
          </a:p>
        </p:txBody>
      </p:sp>
      <p:sp>
        <p:nvSpPr>
          <p:cNvPr id="24" name="Text 22"/>
          <p:cNvSpPr/>
          <p:nvPr/>
        </p:nvSpPr>
        <p:spPr>
          <a:xfrm>
            <a:off x="713232" y="4407408"/>
            <a:ext cx="10765231" cy="1170432"/>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1) AddDynamic yalnızca BeginPlay içinde, bir kez çağrılır.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Her turda tekrar bağlanırsa dinleyici sayısı katlanarak artar.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2) FTimerHandle header'da üye değişken olmalıdır.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Yerel tanımlanırsa fonksiyon bitince yok olur, zamanlayıcı doğrulanamaz.</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3) Bir karede yalnızca tek bir MoveToLocation çağrısı yapılır.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İkinci çağrı öncekini iptal eder ve zincirleme tetikleme başlatır.</a:t>
            </a:r>
            <a:endParaRPr lang="en-US" sz="1100" dirty="0"/>
          </a:p>
        </p:txBody>
      </p:sp>
      <p:sp>
        <p:nvSpPr>
          <p:cNvPr id="25" name="Text 23"/>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13</a:t>
            </a:r>
            <a:endParaRPr lang="en-US" sz="1000" dirty="0"/>
          </a:p>
        </p:txBody>
      </p:sp>
      <p:sp>
        <p:nvSpPr>
          <p:cNvPr id="26" name="Text 24"/>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02 / dongu mimarisi</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BB9AF7"/>
          </a:solidFill>
          <a:ln w="12700">
            <a:solidFill>
              <a:srgbClr val="BB9AF7"/>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03</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Delegate Sistemi</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Delegate, bir olay gerçekleştiğinde ilgilenen tarafların haberdar edilmesini sağlayan bildirim mekanizmasıdır. Sınıflar birbirini doğrudan tanımadan haberleşebilir.</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Kavram ve türler</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C++ tanımı ve yayın</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Blueprint entegrasyonu</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14</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Delegate Nedir?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Doğrudan çağrı yerine bildirim tabanlı haberleşme</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BB9AF7"/>
                </a:solidFill>
                <a:latin typeface="Courier New" pitchFamily="34" charset="0"/>
                <a:ea typeface="Courier New" pitchFamily="34" charset="-122"/>
                <a:cs typeface="Courier New" pitchFamily="34" charset="-120"/>
              </a:rPr>
              <a:t>03 / KAVRAM</a:t>
            </a:r>
            <a:endParaRPr lang="en-US" sz="1000" dirty="0"/>
          </a:p>
        </p:txBody>
      </p:sp>
      <p:sp>
        <p:nvSpPr>
          <p:cNvPr id="5" name="Shape 3"/>
          <p:cNvSpPr/>
          <p:nvPr/>
        </p:nvSpPr>
        <p:spPr>
          <a:xfrm>
            <a:off x="566928" y="1481328"/>
            <a:ext cx="5806440" cy="1828800"/>
          </a:xfrm>
          <a:prstGeom prst="roundRect">
            <a:avLst>
              <a:gd name="adj" fmla="val 4000"/>
            </a:avLst>
          </a:prstGeom>
          <a:solidFill>
            <a:srgbClr val="242938"/>
          </a:solidFill>
          <a:ln w="12700">
            <a:solidFill>
              <a:srgbClr val="2A3042"/>
            </a:solidFill>
            <a:prstDash val="solid"/>
          </a:ln>
        </p:spPr>
      </p:sp>
      <p:sp>
        <p:nvSpPr>
          <p:cNvPr id="6" name="Text 4"/>
          <p:cNvSpPr/>
          <p:nvPr/>
        </p:nvSpPr>
        <p:spPr>
          <a:xfrm>
            <a:off x="786384" y="1645920"/>
            <a:ext cx="5367528" cy="365760"/>
          </a:xfrm>
          <a:prstGeom prst="rect">
            <a:avLst/>
          </a:prstGeom>
          <a:noFill/>
          <a:ln/>
        </p:spPr>
        <p:txBody>
          <a:bodyPr wrap="square" lIns="0" tIns="0" rIns="0" bIns="0" rtlCol="0" anchor="ctr"/>
          <a:lstStyle/>
          <a:p>
            <a:pPr algn="l" indent="0" marL="0">
              <a:buNone/>
            </a:pPr>
            <a:r>
              <a:rPr lang="en-US" sz="1600" b="1" dirty="0">
                <a:solidFill>
                  <a:srgbClr val="F7768E"/>
                </a:solidFill>
                <a:latin typeface="Calibri" pitchFamily="34" charset="0"/>
                <a:ea typeface="Calibri" pitchFamily="34" charset="-122"/>
                <a:cs typeface="Calibri" pitchFamily="34" charset="-120"/>
              </a:rPr>
              <a:t>Sorun</a:t>
            </a:r>
            <a:endParaRPr lang="en-US" sz="1600" dirty="0"/>
          </a:p>
        </p:txBody>
      </p:sp>
      <p:sp>
        <p:nvSpPr>
          <p:cNvPr id="7" name="Text 5"/>
          <p:cNvSpPr/>
          <p:nvPr/>
        </p:nvSpPr>
        <p:spPr>
          <a:xfrm>
            <a:off x="786384" y="2066544"/>
            <a:ext cx="5367528" cy="1097280"/>
          </a:xfrm>
          <a:prstGeom prst="rect">
            <a:avLst/>
          </a:prstGeom>
          <a:noFill/>
          <a:ln/>
        </p:spPr>
        <p:txBody>
          <a:bodyPr wrap="square" lIns="0" tIns="0" rIns="0" bIns="0" rtlCol="0" anchor="t"/>
          <a:lstStyle/>
          <a:p>
            <a:pPr algn="l" indent="0" marL="0">
              <a:lnSpc>
                <a:spcPct val="115000"/>
              </a:lnSpc>
              <a:buNone/>
            </a:pPr>
            <a:r>
              <a:rPr lang="en-US" sz="1250" dirty="0">
                <a:solidFill>
                  <a:srgbClr val="C6CEF0"/>
                </a:solidFill>
                <a:latin typeface="Calibri" pitchFamily="34" charset="0"/>
                <a:ea typeface="Calibri" pitchFamily="34" charset="-122"/>
                <a:cs typeface="Calibri" pitchFamily="34" charset="-120"/>
              </a:rPr>
              <a:t>Bir sınıf, olay gerçekleştiğinde başka bir sınıfın fonksiyonunu çağırmak isterse onu tanımak zorundadır. Bu bağımlılık kodu kırılgan yapar; ikinci bir dinleyici eklendiğinde kaynak sınıfın değiştirilmesi gerekir.</a:t>
            </a:r>
            <a:endParaRPr lang="en-US" sz="1250" dirty="0"/>
          </a:p>
        </p:txBody>
      </p:sp>
      <p:sp>
        <p:nvSpPr>
          <p:cNvPr id="8" name="Shape 6"/>
          <p:cNvSpPr/>
          <p:nvPr/>
        </p:nvSpPr>
        <p:spPr>
          <a:xfrm>
            <a:off x="6647688" y="1481328"/>
            <a:ext cx="5806440" cy="1828800"/>
          </a:xfrm>
          <a:prstGeom prst="roundRect">
            <a:avLst>
              <a:gd name="adj" fmla="val 4000"/>
            </a:avLst>
          </a:prstGeom>
          <a:solidFill>
            <a:srgbClr val="242938"/>
          </a:solidFill>
          <a:ln w="12700">
            <a:solidFill>
              <a:srgbClr val="2A3042"/>
            </a:solidFill>
            <a:prstDash val="solid"/>
          </a:ln>
        </p:spPr>
      </p:sp>
      <p:sp>
        <p:nvSpPr>
          <p:cNvPr id="9" name="Text 7"/>
          <p:cNvSpPr/>
          <p:nvPr/>
        </p:nvSpPr>
        <p:spPr>
          <a:xfrm>
            <a:off x="6867144" y="1645920"/>
            <a:ext cx="5367528" cy="365760"/>
          </a:xfrm>
          <a:prstGeom prst="rect">
            <a:avLst/>
          </a:prstGeom>
          <a:noFill/>
          <a:ln/>
        </p:spPr>
        <p:txBody>
          <a:bodyPr wrap="square" lIns="0" tIns="0" rIns="0" bIns="0" rtlCol="0" anchor="ctr"/>
          <a:lstStyle/>
          <a:p>
            <a:pPr algn="l" indent="0" marL="0">
              <a:buNone/>
            </a:pPr>
            <a:r>
              <a:rPr lang="en-US" sz="1600" b="1" dirty="0">
                <a:solidFill>
                  <a:srgbClr val="9ECE6A"/>
                </a:solidFill>
                <a:latin typeface="Calibri" pitchFamily="34" charset="0"/>
                <a:ea typeface="Calibri" pitchFamily="34" charset="-122"/>
                <a:cs typeface="Calibri" pitchFamily="34" charset="-120"/>
              </a:rPr>
              <a:t>Çözüm</a:t>
            </a:r>
            <a:endParaRPr lang="en-US" sz="1600" dirty="0"/>
          </a:p>
        </p:txBody>
      </p:sp>
      <p:sp>
        <p:nvSpPr>
          <p:cNvPr id="10" name="Text 8"/>
          <p:cNvSpPr/>
          <p:nvPr/>
        </p:nvSpPr>
        <p:spPr>
          <a:xfrm>
            <a:off x="6867144" y="2066544"/>
            <a:ext cx="5367528" cy="1097280"/>
          </a:xfrm>
          <a:prstGeom prst="rect">
            <a:avLst/>
          </a:prstGeom>
          <a:noFill/>
          <a:ln/>
        </p:spPr>
        <p:txBody>
          <a:bodyPr wrap="square" lIns="0" tIns="0" rIns="0" bIns="0" rtlCol="0" anchor="t"/>
          <a:lstStyle/>
          <a:p>
            <a:pPr algn="l" indent="0" marL="0">
              <a:lnSpc>
                <a:spcPct val="115000"/>
              </a:lnSpc>
              <a:buNone/>
            </a:pPr>
            <a:r>
              <a:rPr lang="en-US" sz="1250" dirty="0">
                <a:solidFill>
                  <a:srgbClr val="C6CEF0"/>
                </a:solidFill>
                <a:latin typeface="Calibri" pitchFamily="34" charset="0"/>
                <a:ea typeface="Calibri" pitchFamily="34" charset="-122"/>
                <a:cs typeface="Calibri" pitchFamily="34" charset="-120"/>
              </a:rPr>
              <a:t>Kaynak sınıf yalnızca bir duyuru yapar ve kimin dinlediğini bilmez. İlgilenen taraflar kendilerini listeye ekler. Yeni dinleyici eklemek için kaynak koda dokunulmaz.</a:t>
            </a:r>
            <a:endParaRPr lang="en-US" sz="1250" dirty="0"/>
          </a:p>
        </p:txBody>
      </p:sp>
      <p:sp>
        <p:nvSpPr>
          <p:cNvPr id="11" name="Shape 9"/>
          <p:cNvSpPr/>
          <p:nvPr/>
        </p:nvSpPr>
        <p:spPr>
          <a:xfrm>
            <a:off x="566928" y="3566160"/>
            <a:ext cx="11057839" cy="2084832"/>
          </a:xfrm>
          <a:prstGeom prst="roundRect">
            <a:avLst>
              <a:gd name="adj" fmla="val 3509"/>
            </a:avLst>
          </a:prstGeom>
          <a:solidFill>
            <a:srgbClr val="2A3042"/>
          </a:solidFill>
          <a:ln w="12700">
            <a:solidFill>
              <a:srgbClr val="2A3042"/>
            </a:solidFill>
            <a:prstDash val="solid"/>
          </a:ln>
        </p:spPr>
      </p:sp>
      <p:sp>
        <p:nvSpPr>
          <p:cNvPr id="12" name="Text 10"/>
          <p:cNvSpPr/>
          <p:nvPr/>
        </p:nvSpPr>
        <p:spPr>
          <a:xfrm>
            <a:off x="841248" y="3712464"/>
            <a:ext cx="10509199" cy="329184"/>
          </a:xfrm>
          <a:prstGeom prst="rect">
            <a:avLst/>
          </a:prstGeom>
          <a:noFill/>
          <a:ln/>
        </p:spPr>
        <p:txBody>
          <a:bodyPr wrap="square" lIns="0" tIns="0" rIns="0" bIns="0" rtlCol="0" anchor="ctr"/>
          <a:lstStyle/>
          <a:p>
            <a:pPr indent="0" marL="0">
              <a:buNone/>
            </a:pPr>
            <a:r>
              <a:rPr lang="en-US" sz="1600" b="1" dirty="0">
                <a:solidFill>
                  <a:srgbClr val="E0AF68"/>
                </a:solidFill>
                <a:latin typeface="Calibri" pitchFamily="34" charset="0"/>
                <a:ea typeface="Calibri" pitchFamily="34" charset="-122"/>
                <a:cs typeface="Calibri" pitchFamily="34" charset="-120"/>
              </a:rPr>
              <a:t>Benzetme: Anons Sistemi</a:t>
            </a:r>
            <a:endParaRPr lang="en-US" sz="1600" dirty="0"/>
          </a:p>
        </p:txBody>
      </p:sp>
      <p:sp>
        <p:nvSpPr>
          <p:cNvPr id="13" name="Text 11"/>
          <p:cNvSpPr/>
          <p:nvPr/>
        </p:nvSpPr>
        <p:spPr>
          <a:xfrm>
            <a:off x="841248" y="4114800"/>
            <a:ext cx="10509199" cy="1280160"/>
          </a:xfrm>
          <a:prstGeom prst="rect">
            <a:avLst/>
          </a:prstGeom>
          <a:noFill/>
          <a:ln/>
        </p:spPr>
        <p:txBody>
          <a:bodyPr wrap="square" lIns="0" tIns="0" rIns="0" bIns="0" rtlCol="0" anchor="ctr"/>
          <a:lstStyle/>
          <a:p>
            <a:pPr indent="0" marL="0">
              <a:lnSpc>
                <a:spcPct val="125000"/>
              </a:lnSpc>
              <a:buNone/>
            </a:pPr>
            <a:r>
              <a:rPr lang="en-US" sz="1300" dirty="0">
                <a:solidFill>
                  <a:srgbClr val="C6CEF0"/>
                </a:solidFill>
                <a:latin typeface="Calibri" pitchFamily="34" charset="0"/>
                <a:ea typeface="Calibri" pitchFamily="34" charset="-122"/>
                <a:cs typeface="Calibri" pitchFamily="34" charset="-120"/>
              </a:rPr>
              <a:t>Bir tren istasyonunda hoparlörden anons yapılır. Anonsu yapan görevli, salondaki hangi yolcunun dinlediğini bilmez ve bilmesine gerek yoktur. İlgilenen yolcular kulak kabartır ve kendi işlerini yaparlar. Delegate tam olarak budur: kaynak yayın yapar (Broadcast), dinleyiciler kendilerini listeye ekler (AddDynamic), ve yayın anında listedeki herkes aynı anda haberdar olur.</a:t>
            </a:r>
            <a:endParaRPr lang="en-US" sz="1300" dirty="0"/>
          </a:p>
        </p:txBody>
      </p:sp>
      <p:sp>
        <p:nvSpPr>
          <p:cNvPr id="14"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15</a:t>
            </a:r>
            <a:endParaRPr lang="en-US" sz="1000" dirty="0"/>
          </a:p>
        </p:txBody>
      </p:sp>
      <p:sp>
        <p:nvSpPr>
          <p:cNvPr id="15"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03 / kavram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Delegate Türleri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İki bağımsız eksen: dinleyici sayısı ve Blueprint erişimi</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BB9AF7"/>
                </a:solidFill>
                <a:latin typeface="Courier New" pitchFamily="34" charset="0"/>
                <a:ea typeface="Courier New" pitchFamily="34" charset="-122"/>
                <a:cs typeface="Courier New" pitchFamily="34" charset="-120"/>
              </a:rPr>
              <a:t>03 / TURLER</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2743200"/>
                <a:gridCol w="2103120"/>
                <a:gridCol w="2286000"/>
                <a:gridCol w="2194560"/>
                <a:gridCol w="1737360"/>
              </a:tblGrid>
              <a:tr h="420624">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Tür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BB9AF7"/>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Dinleyici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BB9AF7"/>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Blueprint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BB9AF7"/>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Bağlanma</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BB9AF7"/>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Performans</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BB9AF7"/>
                    </a:solidFill>
                  </a:tcPr>
                </a:tc>
              </a:tr>
              <a:tr h="420624">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Single</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Tek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Kapalı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BindUObject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En hızlı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20624">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Multicast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Çok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Kapalı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AddUObject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Hızlı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20624">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Dynamic</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Tek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Açık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BindDynamic</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Orta</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20624">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Dynamic Multicast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Çok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Açık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AddDynamic</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Orta</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bl>
          </a:graphicData>
        </a:graphic>
      </p:graphicFrame>
      <p:sp>
        <p:nvSpPr>
          <p:cNvPr id="6" name="Shape 3"/>
          <p:cNvSpPr/>
          <p:nvPr/>
        </p:nvSpPr>
        <p:spPr>
          <a:xfrm>
            <a:off x="566928" y="3877056"/>
            <a:ext cx="3515258" cy="1792224"/>
          </a:xfrm>
          <a:prstGeom prst="roundRect">
            <a:avLst>
              <a:gd name="adj" fmla="val 4082"/>
            </a:avLst>
          </a:prstGeom>
          <a:solidFill>
            <a:srgbClr val="242938"/>
          </a:solidFill>
          <a:ln w="12700">
            <a:solidFill>
              <a:srgbClr val="2A3042"/>
            </a:solidFill>
            <a:prstDash val="solid"/>
          </a:ln>
        </p:spPr>
      </p:sp>
      <p:sp>
        <p:nvSpPr>
          <p:cNvPr id="7" name="Text 4"/>
          <p:cNvSpPr/>
          <p:nvPr/>
        </p:nvSpPr>
        <p:spPr>
          <a:xfrm>
            <a:off x="786384" y="4041648"/>
            <a:ext cx="3076346" cy="365760"/>
          </a:xfrm>
          <a:prstGeom prst="rect">
            <a:avLst/>
          </a:prstGeom>
          <a:noFill/>
          <a:ln/>
        </p:spPr>
        <p:txBody>
          <a:bodyPr wrap="square" lIns="0" tIns="0" rIns="0" bIns="0" rtlCol="0" anchor="ctr"/>
          <a:lstStyle/>
          <a:p>
            <a:pPr algn="l" indent="0" marL="0">
              <a:buNone/>
            </a:pPr>
            <a:r>
              <a:rPr lang="en-US" sz="1400" b="1" dirty="0">
                <a:solidFill>
                  <a:srgbClr val="7DCFFF"/>
                </a:solidFill>
                <a:latin typeface="Calibri" pitchFamily="34" charset="0"/>
                <a:ea typeface="Calibri" pitchFamily="34" charset="-122"/>
                <a:cs typeface="Calibri" pitchFamily="34" charset="-120"/>
              </a:rPr>
              <a:t>"Multicast" ne demek?</a:t>
            </a:r>
            <a:endParaRPr lang="en-US" sz="1400" dirty="0"/>
          </a:p>
        </p:txBody>
      </p:sp>
      <p:sp>
        <p:nvSpPr>
          <p:cNvPr id="8" name="Text 5"/>
          <p:cNvSpPr/>
          <p:nvPr/>
        </p:nvSpPr>
        <p:spPr>
          <a:xfrm>
            <a:off x="786384" y="4462272"/>
            <a:ext cx="3076346" cy="1060704"/>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Aynı olaya birden fazla fonksiyon bağlanabilir. Yayın yapıldığında listedeki tüm fonksiyonlar sırayla çalıştırılır. Dinleyici yoksa hiçbir şey olmaz, hata da vermez.</a:t>
            </a:r>
            <a:endParaRPr lang="en-US" sz="1150" dirty="0"/>
          </a:p>
        </p:txBody>
      </p:sp>
      <p:sp>
        <p:nvSpPr>
          <p:cNvPr id="9" name="Shape 6"/>
          <p:cNvSpPr/>
          <p:nvPr/>
        </p:nvSpPr>
        <p:spPr>
          <a:xfrm>
            <a:off x="4338218" y="3877056"/>
            <a:ext cx="3515258" cy="1792224"/>
          </a:xfrm>
          <a:prstGeom prst="roundRect">
            <a:avLst>
              <a:gd name="adj" fmla="val 4082"/>
            </a:avLst>
          </a:prstGeom>
          <a:solidFill>
            <a:srgbClr val="242938"/>
          </a:solidFill>
          <a:ln w="12700">
            <a:solidFill>
              <a:srgbClr val="2A3042"/>
            </a:solidFill>
            <a:prstDash val="solid"/>
          </a:ln>
        </p:spPr>
      </p:sp>
      <p:sp>
        <p:nvSpPr>
          <p:cNvPr id="10" name="Text 7"/>
          <p:cNvSpPr/>
          <p:nvPr/>
        </p:nvSpPr>
        <p:spPr>
          <a:xfrm>
            <a:off x="4557674" y="4041648"/>
            <a:ext cx="3076346" cy="365760"/>
          </a:xfrm>
          <a:prstGeom prst="rect">
            <a:avLst/>
          </a:prstGeom>
          <a:noFill/>
          <a:ln/>
        </p:spPr>
        <p:txBody>
          <a:bodyPr wrap="square" lIns="0" tIns="0" rIns="0" bIns="0" rtlCol="0" anchor="ctr"/>
          <a:lstStyle/>
          <a:p>
            <a:pPr algn="l" indent="0" marL="0">
              <a:buNone/>
            </a:pPr>
            <a:r>
              <a:rPr lang="en-US" sz="1400" b="1" dirty="0">
                <a:solidFill>
                  <a:srgbClr val="E0AF68"/>
                </a:solidFill>
                <a:latin typeface="Calibri" pitchFamily="34" charset="0"/>
                <a:ea typeface="Calibri" pitchFamily="34" charset="-122"/>
                <a:cs typeface="Calibri" pitchFamily="34" charset="-120"/>
              </a:rPr>
              <a:t>"Dynamic" ne demek?</a:t>
            </a:r>
            <a:endParaRPr lang="en-US" sz="1400" dirty="0"/>
          </a:p>
        </p:txBody>
      </p:sp>
      <p:sp>
        <p:nvSpPr>
          <p:cNvPr id="11" name="Text 8"/>
          <p:cNvSpPr/>
          <p:nvPr/>
        </p:nvSpPr>
        <p:spPr>
          <a:xfrm>
            <a:off x="4557674" y="4462272"/>
            <a:ext cx="3076346" cy="1060704"/>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Fonksiyon adres üzerinden değil, ismiyle bulunur ve Blueprint tarafından da görülebilir. İsimle bulunabilmesi için hedef fonksiyonun UFUNCTION ile işaretlenmesi zorunludur.</a:t>
            </a:r>
            <a:endParaRPr lang="en-US" sz="1150" dirty="0"/>
          </a:p>
        </p:txBody>
      </p:sp>
      <p:sp>
        <p:nvSpPr>
          <p:cNvPr id="12" name="Shape 9"/>
          <p:cNvSpPr/>
          <p:nvPr/>
        </p:nvSpPr>
        <p:spPr>
          <a:xfrm>
            <a:off x="8109509" y="3877056"/>
            <a:ext cx="3515258" cy="1792224"/>
          </a:xfrm>
          <a:prstGeom prst="roundRect">
            <a:avLst>
              <a:gd name="adj" fmla="val 4082"/>
            </a:avLst>
          </a:prstGeom>
          <a:solidFill>
            <a:srgbClr val="242938"/>
          </a:solidFill>
          <a:ln w="12700">
            <a:solidFill>
              <a:srgbClr val="2A3042"/>
            </a:solidFill>
            <a:prstDash val="solid"/>
          </a:ln>
        </p:spPr>
      </p:sp>
      <p:sp>
        <p:nvSpPr>
          <p:cNvPr id="13" name="Text 10"/>
          <p:cNvSpPr/>
          <p:nvPr/>
        </p:nvSpPr>
        <p:spPr>
          <a:xfrm>
            <a:off x="8328965" y="4041648"/>
            <a:ext cx="3076346" cy="365760"/>
          </a:xfrm>
          <a:prstGeom prst="rect">
            <a:avLst/>
          </a:prstGeom>
          <a:noFill/>
          <a:ln/>
        </p:spPr>
        <p:txBody>
          <a:bodyPr wrap="square" lIns="0" tIns="0" rIns="0" bIns="0" rtlCol="0" anchor="ctr"/>
          <a:lstStyle/>
          <a:p>
            <a:pPr algn="l" indent="0" marL="0">
              <a:buNone/>
            </a:pPr>
            <a:r>
              <a:rPr lang="en-US" sz="1400" b="1" dirty="0">
                <a:solidFill>
                  <a:srgbClr val="9ECE6A"/>
                </a:solidFill>
                <a:latin typeface="Calibri" pitchFamily="34" charset="0"/>
                <a:ea typeface="Calibri" pitchFamily="34" charset="-122"/>
                <a:cs typeface="Calibri" pitchFamily="34" charset="-120"/>
              </a:rPr>
              <a:t>Neden Dynamic Multicast?</a:t>
            </a:r>
            <a:endParaRPr lang="en-US" sz="1400" dirty="0"/>
          </a:p>
        </p:txBody>
      </p:sp>
      <p:sp>
        <p:nvSpPr>
          <p:cNvPr id="14" name="Text 11"/>
          <p:cNvSpPr/>
          <p:nvPr/>
        </p:nvSpPr>
        <p:spPr>
          <a:xfrm>
            <a:off x="8328965" y="4462272"/>
            <a:ext cx="3076346" cy="1060704"/>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Blueprint entegrasyonu gerekiyorsa dynamic zorunludur. Yalnızca C++ içinde kalınacaksa dynamic olmayan sürüm daha hızlıdır çünkü isim çözümlemesi yapmaz.</a:t>
            </a:r>
            <a:endParaRPr lang="en-US" sz="1150" dirty="0"/>
          </a:p>
        </p:txBody>
      </p:sp>
      <p:sp>
        <p:nvSpPr>
          <p:cNvPr id="15"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16</a:t>
            </a:r>
            <a:endParaRPr lang="en-US" sz="1000" dirty="0"/>
          </a:p>
        </p:txBody>
      </p:sp>
      <p:sp>
        <p:nvSpPr>
          <p:cNvPr id="16"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03 / turler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Tanımlama ve Yayın</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Üç parça: makro tanımı, üye değişken, Broadcast çağrısı</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BB9AF7"/>
                </a:solidFill>
                <a:latin typeface="Courier New" pitchFamily="34" charset="0"/>
                <a:ea typeface="Courier New" pitchFamily="34" charset="-122"/>
                <a:cs typeface="Courier New" pitchFamily="34" charset="-120"/>
              </a:rPr>
              <a:t>03 / C++</a:t>
            </a:r>
            <a:endParaRPr lang="en-US" sz="1000" dirty="0"/>
          </a:p>
        </p:txBody>
      </p:sp>
      <p:sp>
        <p:nvSpPr>
          <p:cNvPr id="5" name="Shape 3"/>
          <p:cNvSpPr/>
          <p:nvPr/>
        </p:nvSpPr>
        <p:spPr>
          <a:xfrm>
            <a:off x="566928" y="1481328"/>
            <a:ext cx="5806440" cy="2286000"/>
          </a:xfrm>
          <a:prstGeom prst="roundRect">
            <a:avLst>
              <a:gd name="adj" fmla="val 2400"/>
            </a:avLst>
          </a:prstGeom>
          <a:solidFill>
            <a:srgbClr val="13141C"/>
          </a:solidFill>
          <a:ln w="12700">
            <a:solidFill>
              <a:srgbClr val="2A3042"/>
            </a:solidFill>
            <a:prstDash val="solid"/>
          </a:ln>
        </p:spPr>
      </p:sp>
      <p:sp>
        <p:nvSpPr>
          <p:cNvPr id="6" name="Text 4"/>
          <p:cNvSpPr/>
          <p:nvPr/>
        </p:nvSpPr>
        <p:spPr>
          <a:xfrm>
            <a:off x="713232" y="1545336"/>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HEADER — SINIF DIŞINDA</a:t>
            </a:r>
            <a:endParaRPr lang="en-US" sz="900" dirty="0"/>
          </a:p>
        </p:txBody>
      </p:sp>
      <p:sp>
        <p:nvSpPr>
          <p:cNvPr id="7" name="Text 5"/>
          <p:cNvSpPr/>
          <p:nvPr/>
        </p:nvSpPr>
        <p:spPr>
          <a:xfrm>
            <a:off x="713232" y="1773936"/>
            <a:ext cx="5513832" cy="188366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Parametresiz sürüm</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DECLARE_DYNAMIC_MULTICAST_DELEGATE(FOrnekDelegate);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Tek parametreli sürüm</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Sıralama: DelegateAdı, Tip, Parametre adı</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Üçü de virgülle ayrılır.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DECLARE_DYNAMIC_MULTICAST_DELEGATE_OneParam(</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FZamanDelegate, int32, KalanSure);</a:t>
            </a:r>
            <a:endParaRPr lang="en-US" sz="1100" dirty="0"/>
          </a:p>
        </p:txBody>
      </p:sp>
      <p:sp>
        <p:nvSpPr>
          <p:cNvPr id="8" name="Shape 6"/>
          <p:cNvSpPr/>
          <p:nvPr/>
        </p:nvSpPr>
        <p:spPr>
          <a:xfrm>
            <a:off x="6647688" y="1481328"/>
            <a:ext cx="5806440" cy="2286000"/>
          </a:xfrm>
          <a:prstGeom prst="roundRect">
            <a:avLst>
              <a:gd name="adj" fmla="val 2400"/>
            </a:avLst>
          </a:prstGeom>
          <a:solidFill>
            <a:srgbClr val="13141C"/>
          </a:solidFill>
          <a:ln w="12700">
            <a:solidFill>
              <a:srgbClr val="2A3042"/>
            </a:solidFill>
            <a:prstDash val="solid"/>
          </a:ln>
        </p:spPr>
      </p:sp>
      <p:sp>
        <p:nvSpPr>
          <p:cNvPr id="9" name="Text 7"/>
          <p:cNvSpPr/>
          <p:nvPr/>
        </p:nvSpPr>
        <p:spPr>
          <a:xfrm>
            <a:off x="6793992" y="1545336"/>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HEADER — SINIF İÇİNDE</a:t>
            </a:r>
            <a:endParaRPr lang="en-US" sz="900" dirty="0"/>
          </a:p>
        </p:txBody>
      </p:sp>
      <p:sp>
        <p:nvSpPr>
          <p:cNvPr id="10" name="Text 8"/>
          <p:cNvSpPr/>
          <p:nvPr/>
        </p:nvSpPr>
        <p:spPr>
          <a:xfrm>
            <a:off x="6793992" y="1773936"/>
            <a:ext cx="5513832" cy="188366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BlueprintAssignable: bu olay Blueprint</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grafiğinde event olarak görünür.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Bu işaret olmadan BP delegate'i göremez.</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UPROPERTY(BlueprintAssignable, Category = "Events")</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FZamanDelegate ZamanDelegate;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FZamanDelegate  -&gt; TİP adı</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ZamanDelegate   -&gt; DEĞİŞKEN adı (Broadcast bunda)</a:t>
            </a:r>
            <a:endParaRPr lang="en-US" sz="1100" dirty="0"/>
          </a:p>
        </p:txBody>
      </p:sp>
      <p:sp>
        <p:nvSpPr>
          <p:cNvPr id="11" name="Shape 9"/>
          <p:cNvSpPr/>
          <p:nvPr/>
        </p:nvSpPr>
        <p:spPr>
          <a:xfrm>
            <a:off x="566928" y="3968496"/>
            <a:ext cx="3515258" cy="1700784"/>
          </a:xfrm>
          <a:prstGeom prst="roundRect">
            <a:avLst>
              <a:gd name="adj" fmla="val 4301"/>
            </a:avLst>
          </a:prstGeom>
          <a:solidFill>
            <a:srgbClr val="242938"/>
          </a:solidFill>
          <a:ln w="12700">
            <a:solidFill>
              <a:srgbClr val="2A3042"/>
            </a:solidFill>
            <a:prstDash val="solid"/>
          </a:ln>
        </p:spPr>
      </p:sp>
      <p:sp>
        <p:nvSpPr>
          <p:cNvPr id="12" name="Text 10"/>
          <p:cNvSpPr/>
          <p:nvPr/>
        </p:nvSpPr>
        <p:spPr>
          <a:xfrm>
            <a:off x="786384" y="4133088"/>
            <a:ext cx="3076346" cy="365760"/>
          </a:xfrm>
          <a:prstGeom prst="rect">
            <a:avLst/>
          </a:prstGeom>
          <a:noFill/>
          <a:ln/>
        </p:spPr>
        <p:txBody>
          <a:bodyPr wrap="square" lIns="0" tIns="0" rIns="0" bIns="0" rtlCol="0" anchor="ctr"/>
          <a:lstStyle/>
          <a:p>
            <a:pPr algn="l" indent="0" marL="0">
              <a:buNone/>
            </a:pPr>
            <a:r>
              <a:rPr lang="en-US" sz="1400" b="1" dirty="0">
                <a:solidFill>
                  <a:srgbClr val="F7768E"/>
                </a:solidFill>
                <a:latin typeface="Calibri" pitchFamily="34" charset="0"/>
                <a:ea typeface="Calibri" pitchFamily="34" charset="-122"/>
                <a:cs typeface="Calibri" pitchFamily="34" charset="-120"/>
              </a:rPr>
              <a:t>int değil int32</a:t>
            </a:r>
            <a:endParaRPr lang="en-US" sz="1400" dirty="0"/>
          </a:p>
        </p:txBody>
      </p:sp>
      <p:sp>
        <p:nvSpPr>
          <p:cNvPr id="13" name="Text 11"/>
          <p:cNvSpPr/>
          <p:nvPr/>
        </p:nvSpPr>
        <p:spPr>
          <a:xfrm>
            <a:off x="786384" y="4553712"/>
            <a:ext cx="3076346" cy="969264"/>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Yansıma sistemi düz int tipini tanımaz. UHT yalnızca int32, float, FString gibi kendi tanıdığı tiplerle çalışır.</a:t>
            </a:r>
            <a:endParaRPr lang="en-US" sz="1150" dirty="0"/>
          </a:p>
        </p:txBody>
      </p:sp>
      <p:sp>
        <p:nvSpPr>
          <p:cNvPr id="14" name="Shape 12"/>
          <p:cNvSpPr/>
          <p:nvPr/>
        </p:nvSpPr>
        <p:spPr>
          <a:xfrm>
            <a:off x="4338218" y="3968496"/>
            <a:ext cx="3515258" cy="1700784"/>
          </a:xfrm>
          <a:prstGeom prst="roundRect">
            <a:avLst>
              <a:gd name="adj" fmla="val 4301"/>
            </a:avLst>
          </a:prstGeom>
          <a:solidFill>
            <a:srgbClr val="242938"/>
          </a:solidFill>
          <a:ln w="12700">
            <a:solidFill>
              <a:srgbClr val="2A3042"/>
            </a:solidFill>
            <a:prstDash val="solid"/>
          </a:ln>
        </p:spPr>
      </p:sp>
      <p:sp>
        <p:nvSpPr>
          <p:cNvPr id="15" name="Text 13"/>
          <p:cNvSpPr/>
          <p:nvPr/>
        </p:nvSpPr>
        <p:spPr>
          <a:xfrm>
            <a:off x="4557674" y="4133088"/>
            <a:ext cx="3076346" cy="365760"/>
          </a:xfrm>
          <a:prstGeom prst="rect">
            <a:avLst/>
          </a:prstGeom>
          <a:noFill/>
          <a:ln/>
        </p:spPr>
        <p:txBody>
          <a:bodyPr wrap="square" lIns="0" tIns="0" rIns="0" bIns="0" rtlCol="0" anchor="ctr"/>
          <a:lstStyle/>
          <a:p>
            <a:pPr algn="l" indent="0" marL="0">
              <a:buNone/>
            </a:pPr>
            <a:r>
              <a:rPr lang="en-US" sz="1400" b="1" dirty="0">
                <a:solidFill>
                  <a:srgbClr val="E0AF68"/>
                </a:solidFill>
                <a:latin typeface="Calibri" pitchFamily="34" charset="0"/>
                <a:ea typeface="Calibri" pitchFamily="34" charset="-122"/>
                <a:cs typeface="Calibri" pitchFamily="34" charset="-120"/>
              </a:rPr>
              <a:t>Tip adı ile değişken adı ayrıdır</a:t>
            </a:r>
            <a:endParaRPr lang="en-US" sz="1400" dirty="0"/>
          </a:p>
        </p:txBody>
      </p:sp>
      <p:sp>
        <p:nvSpPr>
          <p:cNvPr id="16" name="Text 14"/>
          <p:cNvSpPr/>
          <p:nvPr/>
        </p:nvSpPr>
        <p:spPr>
          <a:xfrm>
            <a:off x="4557674" y="4553712"/>
            <a:ext cx="3076346" cy="969264"/>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Broadcast çağrısı tipe değil, üye değişkene yapılır. FZamanDelegate.Broadcast() derleme hatası verir.</a:t>
            </a:r>
            <a:endParaRPr lang="en-US" sz="1150" dirty="0"/>
          </a:p>
        </p:txBody>
      </p:sp>
      <p:sp>
        <p:nvSpPr>
          <p:cNvPr id="17" name="Shape 15"/>
          <p:cNvSpPr/>
          <p:nvPr/>
        </p:nvSpPr>
        <p:spPr>
          <a:xfrm>
            <a:off x="8109509" y="3968496"/>
            <a:ext cx="3515258" cy="1700784"/>
          </a:xfrm>
          <a:prstGeom prst="roundRect">
            <a:avLst>
              <a:gd name="adj" fmla="val 4301"/>
            </a:avLst>
          </a:prstGeom>
          <a:solidFill>
            <a:srgbClr val="242938"/>
          </a:solidFill>
          <a:ln w="12700">
            <a:solidFill>
              <a:srgbClr val="2A3042"/>
            </a:solidFill>
            <a:prstDash val="solid"/>
          </a:ln>
        </p:spPr>
      </p:sp>
      <p:sp>
        <p:nvSpPr>
          <p:cNvPr id="18" name="Text 16"/>
          <p:cNvSpPr/>
          <p:nvPr/>
        </p:nvSpPr>
        <p:spPr>
          <a:xfrm>
            <a:off x="8328965" y="4133088"/>
            <a:ext cx="3076346" cy="365760"/>
          </a:xfrm>
          <a:prstGeom prst="rect">
            <a:avLst/>
          </a:prstGeom>
          <a:noFill/>
          <a:ln/>
        </p:spPr>
        <p:txBody>
          <a:bodyPr wrap="square" lIns="0" tIns="0" rIns="0" bIns="0" rtlCol="0" anchor="ctr"/>
          <a:lstStyle/>
          <a:p>
            <a:pPr algn="l" indent="0" marL="0">
              <a:buNone/>
            </a:pPr>
            <a:r>
              <a:rPr lang="en-US" sz="1400" b="1" dirty="0">
                <a:solidFill>
                  <a:srgbClr val="9ECE6A"/>
                </a:solidFill>
                <a:latin typeface="Calibri" pitchFamily="34" charset="0"/>
                <a:ea typeface="Calibri" pitchFamily="34" charset="-122"/>
                <a:cs typeface="Calibri" pitchFamily="34" charset="-120"/>
              </a:rPr>
              <a:t>Yayın basittir</a:t>
            </a:r>
            <a:endParaRPr lang="en-US" sz="1400" dirty="0"/>
          </a:p>
        </p:txBody>
      </p:sp>
      <p:sp>
        <p:nvSpPr>
          <p:cNvPr id="19" name="Text 17"/>
          <p:cNvSpPr/>
          <p:nvPr/>
        </p:nvSpPr>
        <p:spPr>
          <a:xfrm>
            <a:off x="8328965" y="4553712"/>
            <a:ext cx="3076346" cy="969264"/>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ZamanDelegate.Broadcast(Zaman) satırı, bağlı tüm dinleyicileri aynı anda tetikler ve parametreyi hepsine iletir.</a:t>
            </a:r>
            <a:endParaRPr lang="en-US" sz="1150" dirty="0"/>
          </a:p>
        </p:txBody>
      </p:sp>
      <p:sp>
        <p:nvSpPr>
          <p:cNvPr id="20" name="Text 18"/>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17</a:t>
            </a:r>
            <a:endParaRPr lang="en-US" sz="1000" dirty="0"/>
          </a:p>
        </p:txBody>
      </p:sp>
      <p:sp>
        <p:nvSpPr>
          <p:cNvPr id="21" name="Text 19"/>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03 / tanimlama</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Dinleme: İki Taraftan da Mümkün</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Aynı yayın hem C++ hem Blueprint tarafından yakalanabilir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BB9AF7"/>
                </a:solidFill>
                <a:latin typeface="Courier New" pitchFamily="34" charset="0"/>
                <a:ea typeface="Courier New" pitchFamily="34" charset="-122"/>
                <a:cs typeface="Courier New" pitchFamily="34" charset="-120"/>
              </a:rPr>
              <a:t>03 / DINLEME</a:t>
            </a:r>
            <a:endParaRPr lang="en-US" sz="1000" dirty="0"/>
          </a:p>
        </p:txBody>
      </p:sp>
      <p:sp>
        <p:nvSpPr>
          <p:cNvPr id="5" name="Shape 3"/>
          <p:cNvSpPr/>
          <p:nvPr/>
        </p:nvSpPr>
        <p:spPr>
          <a:xfrm>
            <a:off x="566928" y="1481328"/>
            <a:ext cx="5806440" cy="3017520"/>
          </a:xfrm>
          <a:prstGeom prst="roundRect">
            <a:avLst>
              <a:gd name="adj" fmla="val 1818"/>
            </a:avLst>
          </a:prstGeom>
          <a:solidFill>
            <a:srgbClr val="13141C"/>
          </a:solidFill>
          <a:ln w="12700">
            <a:solidFill>
              <a:srgbClr val="2A3042"/>
            </a:solidFill>
            <a:prstDash val="solid"/>
          </a:ln>
        </p:spPr>
      </p:sp>
      <p:sp>
        <p:nvSpPr>
          <p:cNvPr id="6" name="Text 4"/>
          <p:cNvSpPr/>
          <p:nvPr/>
        </p:nvSpPr>
        <p:spPr>
          <a:xfrm>
            <a:off x="713232" y="1545336"/>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C++ TARAFI</a:t>
            </a:r>
            <a:endParaRPr lang="en-US" sz="900" dirty="0"/>
          </a:p>
        </p:txBody>
      </p:sp>
      <p:sp>
        <p:nvSpPr>
          <p:cNvPr id="7" name="Text 5"/>
          <p:cNvSpPr/>
          <p:nvPr/>
        </p:nvSpPr>
        <p:spPr>
          <a:xfrm>
            <a:off x="713232" y="1773936"/>
            <a:ext cx="5513832" cy="261518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AddDynamic için UFUNCTION zorunludur.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Dynamic delegate fonksiyonu İSİMLE arar;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isim tablosuna yalnızca UFUNCTION ile girer.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UFUNCTION()</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void HareketBitti(FAIRequestID RequestID,</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EPathFollowingResult::Type Result);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Bağlanma — BeginPlay içinde, YALNIZCA BİR KEZ</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AIC_Ref-&gt;ReceiveMoveCompleted.AddDynamic(</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this, &amp;AAI_CharacterCpp::HareketBitti);</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AddDynamic tekrar kontrolü yapmaz.</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Tekrarı önlemek için AddUniqueDynamic kullanılır.</a:t>
            </a:r>
            <a:endParaRPr lang="en-US" sz="1100" dirty="0"/>
          </a:p>
        </p:txBody>
      </p:sp>
      <p:sp>
        <p:nvSpPr>
          <p:cNvPr id="8" name="Shape 6"/>
          <p:cNvSpPr/>
          <p:nvPr/>
        </p:nvSpPr>
        <p:spPr>
          <a:xfrm>
            <a:off x="6647688" y="1481328"/>
            <a:ext cx="5806440" cy="3017520"/>
          </a:xfrm>
          <a:prstGeom prst="roundRect">
            <a:avLst>
              <a:gd name="adj" fmla="val 2424"/>
            </a:avLst>
          </a:prstGeom>
          <a:solidFill>
            <a:srgbClr val="242938"/>
          </a:solidFill>
          <a:ln w="12700">
            <a:solidFill>
              <a:srgbClr val="2A3042"/>
            </a:solidFill>
            <a:prstDash val="solid"/>
          </a:ln>
        </p:spPr>
      </p:sp>
      <p:sp>
        <p:nvSpPr>
          <p:cNvPr id="9" name="Text 7"/>
          <p:cNvSpPr/>
          <p:nvPr/>
        </p:nvSpPr>
        <p:spPr>
          <a:xfrm>
            <a:off x="6793992" y="1572768"/>
            <a:ext cx="5513832" cy="237744"/>
          </a:xfrm>
          <a:prstGeom prst="rect">
            <a:avLst/>
          </a:prstGeom>
          <a:noFill/>
          <a:ln/>
        </p:spPr>
        <p:txBody>
          <a:bodyPr wrap="square" lIns="0" tIns="0" rIns="0" bIns="0" rtlCol="0" anchor="ctr"/>
          <a:lstStyle/>
          <a:p>
            <a:pPr indent="0" marL="0">
              <a:buNone/>
            </a:pPr>
            <a:r>
              <a:rPr lang="en-US" sz="900" spc="120" kern="0" dirty="0">
                <a:solidFill>
                  <a:srgbClr val="7A83A8"/>
                </a:solidFill>
                <a:latin typeface="Courier New" pitchFamily="34" charset="0"/>
                <a:ea typeface="Courier New" pitchFamily="34" charset="-122"/>
                <a:cs typeface="Courier New" pitchFamily="34" charset="-120"/>
              </a:rPr>
              <a:t>BLUEPRINT TARAFI</a:t>
            </a:r>
            <a:endParaRPr lang="en-US" sz="900" dirty="0"/>
          </a:p>
        </p:txBody>
      </p:sp>
      <p:sp>
        <p:nvSpPr>
          <p:cNvPr id="10" name="Shape 8"/>
          <p:cNvSpPr/>
          <p:nvPr/>
        </p:nvSpPr>
        <p:spPr>
          <a:xfrm>
            <a:off x="6839712" y="1920240"/>
            <a:ext cx="256032" cy="256032"/>
          </a:xfrm>
          <a:prstGeom prst="ellipse">
            <a:avLst/>
          </a:prstGeom>
          <a:solidFill>
            <a:srgbClr val="7DCFFF"/>
          </a:solidFill>
          <a:ln w="12700">
            <a:solidFill>
              <a:srgbClr val="7DCFFF"/>
            </a:solidFill>
            <a:prstDash val="solid"/>
          </a:ln>
        </p:spPr>
      </p:sp>
      <p:sp>
        <p:nvSpPr>
          <p:cNvPr id="11" name="Text 9"/>
          <p:cNvSpPr/>
          <p:nvPr/>
        </p:nvSpPr>
        <p:spPr>
          <a:xfrm>
            <a:off x="6839712" y="1920240"/>
            <a:ext cx="256032" cy="256032"/>
          </a:xfrm>
          <a:prstGeom prst="rect">
            <a:avLst/>
          </a:prstGeom>
          <a:noFill/>
          <a:ln/>
        </p:spPr>
        <p:txBody>
          <a:bodyPr wrap="square" lIns="0" tIns="0" rIns="0" bIns="0" rtlCol="0" anchor="ctr"/>
          <a:lstStyle/>
          <a:p>
            <a:pPr algn="ctr" indent="0" marL="0">
              <a:buNone/>
            </a:pPr>
            <a:r>
              <a:rPr lang="en-US" sz="1000" b="1" dirty="0">
                <a:solidFill>
                  <a:srgbClr val="1A1B26"/>
                </a:solidFill>
                <a:latin typeface="Calibri" pitchFamily="34" charset="0"/>
                <a:ea typeface="Calibri" pitchFamily="34" charset="-122"/>
                <a:cs typeface="Calibri" pitchFamily="34" charset="-120"/>
              </a:rPr>
              <a:t>1</a:t>
            </a:r>
            <a:endParaRPr lang="en-US" sz="1000" dirty="0"/>
          </a:p>
        </p:txBody>
      </p:sp>
      <p:sp>
        <p:nvSpPr>
          <p:cNvPr id="12" name="Text 10"/>
          <p:cNvSpPr/>
          <p:nvPr/>
        </p:nvSpPr>
        <p:spPr>
          <a:xfrm>
            <a:off x="7205472" y="1883664"/>
            <a:ext cx="5120640" cy="365760"/>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Event Graph'ta boş alana sağ tıklanır</a:t>
            </a:r>
            <a:endParaRPr lang="en-US" sz="1150" dirty="0"/>
          </a:p>
        </p:txBody>
      </p:sp>
      <p:sp>
        <p:nvSpPr>
          <p:cNvPr id="13" name="Shape 11"/>
          <p:cNvSpPr/>
          <p:nvPr/>
        </p:nvSpPr>
        <p:spPr>
          <a:xfrm>
            <a:off x="6839712" y="2340864"/>
            <a:ext cx="256032" cy="256032"/>
          </a:xfrm>
          <a:prstGeom prst="ellipse">
            <a:avLst/>
          </a:prstGeom>
          <a:solidFill>
            <a:srgbClr val="7DCFFF"/>
          </a:solidFill>
          <a:ln w="12700">
            <a:solidFill>
              <a:srgbClr val="7DCFFF"/>
            </a:solidFill>
            <a:prstDash val="solid"/>
          </a:ln>
        </p:spPr>
      </p:sp>
      <p:sp>
        <p:nvSpPr>
          <p:cNvPr id="14" name="Text 12"/>
          <p:cNvSpPr/>
          <p:nvPr/>
        </p:nvSpPr>
        <p:spPr>
          <a:xfrm>
            <a:off x="6839712" y="2340864"/>
            <a:ext cx="256032" cy="256032"/>
          </a:xfrm>
          <a:prstGeom prst="rect">
            <a:avLst/>
          </a:prstGeom>
          <a:noFill/>
          <a:ln/>
        </p:spPr>
        <p:txBody>
          <a:bodyPr wrap="square" lIns="0" tIns="0" rIns="0" bIns="0" rtlCol="0" anchor="ctr"/>
          <a:lstStyle/>
          <a:p>
            <a:pPr algn="ctr" indent="0" marL="0">
              <a:buNone/>
            </a:pPr>
            <a:r>
              <a:rPr lang="en-US" sz="1000" b="1" dirty="0">
                <a:solidFill>
                  <a:srgbClr val="1A1B26"/>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7205472" y="2304288"/>
            <a:ext cx="5120640" cy="365760"/>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Arama kutusuna "Assign Zaman Delegate" yazılır</a:t>
            </a:r>
            <a:endParaRPr lang="en-US" sz="1150" dirty="0"/>
          </a:p>
        </p:txBody>
      </p:sp>
      <p:sp>
        <p:nvSpPr>
          <p:cNvPr id="16" name="Shape 14"/>
          <p:cNvSpPr/>
          <p:nvPr/>
        </p:nvSpPr>
        <p:spPr>
          <a:xfrm>
            <a:off x="6839712" y="2761488"/>
            <a:ext cx="256032" cy="256032"/>
          </a:xfrm>
          <a:prstGeom prst="ellipse">
            <a:avLst/>
          </a:prstGeom>
          <a:solidFill>
            <a:srgbClr val="7DCFFF"/>
          </a:solidFill>
          <a:ln w="12700">
            <a:solidFill>
              <a:srgbClr val="7DCFFF"/>
            </a:solidFill>
            <a:prstDash val="solid"/>
          </a:ln>
        </p:spPr>
      </p:sp>
      <p:sp>
        <p:nvSpPr>
          <p:cNvPr id="17" name="Text 15"/>
          <p:cNvSpPr/>
          <p:nvPr/>
        </p:nvSpPr>
        <p:spPr>
          <a:xfrm>
            <a:off x="6839712" y="2761488"/>
            <a:ext cx="256032" cy="256032"/>
          </a:xfrm>
          <a:prstGeom prst="rect">
            <a:avLst/>
          </a:prstGeom>
          <a:noFill/>
          <a:ln/>
        </p:spPr>
        <p:txBody>
          <a:bodyPr wrap="square" lIns="0" tIns="0" rIns="0" bIns="0" rtlCol="0" anchor="ctr"/>
          <a:lstStyle/>
          <a:p>
            <a:pPr algn="ctr" indent="0" marL="0">
              <a:buNone/>
            </a:pPr>
            <a:r>
              <a:rPr lang="en-US" sz="1000" b="1" dirty="0">
                <a:solidFill>
                  <a:srgbClr val="1A1B26"/>
                </a:solidFill>
                <a:latin typeface="Calibri" pitchFamily="34" charset="0"/>
                <a:ea typeface="Calibri" pitchFamily="34" charset="-122"/>
                <a:cs typeface="Calibri" pitchFamily="34" charset="-120"/>
              </a:rPr>
              <a:t>3</a:t>
            </a:r>
            <a:endParaRPr lang="en-US" sz="1000" dirty="0"/>
          </a:p>
        </p:txBody>
      </p:sp>
      <p:sp>
        <p:nvSpPr>
          <p:cNvPr id="18" name="Text 16"/>
          <p:cNvSpPr/>
          <p:nvPr/>
        </p:nvSpPr>
        <p:spPr>
          <a:xfrm>
            <a:off x="7205472" y="2724912"/>
            <a:ext cx="5120640" cy="365760"/>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Motor iki düğüm birden yerleştirir: Bind Event ve Custom Event</a:t>
            </a:r>
            <a:endParaRPr lang="en-US" sz="1150" dirty="0"/>
          </a:p>
        </p:txBody>
      </p:sp>
      <p:sp>
        <p:nvSpPr>
          <p:cNvPr id="19" name="Shape 17"/>
          <p:cNvSpPr/>
          <p:nvPr/>
        </p:nvSpPr>
        <p:spPr>
          <a:xfrm>
            <a:off x="6839712" y="3182112"/>
            <a:ext cx="256032" cy="256032"/>
          </a:xfrm>
          <a:prstGeom prst="ellipse">
            <a:avLst/>
          </a:prstGeom>
          <a:solidFill>
            <a:srgbClr val="7DCFFF"/>
          </a:solidFill>
          <a:ln w="12700">
            <a:solidFill>
              <a:srgbClr val="7DCFFF"/>
            </a:solidFill>
            <a:prstDash val="solid"/>
          </a:ln>
        </p:spPr>
      </p:sp>
      <p:sp>
        <p:nvSpPr>
          <p:cNvPr id="20" name="Text 18"/>
          <p:cNvSpPr/>
          <p:nvPr/>
        </p:nvSpPr>
        <p:spPr>
          <a:xfrm>
            <a:off x="6839712" y="3182112"/>
            <a:ext cx="256032" cy="256032"/>
          </a:xfrm>
          <a:prstGeom prst="rect">
            <a:avLst/>
          </a:prstGeom>
          <a:noFill/>
          <a:ln/>
        </p:spPr>
        <p:txBody>
          <a:bodyPr wrap="square" lIns="0" tIns="0" rIns="0" bIns="0" rtlCol="0" anchor="ctr"/>
          <a:lstStyle/>
          <a:p>
            <a:pPr algn="ctr" indent="0" marL="0">
              <a:buNone/>
            </a:pPr>
            <a:r>
              <a:rPr lang="en-US" sz="1000" b="1" dirty="0">
                <a:solidFill>
                  <a:srgbClr val="1A1B26"/>
                </a:solidFill>
                <a:latin typeface="Calibri" pitchFamily="34" charset="0"/>
                <a:ea typeface="Calibri" pitchFamily="34" charset="-122"/>
                <a:cs typeface="Calibri" pitchFamily="34" charset="-120"/>
              </a:rPr>
              <a:t>4</a:t>
            </a:r>
            <a:endParaRPr lang="en-US" sz="1000" dirty="0"/>
          </a:p>
        </p:txBody>
      </p:sp>
      <p:sp>
        <p:nvSpPr>
          <p:cNvPr id="21" name="Text 19"/>
          <p:cNvSpPr/>
          <p:nvPr/>
        </p:nvSpPr>
        <p:spPr>
          <a:xfrm>
            <a:off x="7205472" y="3145536"/>
            <a:ext cx="5120640" cy="365760"/>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Bind Event düğümü Event BeginPlay çıkışına bağlanır</a:t>
            </a:r>
            <a:endParaRPr lang="en-US" sz="1150" dirty="0"/>
          </a:p>
        </p:txBody>
      </p:sp>
      <p:sp>
        <p:nvSpPr>
          <p:cNvPr id="22" name="Shape 20"/>
          <p:cNvSpPr/>
          <p:nvPr/>
        </p:nvSpPr>
        <p:spPr>
          <a:xfrm>
            <a:off x="6839712" y="3602736"/>
            <a:ext cx="256032" cy="256032"/>
          </a:xfrm>
          <a:prstGeom prst="ellipse">
            <a:avLst/>
          </a:prstGeom>
          <a:solidFill>
            <a:srgbClr val="7DCFFF"/>
          </a:solidFill>
          <a:ln w="12700">
            <a:solidFill>
              <a:srgbClr val="7DCFFF"/>
            </a:solidFill>
            <a:prstDash val="solid"/>
          </a:ln>
        </p:spPr>
      </p:sp>
      <p:sp>
        <p:nvSpPr>
          <p:cNvPr id="23" name="Text 21"/>
          <p:cNvSpPr/>
          <p:nvPr/>
        </p:nvSpPr>
        <p:spPr>
          <a:xfrm>
            <a:off x="6839712" y="3602736"/>
            <a:ext cx="256032" cy="256032"/>
          </a:xfrm>
          <a:prstGeom prst="rect">
            <a:avLst/>
          </a:prstGeom>
          <a:noFill/>
          <a:ln/>
        </p:spPr>
        <p:txBody>
          <a:bodyPr wrap="square" lIns="0" tIns="0" rIns="0" bIns="0" rtlCol="0" anchor="ctr"/>
          <a:lstStyle/>
          <a:p>
            <a:pPr algn="ctr" indent="0" marL="0">
              <a:buNone/>
            </a:pPr>
            <a:r>
              <a:rPr lang="en-US" sz="1000" b="1" dirty="0">
                <a:solidFill>
                  <a:srgbClr val="1A1B26"/>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7205472" y="3566160"/>
            <a:ext cx="5120640" cy="365760"/>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Custom Event üzerinde parametre pini hazır gelir</a:t>
            </a:r>
            <a:endParaRPr lang="en-US" sz="1150" dirty="0"/>
          </a:p>
        </p:txBody>
      </p:sp>
      <p:sp>
        <p:nvSpPr>
          <p:cNvPr id="25" name="Shape 23"/>
          <p:cNvSpPr/>
          <p:nvPr/>
        </p:nvSpPr>
        <p:spPr>
          <a:xfrm>
            <a:off x="6839712" y="4023360"/>
            <a:ext cx="256032" cy="256032"/>
          </a:xfrm>
          <a:prstGeom prst="ellipse">
            <a:avLst/>
          </a:prstGeom>
          <a:solidFill>
            <a:srgbClr val="7DCFFF"/>
          </a:solidFill>
          <a:ln w="12700">
            <a:solidFill>
              <a:srgbClr val="7DCFFF"/>
            </a:solidFill>
            <a:prstDash val="solid"/>
          </a:ln>
        </p:spPr>
      </p:sp>
      <p:sp>
        <p:nvSpPr>
          <p:cNvPr id="26" name="Text 24"/>
          <p:cNvSpPr/>
          <p:nvPr/>
        </p:nvSpPr>
        <p:spPr>
          <a:xfrm>
            <a:off x="6839712" y="4023360"/>
            <a:ext cx="256032" cy="256032"/>
          </a:xfrm>
          <a:prstGeom prst="rect">
            <a:avLst/>
          </a:prstGeom>
          <a:noFill/>
          <a:ln/>
        </p:spPr>
        <p:txBody>
          <a:bodyPr wrap="square" lIns="0" tIns="0" rIns="0" bIns="0" rtlCol="0" anchor="ctr"/>
          <a:lstStyle/>
          <a:p>
            <a:pPr algn="ctr" indent="0" marL="0">
              <a:buNone/>
            </a:pPr>
            <a:r>
              <a:rPr lang="en-US" sz="1000" b="1" dirty="0">
                <a:solidFill>
                  <a:srgbClr val="1A1B26"/>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7205472" y="3986784"/>
            <a:ext cx="5120640" cy="365760"/>
          </a:xfrm>
          <a:prstGeom prst="rect">
            <a:avLst/>
          </a:prstGeom>
          <a:noFill/>
          <a:ln/>
        </p:spPr>
        <p:txBody>
          <a:bodyPr wrap="square" lIns="0" tIns="0" rIns="0" bIns="0" rtlCol="0" anchor="ctr"/>
          <a:lstStyle/>
          <a:p>
            <a:pPr indent="0" marL="0">
              <a:buNone/>
            </a:pPr>
            <a:r>
              <a:rPr lang="en-US" sz="1150" dirty="0">
                <a:solidFill>
                  <a:srgbClr val="C6CEF0"/>
                </a:solidFill>
                <a:latin typeface="Calibri" pitchFamily="34" charset="0"/>
                <a:ea typeface="Calibri" pitchFamily="34" charset="-122"/>
                <a:cs typeface="Calibri" pitchFamily="34" charset="-120"/>
              </a:rPr>
              <a:t>Yayın geldiğinde Custom Event otomatik çalışır</a:t>
            </a:r>
            <a:endParaRPr lang="en-US" sz="1150" dirty="0"/>
          </a:p>
        </p:txBody>
      </p:sp>
      <p:sp>
        <p:nvSpPr>
          <p:cNvPr id="28" name="Shape 26"/>
          <p:cNvSpPr/>
          <p:nvPr/>
        </p:nvSpPr>
        <p:spPr>
          <a:xfrm>
            <a:off x="566928" y="4718304"/>
            <a:ext cx="11057839" cy="950976"/>
          </a:xfrm>
          <a:prstGeom prst="roundRect">
            <a:avLst>
              <a:gd name="adj" fmla="val 7692"/>
            </a:avLst>
          </a:prstGeom>
          <a:solidFill>
            <a:srgbClr val="242938"/>
          </a:solidFill>
          <a:ln w="12700">
            <a:solidFill>
              <a:srgbClr val="2A3042"/>
            </a:solidFill>
            <a:prstDash val="solid"/>
          </a:ln>
        </p:spPr>
      </p:sp>
      <p:sp>
        <p:nvSpPr>
          <p:cNvPr id="29" name="Text 27"/>
          <p:cNvSpPr/>
          <p:nvPr/>
        </p:nvSpPr>
        <p:spPr>
          <a:xfrm>
            <a:off x="786384" y="4882896"/>
            <a:ext cx="10618927" cy="365760"/>
          </a:xfrm>
          <a:prstGeom prst="rect">
            <a:avLst/>
          </a:prstGeom>
          <a:noFill/>
          <a:ln/>
        </p:spPr>
        <p:txBody>
          <a:bodyPr wrap="square" lIns="0" tIns="0" rIns="0" bIns="0" rtlCol="0" anchor="ctr"/>
          <a:lstStyle/>
          <a:p>
            <a:pPr algn="l" indent="0" marL="0">
              <a:buNone/>
            </a:pPr>
            <a:r>
              <a:rPr lang="en-US" sz="1400" b="1" dirty="0">
                <a:solidFill>
                  <a:srgbClr val="E0AF68"/>
                </a:solidFill>
                <a:latin typeface="Calibri" pitchFamily="34" charset="0"/>
                <a:ea typeface="Calibri" pitchFamily="34" charset="-122"/>
                <a:cs typeface="Calibri" pitchFamily="34" charset="-120"/>
              </a:rPr>
              <a:t>Kritik nokta</a:t>
            </a:r>
            <a:endParaRPr lang="en-US" sz="1400" dirty="0"/>
          </a:p>
        </p:txBody>
      </p:sp>
      <p:sp>
        <p:nvSpPr>
          <p:cNvPr id="30" name="Text 28"/>
          <p:cNvSpPr/>
          <p:nvPr/>
        </p:nvSpPr>
        <p:spPr>
          <a:xfrm>
            <a:off x="786384" y="5303520"/>
            <a:ext cx="10618927" cy="21945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Delegate hangi sınıfta tanımlıysa dinleme de o sınıfın referansı üzerinden yapılır. Karakterin kendisinde tanımlıysa Blueprint'te doğrudan self üzerinden erişilir; bir component'te tanımlıysa önce component referansı grafiğe sürüklenir.</a:t>
            </a:r>
            <a:endParaRPr lang="en-US" sz="1200" dirty="0"/>
          </a:p>
        </p:txBody>
      </p:sp>
      <p:sp>
        <p:nvSpPr>
          <p:cNvPr id="31" name="Text 29"/>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18</a:t>
            </a:r>
            <a:endParaRPr lang="en-US" sz="1000" dirty="0"/>
          </a:p>
        </p:txBody>
      </p:sp>
      <p:sp>
        <p:nvSpPr>
          <p:cNvPr id="32" name="Text 30"/>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03 / dinleme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Zamanlama Tuzağı: BeginPlay Sırası</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Doğru yazılmış kodun sessizce çalışmamasının nedeni</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F7768E"/>
                </a:solidFill>
                <a:latin typeface="Courier New" pitchFamily="34" charset="0"/>
                <a:ea typeface="Courier New" pitchFamily="34" charset="-122"/>
                <a:cs typeface="Courier New" pitchFamily="34" charset="-120"/>
              </a:rPr>
              <a:t>03 / TUZAK</a:t>
            </a:r>
            <a:endParaRPr lang="en-US" sz="1000" dirty="0"/>
          </a:p>
        </p:txBody>
      </p:sp>
      <p:sp>
        <p:nvSpPr>
          <p:cNvPr id="5" name="Shape 3"/>
          <p:cNvSpPr/>
          <p:nvPr/>
        </p:nvSpPr>
        <p:spPr>
          <a:xfrm>
            <a:off x="566928" y="1481328"/>
            <a:ext cx="5806440" cy="2011680"/>
          </a:xfrm>
          <a:prstGeom prst="roundRect">
            <a:avLst>
              <a:gd name="adj" fmla="val 3636"/>
            </a:avLst>
          </a:prstGeom>
          <a:solidFill>
            <a:srgbClr val="242938"/>
          </a:solidFill>
          <a:ln w="19050">
            <a:solidFill>
              <a:srgbClr val="F7768E"/>
            </a:solidFill>
            <a:prstDash val="solid"/>
          </a:ln>
        </p:spPr>
      </p:sp>
      <p:sp>
        <p:nvSpPr>
          <p:cNvPr id="6" name="Text 4"/>
          <p:cNvSpPr/>
          <p:nvPr/>
        </p:nvSpPr>
        <p:spPr>
          <a:xfrm>
            <a:off x="786384" y="1609344"/>
            <a:ext cx="5367528" cy="274320"/>
          </a:xfrm>
          <a:prstGeom prst="rect">
            <a:avLst/>
          </a:prstGeom>
          <a:noFill/>
          <a:ln/>
        </p:spPr>
        <p:txBody>
          <a:bodyPr wrap="square" lIns="0" tIns="0" rIns="0" bIns="0" rtlCol="0" anchor="ctr"/>
          <a:lstStyle/>
          <a:p>
            <a:pPr indent="0" marL="0">
              <a:buNone/>
            </a:pPr>
            <a:r>
              <a:rPr lang="en-US" sz="1300" b="1" dirty="0">
                <a:solidFill>
                  <a:srgbClr val="F7768E"/>
                </a:solidFill>
                <a:latin typeface="Calibri" pitchFamily="34" charset="0"/>
                <a:ea typeface="Calibri" pitchFamily="34" charset="-122"/>
                <a:cs typeface="Calibri" pitchFamily="34" charset="-120"/>
              </a:rPr>
              <a:t>HATALI SIRA</a:t>
            </a:r>
            <a:endParaRPr lang="en-US" sz="1300" dirty="0"/>
          </a:p>
        </p:txBody>
      </p:sp>
      <p:sp>
        <p:nvSpPr>
          <p:cNvPr id="7" name="Text 5"/>
          <p:cNvSpPr/>
          <p:nvPr/>
        </p:nvSpPr>
        <p:spPr>
          <a:xfrm>
            <a:off x="786384" y="1975104"/>
            <a:ext cx="5367528" cy="1371600"/>
          </a:xfrm>
          <a:prstGeom prst="rect">
            <a:avLst/>
          </a:prstGeom>
          <a:noFill/>
          <a:ln/>
        </p:spPr>
        <p:txBody>
          <a:bodyPr wrap="square" lIns="0" tIns="0" rIns="0" bIns="0" rtlCol="0" anchor="t"/>
          <a:lstStyle/>
          <a:p>
            <a:pPr algn="l" marL="342900" indent="-342900">
              <a:spcAft>
                <a:spcPts val="700"/>
              </a:spcAft>
              <a:buSzPct val="100000"/>
              <a:buChar char="▪"/>
            </a:pPr>
            <a:r>
              <a:rPr lang="en-US" sz="1200" dirty="0">
                <a:solidFill>
                  <a:srgbClr val="C6CEF0"/>
                </a:solidFill>
                <a:latin typeface="Calibri" pitchFamily="34" charset="0"/>
                <a:ea typeface="Calibri" pitchFamily="34" charset="-122"/>
                <a:cs typeface="Calibri" pitchFamily="34" charset="-120"/>
              </a:rPr>
              <a:t>C++ BeginPlay çalışır → Broadcast yapılır</a:t>
            </a:r>
            <a:endParaRPr lang="en-US" sz="1200" dirty="0"/>
          </a:p>
          <a:p>
            <a:pPr algn="l" marL="342900" indent="-342900">
              <a:spcAft>
                <a:spcPts val="700"/>
              </a:spcAft>
              <a:buSzPct val="100000"/>
              <a:buChar char="▪"/>
            </a:pPr>
            <a:r>
              <a:rPr lang="en-US" sz="1200" dirty="0">
                <a:solidFill>
                  <a:srgbClr val="C6CEF0"/>
                </a:solidFill>
                <a:latin typeface="Calibri" pitchFamily="34" charset="0"/>
                <a:ea typeface="Calibri" pitchFamily="34" charset="-122"/>
                <a:cs typeface="Calibri" pitchFamily="34" charset="-120"/>
              </a:rPr>
              <a:t>Blueprint BeginPlay çalışır → Bind yapılır</a:t>
            </a:r>
            <a:endParaRPr lang="en-US" sz="1200" dirty="0"/>
          </a:p>
          <a:p>
            <a:pPr algn="l" marL="342900" indent="-342900">
              <a:spcAft>
                <a:spcPts val="700"/>
              </a:spcAft>
              <a:buSzPct val="100000"/>
              <a:buChar char="▪"/>
            </a:pPr>
            <a:r>
              <a:rPr lang="en-US" sz="1200" dirty="0">
                <a:solidFill>
                  <a:srgbClr val="C6CEF0"/>
                </a:solidFill>
                <a:latin typeface="Calibri" pitchFamily="34" charset="0"/>
                <a:ea typeface="Calibri" pitchFamily="34" charset="-122"/>
                <a:cs typeface="Calibri" pitchFamily="34" charset="-120"/>
              </a:rPr>
              <a:t>Yayın çoktan geçmiştir, dinleyici hiç tetiklenmez</a:t>
            </a:r>
            <a:endParaRPr lang="en-US" sz="1200" dirty="0"/>
          </a:p>
        </p:txBody>
      </p:sp>
      <p:sp>
        <p:nvSpPr>
          <p:cNvPr id="8" name="Shape 6"/>
          <p:cNvSpPr/>
          <p:nvPr/>
        </p:nvSpPr>
        <p:spPr>
          <a:xfrm>
            <a:off x="6647688" y="1481328"/>
            <a:ext cx="5806440" cy="2011680"/>
          </a:xfrm>
          <a:prstGeom prst="roundRect">
            <a:avLst>
              <a:gd name="adj" fmla="val 3636"/>
            </a:avLst>
          </a:prstGeom>
          <a:solidFill>
            <a:srgbClr val="242938"/>
          </a:solidFill>
          <a:ln w="19050">
            <a:solidFill>
              <a:srgbClr val="9ECE6A"/>
            </a:solidFill>
            <a:prstDash val="solid"/>
          </a:ln>
        </p:spPr>
      </p:sp>
      <p:sp>
        <p:nvSpPr>
          <p:cNvPr id="9" name="Text 7"/>
          <p:cNvSpPr/>
          <p:nvPr/>
        </p:nvSpPr>
        <p:spPr>
          <a:xfrm>
            <a:off x="6867144" y="1609344"/>
            <a:ext cx="5367528" cy="274320"/>
          </a:xfrm>
          <a:prstGeom prst="rect">
            <a:avLst/>
          </a:prstGeom>
          <a:noFill/>
          <a:ln/>
        </p:spPr>
        <p:txBody>
          <a:bodyPr wrap="square" lIns="0" tIns="0" rIns="0" bIns="0" rtlCol="0" anchor="ctr"/>
          <a:lstStyle/>
          <a:p>
            <a:pPr indent="0" marL="0">
              <a:buNone/>
            </a:pPr>
            <a:r>
              <a:rPr lang="en-US" sz="1300" b="1" dirty="0">
                <a:solidFill>
                  <a:srgbClr val="9ECE6A"/>
                </a:solidFill>
                <a:latin typeface="Calibri" pitchFamily="34" charset="0"/>
                <a:ea typeface="Calibri" pitchFamily="34" charset="-122"/>
                <a:cs typeface="Calibri" pitchFamily="34" charset="-120"/>
              </a:rPr>
              <a:t>DOĞRU SIRA</a:t>
            </a:r>
            <a:endParaRPr lang="en-US" sz="1300" dirty="0"/>
          </a:p>
        </p:txBody>
      </p:sp>
      <p:sp>
        <p:nvSpPr>
          <p:cNvPr id="10" name="Text 8"/>
          <p:cNvSpPr/>
          <p:nvPr/>
        </p:nvSpPr>
        <p:spPr>
          <a:xfrm>
            <a:off x="6867144" y="1975104"/>
            <a:ext cx="5367528" cy="1371600"/>
          </a:xfrm>
          <a:prstGeom prst="rect">
            <a:avLst/>
          </a:prstGeom>
          <a:noFill/>
          <a:ln/>
        </p:spPr>
        <p:txBody>
          <a:bodyPr wrap="square" lIns="0" tIns="0" rIns="0" bIns="0" rtlCol="0" anchor="t"/>
          <a:lstStyle/>
          <a:p>
            <a:pPr algn="l" marL="342900" indent="-342900">
              <a:spcAft>
                <a:spcPts val="700"/>
              </a:spcAft>
              <a:buSzPct val="100000"/>
              <a:buChar char="▪"/>
            </a:pPr>
            <a:r>
              <a:rPr lang="en-US" sz="1200" dirty="0">
                <a:solidFill>
                  <a:srgbClr val="C6CEF0"/>
                </a:solidFill>
                <a:latin typeface="Calibri" pitchFamily="34" charset="0"/>
                <a:ea typeface="Calibri" pitchFamily="34" charset="-122"/>
                <a:cs typeface="Calibri" pitchFamily="34" charset="-120"/>
              </a:rPr>
              <a:t>C++ BeginPlay çalışır → zamanlayıcı kurulur</a:t>
            </a:r>
            <a:endParaRPr lang="en-US" sz="1200" dirty="0"/>
          </a:p>
          <a:p>
            <a:pPr algn="l" marL="342900" indent="-342900">
              <a:spcAft>
                <a:spcPts val="700"/>
              </a:spcAft>
              <a:buSzPct val="100000"/>
              <a:buChar char="▪"/>
            </a:pPr>
            <a:r>
              <a:rPr lang="en-US" sz="1200" dirty="0">
                <a:solidFill>
                  <a:srgbClr val="C6CEF0"/>
                </a:solidFill>
                <a:latin typeface="Calibri" pitchFamily="34" charset="0"/>
                <a:ea typeface="Calibri" pitchFamily="34" charset="-122"/>
                <a:cs typeface="Calibri" pitchFamily="34" charset="-120"/>
              </a:rPr>
              <a:t>Blueprint BeginPlay çalışır → Bind tamamlanır</a:t>
            </a:r>
            <a:endParaRPr lang="en-US" sz="1200" dirty="0"/>
          </a:p>
          <a:p>
            <a:pPr algn="l" marL="342900" indent="-342900">
              <a:spcAft>
                <a:spcPts val="700"/>
              </a:spcAft>
              <a:buSzPct val="100000"/>
              <a:buChar char="▪"/>
            </a:pPr>
            <a:r>
              <a:rPr lang="en-US" sz="1200" dirty="0">
                <a:solidFill>
                  <a:srgbClr val="C6CEF0"/>
                </a:solidFill>
                <a:latin typeface="Calibri" pitchFamily="34" charset="0"/>
                <a:ea typeface="Calibri" pitchFamily="34" charset="-122"/>
                <a:cs typeface="Calibri" pitchFamily="34" charset="-120"/>
              </a:rPr>
              <a:t>Süre dolar → Broadcast yapılır, dinleyici yakalar</a:t>
            </a:r>
            <a:endParaRPr lang="en-US" sz="1200" dirty="0"/>
          </a:p>
        </p:txBody>
      </p:sp>
      <p:sp>
        <p:nvSpPr>
          <p:cNvPr id="11" name="Shape 9"/>
          <p:cNvSpPr/>
          <p:nvPr/>
        </p:nvSpPr>
        <p:spPr>
          <a:xfrm>
            <a:off x="566928" y="3712464"/>
            <a:ext cx="11057839" cy="1975104"/>
          </a:xfrm>
          <a:prstGeom prst="roundRect">
            <a:avLst>
              <a:gd name="adj" fmla="val 2778"/>
            </a:avLst>
          </a:prstGeom>
          <a:solidFill>
            <a:srgbClr val="13141C"/>
          </a:solidFill>
          <a:ln w="12700">
            <a:solidFill>
              <a:srgbClr val="2A3042"/>
            </a:solidFill>
            <a:prstDash val="solid"/>
          </a:ln>
        </p:spPr>
      </p:sp>
      <p:sp>
        <p:nvSpPr>
          <p:cNvPr id="12" name="Text 10"/>
          <p:cNvSpPr/>
          <p:nvPr/>
        </p:nvSpPr>
        <p:spPr>
          <a:xfrm>
            <a:off x="713232" y="3776472"/>
            <a:ext cx="10765231"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ÇÖZÜM — GECİKMELİ YAYIN</a:t>
            </a:r>
            <a:endParaRPr lang="en-US" sz="900" dirty="0"/>
          </a:p>
        </p:txBody>
      </p:sp>
      <p:sp>
        <p:nvSpPr>
          <p:cNvPr id="13" name="Text 11"/>
          <p:cNvSpPr/>
          <p:nvPr/>
        </p:nvSpPr>
        <p:spPr>
          <a:xfrm>
            <a:off x="713232" y="4005072"/>
            <a:ext cx="10765231" cy="1572768"/>
          </a:xfrm>
          <a:prstGeom prst="rect">
            <a:avLst/>
          </a:prstGeom>
          <a:noFill/>
          <a:ln/>
        </p:spPr>
        <p:txBody>
          <a:bodyPr wrap="square" lIns="0" tIns="0" rIns="0" bIns="0" rtlCol="0" anchor="t"/>
          <a:lstStyle/>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void AAI_CharacterCpp::BeginPlay()</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Super::BeginPlay();</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 Yayını hemen yapma. Blueprint tarafının bağlanmasını bekle.</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 false parametresi: tek sefer çalışır, tekrarlamaz.</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GetWorldTimerManager().SetTimer(GecikmeTimer, this,</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&amp;AAI_CharacterCpp::GecikmeliTetikle, 1.f, false);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void AAI_CharacterCpp::GecikmeliTetikle()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ZamanDelegate.Broadcast(Zaman);   </a:t>
            </a:r>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artık dinleyici hazır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p:txBody>
      </p:sp>
      <p:sp>
        <p:nvSpPr>
          <p:cNvPr id="15"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19</a:t>
            </a:r>
            <a:endParaRPr lang="en-US" sz="1000" dirty="0"/>
          </a:p>
        </p:txBody>
      </p:sp>
      <p:sp>
        <p:nvSpPr>
          <p:cNvPr id="16"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03 / zamanlama</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Uygulama: Geri Sayım Sayacı</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Delegate ve zamanlayıcı ile arayüze veri akışı</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BB9AF7"/>
                </a:solidFill>
                <a:latin typeface="Courier New" pitchFamily="34" charset="0"/>
                <a:ea typeface="Courier New" pitchFamily="34" charset="-122"/>
                <a:cs typeface="Courier New" pitchFamily="34" charset="-120"/>
              </a:rPr>
              <a:t>03 / UYGULAMA</a:t>
            </a:r>
            <a:endParaRPr lang="en-US" sz="1000" dirty="0"/>
          </a:p>
        </p:txBody>
      </p:sp>
      <p:sp>
        <p:nvSpPr>
          <p:cNvPr id="5" name="Shape 3"/>
          <p:cNvSpPr/>
          <p:nvPr/>
        </p:nvSpPr>
        <p:spPr>
          <a:xfrm>
            <a:off x="566928" y="1481328"/>
            <a:ext cx="7223760" cy="4206240"/>
          </a:xfrm>
          <a:prstGeom prst="roundRect">
            <a:avLst>
              <a:gd name="adj" fmla="val 1304"/>
            </a:avLst>
          </a:prstGeom>
          <a:solidFill>
            <a:srgbClr val="13141C"/>
          </a:solidFill>
          <a:ln w="12700">
            <a:solidFill>
              <a:srgbClr val="2A3042"/>
            </a:solidFill>
            <a:prstDash val="solid"/>
          </a:ln>
        </p:spPr>
      </p:sp>
      <p:sp>
        <p:nvSpPr>
          <p:cNvPr id="6" name="Text 4"/>
          <p:cNvSpPr/>
          <p:nvPr/>
        </p:nvSpPr>
        <p:spPr>
          <a:xfrm>
            <a:off x="713232" y="1545336"/>
            <a:ext cx="693115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AI_CharacterCpp.cpp</a:t>
            </a:r>
            <a:endParaRPr lang="en-US" sz="900" dirty="0"/>
          </a:p>
        </p:txBody>
      </p:sp>
      <p:sp>
        <p:nvSpPr>
          <p:cNvPr id="7" name="Text 5"/>
          <p:cNvSpPr/>
          <p:nvPr/>
        </p:nvSpPr>
        <p:spPr>
          <a:xfrm>
            <a:off x="713232" y="1773936"/>
            <a:ext cx="6931152" cy="3803904"/>
          </a:xfrm>
          <a:prstGeom prst="rect">
            <a:avLst/>
          </a:prstGeom>
          <a:noFill/>
          <a:ln/>
        </p:spPr>
        <p:txBody>
          <a:bodyPr wrap="square" lIns="0" tIns="0" rIns="0" bIns="0" rtlCol="0" anchor="t"/>
          <a:lstStyle/>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void AAI_CharacterCpp::GecikmeliTetikle()</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a:t>
            </a:r>
            <a:endParaRPr lang="en-US" sz="1050" dirty="0"/>
          </a:p>
          <a:p>
            <a:pPr algn="l" indent="0" marL="0">
              <a:lnSpc>
                <a:spcPct val="112000"/>
              </a:lnSpc>
              <a:buNone/>
            </a:pPr>
            <a:r>
              <a:rPr lang="en-US" sz="1050" dirty="0">
                <a:solidFill>
                  <a:srgbClr val="6B7396"/>
                </a:solidFill>
                <a:latin typeface="Courier New" pitchFamily="34" charset="0"/>
                <a:ea typeface="Courier New" pitchFamily="34" charset="-122"/>
                <a:cs typeface="Courier New" pitchFamily="34" charset="-120"/>
              </a:rPr>
              <a:t>    // Başlangıç değerini bir kez yayınla</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ZamanDelegate.Broadcast(Zaman);</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a:t>
            </a:r>
            <a:endParaRPr lang="en-US" sz="1050" dirty="0"/>
          </a:p>
          <a:p>
            <a:pPr algn="l" indent="0" marL="0">
              <a:lnSpc>
                <a:spcPct val="112000"/>
              </a:lnSpc>
              <a:buNone/>
            </a:pPr>
            <a:r>
              <a:rPr lang="en-US" sz="1050" dirty="0">
                <a:solidFill>
                  <a:srgbClr val="6B7396"/>
                </a:solidFill>
                <a:latin typeface="Courier New" pitchFamily="34" charset="0"/>
                <a:ea typeface="Courier New" pitchFamily="34" charset="-122"/>
                <a:cs typeface="Courier New" pitchFamily="34" charset="-120"/>
              </a:rPr>
              <a:t>    // true parametresi: TEKRARLAYAN zamanlayıcı.</a:t>
            </a:r>
            <a:endParaRPr lang="en-US" sz="1050" dirty="0"/>
          </a:p>
          <a:p>
            <a:pPr algn="l" indent="0" marL="0">
              <a:lnSpc>
                <a:spcPct val="112000"/>
              </a:lnSpc>
              <a:buNone/>
            </a:pPr>
            <a:r>
              <a:rPr lang="en-US" sz="1050" dirty="0">
                <a:solidFill>
                  <a:srgbClr val="6B7396"/>
                </a:solidFill>
                <a:latin typeface="Courier New" pitchFamily="34" charset="0"/>
                <a:ea typeface="Courier New" pitchFamily="34" charset="-122"/>
                <a:cs typeface="Courier New" pitchFamily="34" charset="-120"/>
              </a:rPr>
              <a:t>    // Her saniye SaniyeGecti() otomatik çağrılır.</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GetWorldTimerManager().SetTimer(SayacTimer, this,</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&amp;AAI_CharacterCpp::SaniyeGecti, 1.f, true);</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void AAI_CharacterCpp::SaniyeGecti()</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Zaman--;                        </a:t>
            </a:r>
            <a:pPr algn="l" indent="0" marL="0">
              <a:lnSpc>
                <a:spcPct val="112000"/>
              </a:lnSpc>
              <a:buNone/>
            </a:pPr>
            <a:r>
              <a:rPr lang="en-US" sz="1050" dirty="0">
                <a:solidFill>
                  <a:srgbClr val="6B7396"/>
                </a:solidFill>
                <a:latin typeface="Courier New" pitchFamily="34" charset="0"/>
                <a:ea typeface="Courier New" pitchFamily="34" charset="-122"/>
                <a:cs typeface="Courier New" pitchFamily="34" charset="-120"/>
              </a:rPr>
              <a:t>// süreyi azalt</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ZamanDelegate.Broadcast(Zaman); </a:t>
            </a:r>
            <a:pPr algn="l" indent="0" marL="0">
              <a:lnSpc>
                <a:spcPct val="112000"/>
              </a:lnSpc>
              <a:buNone/>
            </a:pPr>
            <a:r>
              <a:rPr lang="en-US" sz="1050" dirty="0">
                <a:solidFill>
                  <a:srgbClr val="6B7396"/>
                </a:solidFill>
                <a:latin typeface="Courier New" pitchFamily="34" charset="0"/>
                <a:ea typeface="Courier New" pitchFamily="34" charset="-122"/>
                <a:cs typeface="Courier New" pitchFamily="34" charset="-120"/>
              </a:rPr>
              <a:t>// yeni değeri yayınla</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a:t>
            </a:r>
            <a:endParaRPr lang="en-US" sz="1050" dirty="0"/>
          </a:p>
          <a:p>
            <a:pPr algn="l" indent="0" marL="0">
              <a:lnSpc>
                <a:spcPct val="112000"/>
              </a:lnSpc>
              <a:buNone/>
            </a:pPr>
            <a:r>
              <a:rPr lang="en-US" sz="1050" dirty="0">
                <a:solidFill>
                  <a:srgbClr val="6B7396"/>
                </a:solidFill>
                <a:latin typeface="Courier New" pitchFamily="34" charset="0"/>
                <a:ea typeface="Courier New" pitchFamily="34" charset="-122"/>
                <a:cs typeface="Courier New" pitchFamily="34" charset="-120"/>
              </a:rPr>
              <a:t>    // Durdurulmazsa eksiye doğru sonsuza kadar sayar.</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if (Zaman &lt;= 0)</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GetWorldTimerManager().ClearTimer(SayacTimer);</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    }</a:t>
            </a:r>
            <a:endParaRPr lang="en-US" sz="1050" dirty="0"/>
          </a:p>
          <a:p>
            <a:pPr algn="l" indent="0" marL="0">
              <a:lnSpc>
                <a:spcPct val="112000"/>
              </a:lnSpc>
              <a:buNone/>
            </a:pPr>
            <a:r>
              <a:rPr lang="en-US" sz="1050" dirty="0">
                <a:solidFill>
                  <a:srgbClr val="C6CEF0"/>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8065008" y="1481328"/>
            <a:ext cx="3559759" cy="1298448"/>
          </a:xfrm>
          <a:prstGeom prst="roundRect">
            <a:avLst>
              <a:gd name="adj" fmla="val 5634"/>
            </a:avLst>
          </a:prstGeom>
          <a:solidFill>
            <a:srgbClr val="242938"/>
          </a:solidFill>
          <a:ln w="12700">
            <a:solidFill>
              <a:srgbClr val="2A3042"/>
            </a:solidFill>
            <a:prstDash val="solid"/>
          </a:ln>
        </p:spPr>
      </p:sp>
      <p:sp>
        <p:nvSpPr>
          <p:cNvPr id="9" name="Text 7"/>
          <p:cNvSpPr/>
          <p:nvPr/>
        </p:nvSpPr>
        <p:spPr>
          <a:xfrm>
            <a:off x="8284464" y="1645920"/>
            <a:ext cx="3120847" cy="365760"/>
          </a:xfrm>
          <a:prstGeom prst="rect">
            <a:avLst/>
          </a:prstGeom>
          <a:noFill/>
          <a:ln/>
        </p:spPr>
        <p:txBody>
          <a:bodyPr wrap="square" lIns="0" tIns="0" rIns="0" bIns="0" rtlCol="0" anchor="ctr"/>
          <a:lstStyle/>
          <a:p>
            <a:pPr algn="l" indent="0" marL="0">
              <a:buNone/>
            </a:pPr>
            <a:r>
              <a:rPr lang="en-US" sz="1300" b="1" dirty="0">
                <a:solidFill>
                  <a:srgbClr val="E0AF68"/>
                </a:solidFill>
                <a:latin typeface="Calibri" pitchFamily="34" charset="0"/>
                <a:ea typeface="Calibri" pitchFamily="34" charset="-122"/>
                <a:cs typeface="Calibri" pitchFamily="34" charset="-120"/>
              </a:rPr>
              <a:t>İki ayrı handle</a:t>
            </a:r>
            <a:endParaRPr lang="en-US" sz="1300" dirty="0"/>
          </a:p>
        </p:txBody>
      </p:sp>
      <p:sp>
        <p:nvSpPr>
          <p:cNvPr id="10" name="Text 8"/>
          <p:cNvSpPr/>
          <p:nvPr/>
        </p:nvSpPr>
        <p:spPr>
          <a:xfrm>
            <a:off x="8284464" y="2066544"/>
            <a:ext cx="3120847" cy="566928"/>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Gecikme ve geri sayım farklı FTimerHandle kullanır. Aynı handle ile kurulan ikinci zamanlayıcı birinciyi ezer.</a:t>
            </a:r>
            <a:endParaRPr lang="en-US" sz="1100" dirty="0"/>
          </a:p>
        </p:txBody>
      </p:sp>
      <p:sp>
        <p:nvSpPr>
          <p:cNvPr id="11" name="Shape 9"/>
          <p:cNvSpPr/>
          <p:nvPr/>
        </p:nvSpPr>
        <p:spPr>
          <a:xfrm>
            <a:off x="8065008" y="2926080"/>
            <a:ext cx="3559759" cy="1298448"/>
          </a:xfrm>
          <a:prstGeom prst="roundRect">
            <a:avLst>
              <a:gd name="adj" fmla="val 5634"/>
            </a:avLst>
          </a:prstGeom>
          <a:solidFill>
            <a:srgbClr val="242938"/>
          </a:solidFill>
          <a:ln w="12700">
            <a:solidFill>
              <a:srgbClr val="2A3042"/>
            </a:solidFill>
            <a:prstDash val="solid"/>
          </a:ln>
        </p:spPr>
      </p:sp>
      <p:sp>
        <p:nvSpPr>
          <p:cNvPr id="12" name="Text 10"/>
          <p:cNvSpPr/>
          <p:nvPr/>
        </p:nvSpPr>
        <p:spPr>
          <a:xfrm>
            <a:off x="8284464" y="3090672"/>
            <a:ext cx="3120847" cy="365760"/>
          </a:xfrm>
          <a:prstGeom prst="rect">
            <a:avLst/>
          </a:prstGeom>
          <a:noFill/>
          <a:ln/>
        </p:spPr>
        <p:txBody>
          <a:bodyPr wrap="square" lIns="0" tIns="0" rIns="0" bIns="0" rtlCol="0" anchor="ctr"/>
          <a:lstStyle/>
          <a:p>
            <a:pPr algn="l" indent="0" marL="0">
              <a:buNone/>
            </a:pPr>
            <a:r>
              <a:rPr lang="en-US" sz="1300" b="1" dirty="0">
                <a:solidFill>
                  <a:srgbClr val="7DCFFF"/>
                </a:solidFill>
                <a:latin typeface="Calibri" pitchFamily="34" charset="0"/>
                <a:ea typeface="Calibri" pitchFamily="34" charset="-122"/>
                <a:cs typeface="Calibri" pitchFamily="34" charset="-120"/>
              </a:rPr>
              <a:t>Son parametre davranışı belirler</a:t>
            </a:r>
            <a:endParaRPr lang="en-US" sz="1300" dirty="0"/>
          </a:p>
        </p:txBody>
      </p:sp>
      <p:sp>
        <p:nvSpPr>
          <p:cNvPr id="13" name="Text 11"/>
          <p:cNvSpPr/>
          <p:nvPr/>
        </p:nvSpPr>
        <p:spPr>
          <a:xfrm>
            <a:off x="8284464" y="3511296"/>
            <a:ext cx="3120847" cy="566928"/>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false değeri tek seferlik, true değeri tekrarlayan zamanlayıcı üretir.</a:t>
            </a:r>
            <a:endParaRPr lang="en-US" sz="1100" dirty="0"/>
          </a:p>
        </p:txBody>
      </p:sp>
      <p:sp>
        <p:nvSpPr>
          <p:cNvPr id="14" name="Shape 12"/>
          <p:cNvSpPr/>
          <p:nvPr/>
        </p:nvSpPr>
        <p:spPr>
          <a:xfrm>
            <a:off x="8065008" y="4370832"/>
            <a:ext cx="3559759" cy="1298448"/>
          </a:xfrm>
          <a:prstGeom prst="roundRect">
            <a:avLst>
              <a:gd name="adj" fmla="val 5634"/>
            </a:avLst>
          </a:prstGeom>
          <a:solidFill>
            <a:srgbClr val="242938"/>
          </a:solidFill>
          <a:ln w="12700">
            <a:solidFill>
              <a:srgbClr val="2A3042"/>
            </a:solidFill>
            <a:prstDash val="solid"/>
          </a:ln>
        </p:spPr>
      </p:sp>
      <p:sp>
        <p:nvSpPr>
          <p:cNvPr id="15" name="Text 13"/>
          <p:cNvSpPr/>
          <p:nvPr/>
        </p:nvSpPr>
        <p:spPr>
          <a:xfrm>
            <a:off x="8284464" y="4535424"/>
            <a:ext cx="3120847" cy="365760"/>
          </a:xfrm>
          <a:prstGeom prst="rect">
            <a:avLst/>
          </a:prstGeom>
          <a:noFill/>
          <a:ln/>
        </p:spPr>
        <p:txBody>
          <a:bodyPr wrap="square" lIns="0" tIns="0" rIns="0" bIns="0" rtlCol="0" anchor="ctr"/>
          <a:lstStyle/>
          <a:p>
            <a:pPr algn="l" indent="0" marL="0">
              <a:buNone/>
            </a:pPr>
            <a:r>
              <a:rPr lang="en-US" sz="1300" b="1" dirty="0">
                <a:solidFill>
                  <a:srgbClr val="F7768E"/>
                </a:solidFill>
                <a:latin typeface="Calibri" pitchFamily="34" charset="0"/>
                <a:ea typeface="Calibri" pitchFamily="34" charset="-122"/>
                <a:cs typeface="Calibri" pitchFamily="34" charset="-120"/>
              </a:rPr>
              <a:t>ClearTimer unutulmamalı</a:t>
            </a:r>
            <a:endParaRPr lang="en-US" sz="1300" dirty="0"/>
          </a:p>
        </p:txBody>
      </p:sp>
      <p:sp>
        <p:nvSpPr>
          <p:cNvPr id="16" name="Text 14"/>
          <p:cNvSpPr/>
          <p:nvPr/>
        </p:nvSpPr>
        <p:spPr>
          <a:xfrm>
            <a:off x="8284464" y="4956048"/>
            <a:ext cx="3120847" cy="566928"/>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Tekrarlayan zamanlayıcı kendiliğinden durmaz; koşul sağlandığında açıkça temizlenmelidir.</a:t>
            </a:r>
            <a:endParaRPr lang="en-US" sz="1100" dirty="0"/>
          </a:p>
        </p:txBody>
      </p:sp>
      <p:sp>
        <p:nvSpPr>
          <p:cNvPr id="17" name="Text 15"/>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20</a:t>
            </a:r>
            <a:endParaRPr lang="en-US" sz="1000" dirty="0"/>
          </a:p>
        </p:txBody>
      </p:sp>
      <p:sp>
        <p:nvSpPr>
          <p:cNvPr id="18" name="Text 16"/>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03 / uygulama</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7DCFFF"/>
          </a:solidFill>
          <a:ln w="12700">
            <a:solidFill>
              <a:srgbClr val="7DCFFF"/>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04</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UMG ve Arayüz</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Arayüz tarafında C++ ile Blueprint'in buluştuğu nokta widget bağlamadır. C++ mantığı kurar, Blueprint görsel yerleşimi yapar; ikisi isim üzerinden eşleşir.</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BindWidget bağlama</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FString ve FText</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Yumuşak geçiş teknikleri</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21</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04</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BindWidget: İsimle Otomatik Bağlama</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C++ pointer'ı ile Blueprint bileşenini elle atama yapmadan eşleştirmek</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DCFFF"/>
                </a:solidFill>
                <a:latin typeface="Courier New" pitchFamily="34" charset="0"/>
                <a:ea typeface="Courier New" pitchFamily="34" charset="-122"/>
                <a:cs typeface="Courier New" pitchFamily="34" charset="-120"/>
              </a:rPr>
              <a:t>04 / UMG</a:t>
            </a:r>
            <a:endParaRPr lang="en-US" sz="1000" dirty="0"/>
          </a:p>
        </p:txBody>
      </p:sp>
      <p:sp>
        <p:nvSpPr>
          <p:cNvPr id="5" name="Shape 3"/>
          <p:cNvSpPr/>
          <p:nvPr/>
        </p:nvSpPr>
        <p:spPr>
          <a:xfrm>
            <a:off x="566928" y="1481328"/>
            <a:ext cx="6492240" cy="2286000"/>
          </a:xfrm>
          <a:prstGeom prst="roundRect">
            <a:avLst>
              <a:gd name="adj" fmla="val 2400"/>
            </a:avLst>
          </a:prstGeom>
          <a:solidFill>
            <a:srgbClr val="13141C"/>
          </a:solidFill>
          <a:ln w="12700">
            <a:solidFill>
              <a:srgbClr val="2A3042"/>
            </a:solidFill>
            <a:prstDash val="solid"/>
          </a:ln>
        </p:spPr>
      </p:sp>
      <p:sp>
        <p:nvSpPr>
          <p:cNvPr id="6" name="Text 4"/>
          <p:cNvSpPr/>
          <p:nvPr/>
        </p:nvSpPr>
        <p:spPr>
          <a:xfrm>
            <a:off x="713232" y="1545336"/>
            <a:ext cx="61996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MyUserWidget.h</a:t>
            </a:r>
            <a:endParaRPr lang="en-US" sz="900" dirty="0"/>
          </a:p>
        </p:txBody>
      </p:sp>
      <p:sp>
        <p:nvSpPr>
          <p:cNvPr id="7" name="Text 5"/>
          <p:cNvSpPr/>
          <p:nvPr/>
        </p:nvSpPr>
        <p:spPr>
          <a:xfrm>
            <a:off x="713232" y="1773936"/>
            <a:ext cx="6199632" cy="188366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meta = (BindWidget)</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Motor, bu sınıftan türeyen WBP içinde</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"MyText" ADINDA bir Text Block arar ve</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bulduğunu bu pointer'a kendisi atar.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class UTextBlock*  -&gt; satır içi forward declaration.</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Header'da include etmeden tip tanıtmanın kısa yolu.</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UPROPERTY(meta = (BindWidget))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class UTextBlock* MyText;</a:t>
            </a:r>
            <a:endParaRPr lang="en-US" sz="1100" dirty="0"/>
          </a:p>
        </p:txBody>
      </p:sp>
      <p:sp>
        <p:nvSpPr>
          <p:cNvPr id="8" name="Shape 6"/>
          <p:cNvSpPr/>
          <p:nvPr/>
        </p:nvSpPr>
        <p:spPr>
          <a:xfrm>
            <a:off x="566928" y="3913632"/>
            <a:ext cx="6492240" cy="1773936"/>
          </a:xfrm>
          <a:prstGeom prst="roundRect">
            <a:avLst>
              <a:gd name="adj" fmla="val 3093"/>
            </a:avLst>
          </a:prstGeom>
          <a:solidFill>
            <a:srgbClr val="13141C"/>
          </a:solidFill>
          <a:ln w="12700">
            <a:solidFill>
              <a:srgbClr val="2A3042"/>
            </a:solidFill>
            <a:prstDash val="solid"/>
          </a:ln>
        </p:spPr>
      </p:sp>
      <p:sp>
        <p:nvSpPr>
          <p:cNvPr id="9" name="Text 7"/>
          <p:cNvSpPr/>
          <p:nvPr/>
        </p:nvSpPr>
        <p:spPr>
          <a:xfrm>
            <a:off x="713232" y="3977640"/>
            <a:ext cx="61996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MyUserWidget.cpp</a:t>
            </a:r>
            <a:endParaRPr lang="en-US" sz="900" dirty="0"/>
          </a:p>
        </p:txBody>
      </p:sp>
      <p:sp>
        <p:nvSpPr>
          <p:cNvPr id="10" name="Text 8"/>
          <p:cNvSpPr/>
          <p:nvPr/>
        </p:nvSpPr>
        <p:spPr>
          <a:xfrm>
            <a:off x="713232" y="4206240"/>
            <a:ext cx="6199632" cy="1371600"/>
          </a:xfrm>
          <a:prstGeom prst="rect">
            <a:avLst/>
          </a:prstGeom>
          <a:noFill/>
          <a:ln/>
        </p:spPr>
        <p:txBody>
          <a:bodyPr wrap="square" lIns="0" tIns="0" rIns="0" bIns="0" rtlCol="0" anchor="t"/>
          <a:lstStyle/>
          <a:p>
            <a:pPr algn="l" indent="0" marL="0">
              <a:lnSpc>
                <a:spcPct val="112000"/>
              </a:lnSpc>
              <a:buNone/>
            </a:pPr>
            <a:r>
              <a:rPr lang="en-US" sz="1100" dirty="0">
                <a:solidFill>
                  <a:srgbClr val="BB9AF7"/>
                </a:solidFill>
                <a:latin typeface="Courier New" pitchFamily="34" charset="0"/>
                <a:ea typeface="Courier New" pitchFamily="34" charset="-122"/>
                <a:cs typeface="Courier New" pitchFamily="34" charset="-120"/>
              </a:rPr>
              <a:t>#include "Components/TextBlock.h"   // gerçek include burada</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void UMyUserWidget::NativeConstruct()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Super::NativeConstruct();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if (MyText) { /* güvenli kullanım */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7333488" y="1481328"/>
            <a:ext cx="4291279" cy="1298448"/>
          </a:xfrm>
          <a:prstGeom prst="roundRect">
            <a:avLst>
              <a:gd name="adj" fmla="val 5634"/>
            </a:avLst>
          </a:prstGeom>
          <a:solidFill>
            <a:srgbClr val="242938"/>
          </a:solidFill>
          <a:ln w="12700">
            <a:solidFill>
              <a:srgbClr val="2A3042"/>
            </a:solidFill>
            <a:prstDash val="solid"/>
          </a:ln>
        </p:spPr>
      </p:sp>
      <p:sp>
        <p:nvSpPr>
          <p:cNvPr id="12" name="Text 10"/>
          <p:cNvSpPr/>
          <p:nvPr/>
        </p:nvSpPr>
        <p:spPr>
          <a:xfrm>
            <a:off x="7552944" y="1645920"/>
            <a:ext cx="3852367" cy="365760"/>
          </a:xfrm>
          <a:prstGeom prst="rect">
            <a:avLst/>
          </a:prstGeom>
          <a:noFill/>
          <a:ln/>
        </p:spPr>
        <p:txBody>
          <a:bodyPr wrap="square" lIns="0" tIns="0" rIns="0" bIns="0" rtlCol="0" anchor="ctr"/>
          <a:lstStyle/>
          <a:p>
            <a:pPr algn="l" indent="0" marL="0">
              <a:buNone/>
            </a:pPr>
            <a:r>
              <a:rPr lang="en-US" sz="1300" b="1" dirty="0">
                <a:solidFill>
                  <a:srgbClr val="F7768E"/>
                </a:solidFill>
                <a:latin typeface="Calibri" pitchFamily="34" charset="0"/>
                <a:ea typeface="Calibri" pitchFamily="34" charset="-122"/>
                <a:cs typeface="Calibri" pitchFamily="34" charset="-120"/>
              </a:rPr>
              <a:t>İsim birebir eşleşmelidir</a:t>
            </a:r>
            <a:endParaRPr lang="en-US" sz="1300" dirty="0"/>
          </a:p>
        </p:txBody>
      </p:sp>
      <p:sp>
        <p:nvSpPr>
          <p:cNvPr id="13" name="Text 11"/>
          <p:cNvSpPr/>
          <p:nvPr/>
        </p:nvSpPr>
        <p:spPr>
          <a:xfrm>
            <a:off x="7552944" y="2066544"/>
            <a:ext cx="3852367" cy="566928"/>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WBP içindeki bileşenin adı C++ değişken adıyla harfi harfine aynı olmalıdır. Aksi halde Blueprint derlenmez ve eksik bağlama hatası verir.</a:t>
            </a:r>
            <a:endParaRPr lang="en-US" sz="1100" dirty="0"/>
          </a:p>
        </p:txBody>
      </p:sp>
      <p:sp>
        <p:nvSpPr>
          <p:cNvPr id="14" name="Shape 12"/>
          <p:cNvSpPr/>
          <p:nvPr/>
        </p:nvSpPr>
        <p:spPr>
          <a:xfrm>
            <a:off x="7333488" y="2926080"/>
            <a:ext cx="4291279" cy="1298448"/>
          </a:xfrm>
          <a:prstGeom prst="roundRect">
            <a:avLst>
              <a:gd name="adj" fmla="val 5634"/>
            </a:avLst>
          </a:prstGeom>
          <a:solidFill>
            <a:srgbClr val="242938"/>
          </a:solidFill>
          <a:ln w="12700">
            <a:solidFill>
              <a:srgbClr val="2A3042"/>
            </a:solidFill>
            <a:prstDash val="solid"/>
          </a:ln>
        </p:spPr>
      </p:sp>
      <p:sp>
        <p:nvSpPr>
          <p:cNvPr id="15" name="Text 13"/>
          <p:cNvSpPr/>
          <p:nvPr/>
        </p:nvSpPr>
        <p:spPr>
          <a:xfrm>
            <a:off x="7552944" y="3090672"/>
            <a:ext cx="3852367" cy="365760"/>
          </a:xfrm>
          <a:prstGeom prst="rect">
            <a:avLst/>
          </a:prstGeom>
          <a:noFill/>
          <a:ln/>
        </p:spPr>
        <p:txBody>
          <a:bodyPr wrap="square" lIns="0" tIns="0" rIns="0" bIns="0" rtlCol="0" anchor="ctr"/>
          <a:lstStyle/>
          <a:p>
            <a:pPr algn="l" indent="0" marL="0">
              <a:buNone/>
            </a:pPr>
            <a:r>
              <a:rPr lang="en-US" sz="1300" b="1" dirty="0">
                <a:solidFill>
                  <a:srgbClr val="E0AF68"/>
                </a:solidFill>
                <a:latin typeface="Calibri" pitchFamily="34" charset="0"/>
                <a:ea typeface="Calibri" pitchFamily="34" charset="-122"/>
                <a:cs typeface="Calibri" pitchFamily="34" charset="-120"/>
              </a:rPr>
              <a:t>Zorunluluk esnetilebilir</a:t>
            </a:r>
            <a:endParaRPr lang="en-US" sz="1300" dirty="0"/>
          </a:p>
        </p:txBody>
      </p:sp>
      <p:sp>
        <p:nvSpPr>
          <p:cNvPr id="16" name="Text 14"/>
          <p:cNvSpPr/>
          <p:nvPr/>
        </p:nvSpPr>
        <p:spPr>
          <a:xfrm>
            <a:off x="7552944" y="3511296"/>
            <a:ext cx="3852367" cy="566928"/>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BindWidgetOptional kullanıldığında bileşen bulunamasa da Blueprint derlenir, pointer null kalır. Null kontrolü bu durumda şarttır.</a:t>
            </a:r>
            <a:endParaRPr lang="en-US" sz="1100" dirty="0"/>
          </a:p>
        </p:txBody>
      </p:sp>
      <p:sp>
        <p:nvSpPr>
          <p:cNvPr id="17" name="Shape 15"/>
          <p:cNvSpPr/>
          <p:nvPr/>
        </p:nvSpPr>
        <p:spPr>
          <a:xfrm>
            <a:off x="7333488" y="4370832"/>
            <a:ext cx="4291279" cy="1298448"/>
          </a:xfrm>
          <a:prstGeom prst="roundRect">
            <a:avLst>
              <a:gd name="adj" fmla="val 5634"/>
            </a:avLst>
          </a:prstGeom>
          <a:solidFill>
            <a:srgbClr val="242938"/>
          </a:solidFill>
          <a:ln w="12700">
            <a:solidFill>
              <a:srgbClr val="2A3042"/>
            </a:solidFill>
            <a:prstDash val="solid"/>
          </a:ln>
        </p:spPr>
      </p:sp>
      <p:sp>
        <p:nvSpPr>
          <p:cNvPr id="18" name="Text 16"/>
          <p:cNvSpPr/>
          <p:nvPr/>
        </p:nvSpPr>
        <p:spPr>
          <a:xfrm>
            <a:off x="7552944" y="4535424"/>
            <a:ext cx="3852367" cy="365760"/>
          </a:xfrm>
          <a:prstGeom prst="rect">
            <a:avLst/>
          </a:prstGeom>
          <a:noFill/>
          <a:ln/>
        </p:spPr>
        <p:txBody>
          <a:bodyPr wrap="square" lIns="0" tIns="0" rIns="0" bIns="0" rtlCol="0" anchor="ctr"/>
          <a:lstStyle/>
          <a:p>
            <a:pPr algn="l" indent="0" marL="0">
              <a:buNone/>
            </a:pPr>
            <a:r>
              <a:rPr lang="en-US" sz="1300" b="1" dirty="0">
                <a:solidFill>
                  <a:srgbClr val="9ECE6A"/>
                </a:solidFill>
                <a:latin typeface="Calibri" pitchFamily="34" charset="0"/>
                <a:ea typeface="Calibri" pitchFamily="34" charset="-122"/>
                <a:cs typeface="Calibri" pitchFamily="34" charset="-120"/>
              </a:rPr>
              <a:t>Neden tercih edilir?</a:t>
            </a:r>
            <a:endParaRPr lang="en-US" sz="1300" dirty="0"/>
          </a:p>
        </p:txBody>
      </p:sp>
      <p:sp>
        <p:nvSpPr>
          <p:cNvPr id="19" name="Text 17"/>
          <p:cNvSpPr/>
          <p:nvPr/>
        </p:nvSpPr>
        <p:spPr>
          <a:xfrm>
            <a:off x="7552944" y="4956048"/>
            <a:ext cx="3852367" cy="566928"/>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Elle atama yapılan referanslar Blueprint yeniden derlendiğinde kopabilir. İsim tabanlı bağlama her derlemede yeniden kurulur ve kopmaz.</a:t>
            </a:r>
            <a:endParaRPr lang="en-US" sz="1100" dirty="0"/>
          </a:p>
        </p:txBody>
      </p:sp>
      <p:sp>
        <p:nvSpPr>
          <p:cNvPr id="20" name="Text 18"/>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22</a:t>
            </a:r>
            <a:endParaRPr lang="en-US" sz="1000" dirty="0"/>
          </a:p>
        </p:txBody>
      </p:sp>
      <p:sp>
        <p:nvSpPr>
          <p:cNvPr id="21" name="Text 19"/>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04 / bindwidget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Metin Tipleri: FString, FText, FName</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Unreal üç ayrı metin tipi kullanır ve birbirinin yerine geçmezler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DCFFF"/>
                </a:solidFill>
                <a:latin typeface="Courier New" pitchFamily="34" charset="0"/>
                <a:ea typeface="Courier New" pitchFamily="34" charset="-122"/>
                <a:cs typeface="Courier New" pitchFamily="34" charset="-120"/>
              </a:rPr>
              <a:t>04 / UMG</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2103120"/>
                <a:gridCol w="3108960"/>
                <a:gridCol w="2926080"/>
                <a:gridCol w="2916936"/>
              </a:tblGrid>
              <a:tr h="475488">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Tip</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Kullanım Amacı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Değiştirilebilir mi?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Dil Desteği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r>
              <a:tr h="475488">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FString</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Teknik metin: dosya yolu, log, birleştirme</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Evet, serbestçe</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Yok</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75488">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FText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Kullanıcıya gösterilen her metin</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Hayır, salt okunur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Var — çeviri tablosuna girer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75488">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FName</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Kemik adı, etiket, sabit tanımlayıcı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Hayır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Yok — karşılaştırma çok hızlı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bl>
          </a:graphicData>
        </a:graphic>
      </p:graphicFrame>
      <p:sp>
        <p:nvSpPr>
          <p:cNvPr id="6" name="Shape 3"/>
          <p:cNvSpPr/>
          <p:nvPr/>
        </p:nvSpPr>
        <p:spPr>
          <a:xfrm>
            <a:off x="566928" y="3310128"/>
            <a:ext cx="5806440" cy="2377440"/>
          </a:xfrm>
          <a:prstGeom prst="roundRect">
            <a:avLst>
              <a:gd name="adj" fmla="val 2308"/>
            </a:avLst>
          </a:prstGeom>
          <a:solidFill>
            <a:srgbClr val="13141C"/>
          </a:solidFill>
          <a:ln w="12700">
            <a:solidFill>
              <a:srgbClr val="2A3042"/>
            </a:solidFill>
            <a:prstDash val="solid"/>
          </a:ln>
        </p:spPr>
      </p:sp>
      <p:sp>
        <p:nvSpPr>
          <p:cNvPr id="7" name="Text 4"/>
          <p:cNvSpPr/>
          <p:nvPr/>
        </p:nvSpPr>
        <p:spPr>
          <a:xfrm>
            <a:off x="713232" y="3374136"/>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DÖNÜŞÜM ZİNCİRİ</a:t>
            </a:r>
            <a:endParaRPr lang="en-US" sz="900" dirty="0"/>
          </a:p>
        </p:txBody>
      </p:sp>
      <p:sp>
        <p:nvSpPr>
          <p:cNvPr id="8" name="Text 5"/>
          <p:cNvSpPr/>
          <p:nvPr/>
        </p:nvSpPr>
        <p:spPr>
          <a:xfrm>
            <a:off x="713232" y="3602736"/>
            <a:ext cx="5513832" cy="197510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SetText yalnızca FText kabul eder.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Elimizdeki metin FString ise çevirmek gerekir.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MyText-&gt;SetText(FText::FromString(TEXT("Merhaba")));</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Ters yön: FText -&gt; FString</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FString Duz = MyText-&gt;GetText().ToString();</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Sayıdan doğrudan FText üretmek</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MyText-&gt;SetText(FText::AsNumber(42));</a:t>
            </a:r>
            <a:endParaRPr lang="en-US" sz="1100" dirty="0"/>
          </a:p>
        </p:txBody>
      </p:sp>
      <p:sp>
        <p:nvSpPr>
          <p:cNvPr id="9" name="Shape 6"/>
          <p:cNvSpPr/>
          <p:nvPr/>
        </p:nvSpPr>
        <p:spPr>
          <a:xfrm>
            <a:off x="6647688" y="3310128"/>
            <a:ext cx="5806440" cy="1115568"/>
          </a:xfrm>
          <a:prstGeom prst="roundRect">
            <a:avLst>
              <a:gd name="adj" fmla="val 6557"/>
            </a:avLst>
          </a:prstGeom>
          <a:solidFill>
            <a:srgbClr val="242938"/>
          </a:solidFill>
          <a:ln w="12700">
            <a:solidFill>
              <a:srgbClr val="2A3042"/>
            </a:solidFill>
            <a:prstDash val="solid"/>
          </a:ln>
        </p:spPr>
      </p:sp>
      <p:sp>
        <p:nvSpPr>
          <p:cNvPr id="10" name="Text 7"/>
          <p:cNvSpPr/>
          <p:nvPr/>
        </p:nvSpPr>
        <p:spPr>
          <a:xfrm>
            <a:off x="6867144" y="3474720"/>
            <a:ext cx="5367528" cy="365760"/>
          </a:xfrm>
          <a:prstGeom prst="rect">
            <a:avLst/>
          </a:prstGeom>
          <a:noFill/>
          <a:ln/>
        </p:spPr>
        <p:txBody>
          <a:bodyPr wrap="square" lIns="0" tIns="0" rIns="0" bIns="0" rtlCol="0" anchor="ctr"/>
          <a:lstStyle/>
          <a:p>
            <a:pPr algn="l" indent="0" marL="0">
              <a:buNone/>
            </a:pPr>
            <a:r>
              <a:rPr lang="en-US" sz="1400" b="1" dirty="0">
                <a:solidFill>
                  <a:srgbClr val="BB9AF7"/>
                </a:solidFill>
                <a:latin typeface="Calibri" pitchFamily="34" charset="0"/>
                <a:ea typeface="Calibri" pitchFamily="34" charset="-122"/>
                <a:cs typeface="Calibri" pitchFamily="34" charset="-120"/>
              </a:rPr>
              <a:t>Neden ayrım var?</a:t>
            </a:r>
            <a:endParaRPr lang="en-US" sz="1400" dirty="0"/>
          </a:p>
        </p:txBody>
      </p:sp>
      <p:sp>
        <p:nvSpPr>
          <p:cNvPr id="11" name="Text 8"/>
          <p:cNvSpPr/>
          <p:nvPr/>
        </p:nvSpPr>
        <p:spPr>
          <a:xfrm>
            <a:off x="6867144" y="3895344"/>
            <a:ext cx="5367528" cy="384048"/>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Oyun başka bir dile çevrildiğinde yalnızca FText içerikleri çeviri tablosuna girer. Arayüzdeki bir yazı FString olarak bırakılırsa çeviri kapsamı dışında kalır.</a:t>
            </a:r>
            <a:endParaRPr lang="en-US" sz="1150" dirty="0"/>
          </a:p>
        </p:txBody>
      </p:sp>
      <p:sp>
        <p:nvSpPr>
          <p:cNvPr id="12" name="Shape 9"/>
          <p:cNvSpPr/>
          <p:nvPr/>
        </p:nvSpPr>
        <p:spPr>
          <a:xfrm>
            <a:off x="6647688" y="4572000"/>
            <a:ext cx="5806440" cy="1115568"/>
          </a:xfrm>
          <a:prstGeom prst="roundRect">
            <a:avLst>
              <a:gd name="adj" fmla="val 6557"/>
            </a:avLst>
          </a:prstGeom>
          <a:solidFill>
            <a:srgbClr val="242938"/>
          </a:solidFill>
          <a:ln w="12700">
            <a:solidFill>
              <a:srgbClr val="2A3042"/>
            </a:solidFill>
            <a:prstDash val="solid"/>
          </a:ln>
        </p:spPr>
      </p:sp>
      <p:sp>
        <p:nvSpPr>
          <p:cNvPr id="13" name="Text 10"/>
          <p:cNvSpPr/>
          <p:nvPr/>
        </p:nvSpPr>
        <p:spPr>
          <a:xfrm>
            <a:off x="6867144" y="4736592"/>
            <a:ext cx="5367528" cy="365760"/>
          </a:xfrm>
          <a:prstGeom prst="rect">
            <a:avLst/>
          </a:prstGeom>
          <a:noFill/>
          <a:ln/>
        </p:spPr>
        <p:txBody>
          <a:bodyPr wrap="square" lIns="0" tIns="0" rIns="0" bIns="0" rtlCol="0" anchor="ctr"/>
          <a:lstStyle/>
          <a:p>
            <a:pPr algn="l" indent="0" marL="0">
              <a:buNone/>
            </a:pPr>
            <a:r>
              <a:rPr lang="en-US" sz="1400" b="1" dirty="0">
                <a:solidFill>
                  <a:srgbClr val="E0AF68"/>
                </a:solidFill>
                <a:latin typeface="Calibri" pitchFamily="34" charset="0"/>
                <a:ea typeface="Calibri" pitchFamily="34" charset="-122"/>
                <a:cs typeface="Calibri" pitchFamily="34" charset="-120"/>
              </a:rPr>
              <a:t>TEXT() makrosu</a:t>
            </a:r>
            <a:endParaRPr lang="en-US" sz="1400" dirty="0"/>
          </a:p>
        </p:txBody>
      </p:sp>
      <p:sp>
        <p:nvSpPr>
          <p:cNvPr id="14" name="Text 11"/>
          <p:cNvSpPr/>
          <p:nvPr/>
        </p:nvSpPr>
        <p:spPr>
          <a:xfrm>
            <a:off x="6867144" y="5157216"/>
            <a:ext cx="5367528" cy="384048"/>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Düz tırnak yerine TEXT() kullanmak, metni motorun geniş karakter tipine çevirir. Türkçe karakterlerin bozulmaması için gereklidir.</a:t>
            </a:r>
            <a:endParaRPr lang="en-US" sz="1150" dirty="0"/>
          </a:p>
        </p:txBody>
      </p:sp>
      <p:sp>
        <p:nvSpPr>
          <p:cNvPr id="15"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23</a:t>
            </a:r>
            <a:endParaRPr lang="en-US" sz="1000" dirty="0"/>
          </a:p>
        </p:txBody>
      </p:sp>
      <p:sp>
        <p:nvSpPr>
          <p:cNvPr id="16"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04 / metin tipleri</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FString::Printf ile Biçimlendirme</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Sabit metin ile değişken değerleri tek satırda birleştirmek</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DCFFF"/>
                </a:solidFill>
                <a:latin typeface="Courier New" pitchFamily="34" charset="0"/>
                <a:ea typeface="Courier New" pitchFamily="34" charset="-122"/>
                <a:cs typeface="Courier New" pitchFamily="34" charset="-120"/>
              </a:rPr>
              <a:t>04 / UMG</a:t>
            </a:r>
            <a:endParaRPr lang="en-US" sz="1000" dirty="0"/>
          </a:p>
        </p:txBody>
      </p:sp>
      <p:sp>
        <p:nvSpPr>
          <p:cNvPr id="5" name="Shape 3"/>
          <p:cNvSpPr/>
          <p:nvPr/>
        </p:nvSpPr>
        <p:spPr>
          <a:xfrm>
            <a:off x="566928" y="1481328"/>
            <a:ext cx="6858000" cy="2212848"/>
          </a:xfrm>
          <a:prstGeom prst="roundRect">
            <a:avLst>
              <a:gd name="adj" fmla="val 2479"/>
            </a:avLst>
          </a:prstGeom>
          <a:solidFill>
            <a:srgbClr val="13141C"/>
          </a:solidFill>
          <a:ln w="12700">
            <a:solidFill>
              <a:srgbClr val="2A3042"/>
            </a:solidFill>
            <a:prstDash val="solid"/>
          </a:ln>
        </p:spPr>
      </p:sp>
      <p:sp>
        <p:nvSpPr>
          <p:cNvPr id="6" name="Text 4"/>
          <p:cNvSpPr/>
          <p:nvPr/>
        </p:nvSpPr>
        <p:spPr>
          <a:xfrm>
            <a:off x="713232" y="1545336"/>
            <a:ext cx="656539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DOĞRU KULLANIM</a:t>
            </a:r>
            <a:endParaRPr lang="en-US" sz="900" dirty="0"/>
          </a:p>
        </p:txBody>
      </p:sp>
      <p:sp>
        <p:nvSpPr>
          <p:cNvPr id="7" name="Text 5"/>
          <p:cNvSpPr/>
          <p:nvPr/>
        </p:nvSpPr>
        <p:spPr>
          <a:xfrm>
            <a:off x="713232" y="1773936"/>
            <a:ext cx="6565392" cy="1810512"/>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TEXT() yalnızca METNİ sarar ve KAPANIR.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Değişkenler virgülden sonra, TEXT'in DIŞINDA verilir.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MyCounterText-&gt;SetText(FText::FromString(</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FString::Printf(TEXT("Geçen Süre: %.0f Saniye"),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InDeltaTime)));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Birden fazla değişken sırayla eşleşir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FString::Printf(TEXT("Can: %d | Süre: %d"), Can, Sure);</a:t>
            </a:r>
            <a:endParaRPr lang="en-US" sz="1100" dirty="0"/>
          </a:p>
        </p:txBody>
      </p:sp>
      <p:sp>
        <p:nvSpPr>
          <p:cNvPr id="8" name="Shape 6"/>
          <p:cNvSpPr/>
          <p:nvPr/>
        </p:nvSpPr>
        <p:spPr>
          <a:xfrm>
            <a:off x="566928" y="3840480"/>
            <a:ext cx="6858000" cy="1847088"/>
          </a:xfrm>
          <a:prstGeom prst="roundRect">
            <a:avLst>
              <a:gd name="adj" fmla="val 2970"/>
            </a:avLst>
          </a:prstGeom>
          <a:solidFill>
            <a:srgbClr val="13141C"/>
          </a:solidFill>
          <a:ln w="12700">
            <a:solidFill>
              <a:srgbClr val="2A3042"/>
            </a:solidFill>
            <a:prstDash val="solid"/>
          </a:ln>
        </p:spPr>
      </p:sp>
      <p:sp>
        <p:nvSpPr>
          <p:cNvPr id="9" name="Text 7"/>
          <p:cNvSpPr/>
          <p:nvPr/>
        </p:nvSpPr>
        <p:spPr>
          <a:xfrm>
            <a:off x="713232" y="3904488"/>
            <a:ext cx="656539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SIK YAPILAN HATA</a:t>
            </a:r>
            <a:endParaRPr lang="en-US" sz="900" dirty="0"/>
          </a:p>
        </p:txBody>
      </p:sp>
      <p:sp>
        <p:nvSpPr>
          <p:cNvPr id="10" name="Text 8"/>
          <p:cNvSpPr/>
          <p:nvPr/>
        </p:nvSpPr>
        <p:spPr>
          <a:xfrm>
            <a:off x="713232" y="4133088"/>
            <a:ext cx="6565392" cy="1444752"/>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Değişken TEXT'in İÇİNDE kalmış:</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error: too many arguments provided to macro</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FString::Printf(TEXT("Süre: %d", InDeltaTime));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Parantez sırası: tırnak -&gt; parantez kapanır -&gt; virgül</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FString::Printf(TEXT("Süre: %d"), InDeltaTime);</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699248" y="1481328"/>
          <a:ext cx="3925519" cy="914400"/>
        </p:xfrm>
        <a:graphic>
          <a:graphicData uri="http://schemas.openxmlformats.org/drawingml/2006/table">
            <a:tbl>
              <a:tblPr/>
              <a:tblGrid>
                <a:gridCol w="1005840"/>
                <a:gridCol w="1371600"/>
                <a:gridCol w="1636776"/>
              </a:tblGrid>
              <a:tr h="347472">
                <a:tc>
                  <a:txBody>
                    <a:bodyPr/>
                    <a:lstStyle/>
                    <a:p>
                      <a:pPr indent="0" marL="0">
                        <a:buNone/>
                      </a:pPr>
                      <a:r>
                        <a:rPr lang="en-US" sz="1150" b="1" dirty="0">
                          <a:solidFill>
                            <a:srgbClr val="1A1B26"/>
                          </a:solidFill>
                          <a:latin typeface="Calibri" pitchFamily="34" charset="0"/>
                          <a:ea typeface="Calibri" pitchFamily="34" charset="-122"/>
                          <a:cs typeface="Calibri" pitchFamily="34" charset="-120"/>
                        </a:rPr>
                        <a:t>Kod</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150" b="1" dirty="0">
                          <a:solidFill>
                            <a:srgbClr val="1A1B26"/>
                          </a:solidFill>
                          <a:latin typeface="Calibri" pitchFamily="34" charset="0"/>
                          <a:ea typeface="Calibri" pitchFamily="34" charset="-122"/>
                          <a:cs typeface="Calibri" pitchFamily="34" charset="-120"/>
                        </a:rPr>
                        <a:t>Tip</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150" b="1" dirty="0">
                          <a:solidFill>
                            <a:srgbClr val="1A1B26"/>
                          </a:solidFill>
                          <a:latin typeface="Calibri" pitchFamily="34" charset="0"/>
                          <a:ea typeface="Calibri" pitchFamily="34" charset="-122"/>
                          <a:cs typeface="Calibri" pitchFamily="34" charset="-120"/>
                        </a:rPr>
                        <a:t>Çıktı</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r>
              <a:tr h="347472">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int32</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47472">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float</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3.140000</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47472">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%.1f</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float</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47472">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%.0f</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float</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47472">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%s</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FString</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*Isim</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bl>
          </a:graphicData>
        </a:graphic>
      </p:graphicFrame>
      <p:sp>
        <p:nvSpPr>
          <p:cNvPr id="12" name="Shape 9"/>
          <p:cNvSpPr/>
          <p:nvPr/>
        </p:nvSpPr>
        <p:spPr>
          <a:xfrm>
            <a:off x="7699248" y="3712464"/>
            <a:ext cx="3925519" cy="1975104"/>
          </a:xfrm>
          <a:prstGeom prst="roundRect">
            <a:avLst>
              <a:gd name="adj" fmla="val 3704"/>
            </a:avLst>
          </a:prstGeom>
          <a:solidFill>
            <a:srgbClr val="242938"/>
          </a:solidFill>
          <a:ln w="12700">
            <a:solidFill>
              <a:srgbClr val="2A3042"/>
            </a:solidFill>
            <a:prstDash val="solid"/>
          </a:ln>
        </p:spPr>
      </p:sp>
      <p:sp>
        <p:nvSpPr>
          <p:cNvPr id="13" name="Text 10"/>
          <p:cNvSpPr/>
          <p:nvPr/>
        </p:nvSpPr>
        <p:spPr>
          <a:xfrm>
            <a:off x="7918704" y="3877056"/>
            <a:ext cx="3486607" cy="365760"/>
          </a:xfrm>
          <a:prstGeom prst="rect">
            <a:avLst/>
          </a:prstGeom>
          <a:noFill/>
          <a:ln/>
        </p:spPr>
        <p:txBody>
          <a:bodyPr wrap="square" lIns="0" tIns="0" rIns="0" bIns="0" rtlCol="0" anchor="ctr"/>
          <a:lstStyle/>
          <a:p>
            <a:pPr algn="l" indent="0" marL="0">
              <a:buNone/>
            </a:pPr>
            <a:r>
              <a:rPr lang="en-US" sz="1300" b="1" dirty="0">
                <a:solidFill>
                  <a:srgbClr val="F7768E"/>
                </a:solidFill>
                <a:latin typeface="Calibri" pitchFamily="34" charset="0"/>
                <a:ea typeface="Calibri" pitchFamily="34" charset="-122"/>
                <a:cs typeface="Calibri" pitchFamily="34" charset="-120"/>
              </a:rPr>
              <a:t>UE 5.7 tip denetimi</a:t>
            </a:r>
            <a:endParaRPr lang="en-US" sz="1300" dirty="0"/>
          </a:p>
        </p:txBody>
      </p:sp>
      <p:sp>
        <p:nvSpPr>
          <p:cNvPr id="14" name="Text 11"/>
          <p:cNvSpPr/>
          <p:nvPr/>
        </p:nvSpPr>
        <p:spPr>
          <a:xfrm>
            <a:off x="7918704" y="4297680"/>
            <a:ext cx="3486607" cy="124358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Yeni sürüm biçim kodu ile argüman tipini derleme anında karşılaştırır. Bir float değişken %d ile verilirse artık derleme durur. Eski sürümlerde bu durum sessizce hatalı değer basardı; yeni davranış hatayı erken yakaladığı için tercih edilir. FString verilirken başına yıldız konulması da unutulmamalıdır.</a:t>
            </a:r>
            <a:endParaRPr lang="en-US" sz="1100" dirty="0"/>
          </a:p>
        </p:txBody>
      </p:sp>
      <p:sp>
        <p:nvSpPr>
          <p:cNvPr id="15"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24</a:t>
            </a:r>
            <a:endParaRPr lang="en-US" sz="1000" dirty="0"/>
          </a:p>
        </p:txBody>
      </p:sp>
      <p:sp>
        <p:nvSpPr>
          <p:cNvPr id="16"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04 / printf</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Yumuşak Geçiş: İki Kollu Mimari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Progress bar değerinin zıplamak yerine akması</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DCFFF"/>
                </a:solidFill>
                <a:latin typeface="Courier New" pitchFamily="34" charset="0"/>
                <a:ea typeface="Courier New" pitchFamily="34" charset="-122"/>
                <a:cs typeface="Courier New" pitchFamily="34" charset="-120"/>
              </a:rPr>
              <a:t>04 / INTERP</a:t>
            </a:r>
            <a:endParaRPr lang="en-US" sz="1000" dirty="0"/>
          </a:p>
        </p:txBody>
      </p:sp>
      <p:sp>
        <p:nvSpPr>
          <p:cNvPr id="5" name="Shape 3"/>
          <p:cNvSpPr/>
          <p:nvPr/>
        </p:nvSpPr>
        <p:spPr>
          <a:xfrm>
            <a:off x="566928" y="1481328"/>
            <a:ext cx="11057839" cy="1170432"/>
          </a:xfrm>
          <a:prstGeom prst="roundRect">
            <a:avLst>
              <a:gd name="adj" fmla="val 6250"/>
            </a:avLst>
          </a:prstGeom>
          <a:solidFill>
            <a:srgbClr val="242938"/>
          </a:solidFill>
          <a:ln w="19050">
            <a:solidFill>
              <a:srgbClr val="F7768E"/>
            </a:solidFill>
            <a:prstDash val="solid"/>
          </a:ln>
        </p:spPr>
      </p:sp>
      <p:sp>
        <p:nvSpPr>
          <p:cNvPr id="6" name="Text 4"/>
          <p:cNvSpPr/>
          <p:nvPr/>
        </p:nvSpPr>
        <p:spPr>
          <a:xfrm>
            <a:off x="804672" y="1591056"/>
            <a:ext cx="2743200" cy="256032"/>
          </a:xfrm>
          <a:prstGeom prst="rect">
            <a:avLst/>
          </a:prstGeom>
          <a:noFill/>
          <a:ln/>
        </p:spPr>
        <p:txBody>
          <a:bodyPr wrap="square" lIns="0" tIns="0" rIns="0" bIns="0" rtlCol="0" anchor="ctr"/>
          <a:lstStyle/>
          <a:p>
            <a:pPr indent="0" marL="0">
              <a:buNone/>
            </a:pPr>
            <a:r>
              <a:rPr lang="en-US" sz="1200" b="1" dirty="0">
                <a:solidFill>
                  <a:srgbClr val="F7768E"/>
                </a:solidFill>
                <a:latin typeface="Calibri" pitchFamily="34" charset="0"/>
                <a:ea typeface="Calibri" pitchFamily="34" charset="-122"/>
                <a:cs typeface="Calibri" pitchFamily="34" charset="-120"/>
              </a:rPr>
              <a:t>ANLIK — TEK KOL</a:t>
            </a:r>
            <a:endParaRPr lang="en-US" sz="1200" dirty="0"/>
          </a:p>
        </p:txBody>
      </p:sp>
      <p:sp>
        <p:nvSpPr>
          <p:cNvPr id="7" name="Text 5"/>
          <p:cNvSpPr/>
          <p:nvPr/>
        </p:nvSpPr>
        <p:spPr>
          <a:xfrm>
            <a:off x="804672" y="1883664"/>
            <a:ext cx="4754880" cy="457200"/>
          </a:xfrm>
          <a:prstGeom prst="rect">
            <a:avLst/>
          </a:prstGeom>
          <a:noFill/>
          <a:ln/>
        </p:spPr>
        <p:txBody>
          <a:bodyPr wrap="square" lIns="0" tIns="0" rIns="0" bIns="0" rtlCol="0" anchor="ctr"/>
          <a:lstStyle/>
          <a:p>
            <a:pPr indent="0" marL="0">
              <a:buNone/>
            </a:pPr>
            <a:r>
              <a:rPr lang="en-US" sz="1700" b="1" dirty="0">
                <a:solidFill>
                  <a:srgbClr val="C6CEF0"/>
                </a:solidFill>
                <a:latin typeface="Courier New" pitchFamily="34" charset="0"/>
                <a:ea typeface="Courier New" pitchFamily="34" charset="-122"/>
                <a:cs typeface="Courier New" pitchFamily="34" charset="-120"/>
              </a:rPr>
              <a:t>Can Azalt  →  Set Percent</a:t>
            </a:r>
            <a:endParaRPr lang="en-US" sz="1700" dirty="0"/>
          </a:p>
        </p:txBody>
      </p:sp>
      <p:sp>
        <p:nvSpPr>
          <p:cNvPr id="8" name="Text 6"/>
          <p:cNvSpPr/>
          <p:nvPr/>
        </p:nvSpPr>
        <p:spPr>
          <a:xfrm>
            <a:off x="5779008" y="1591056"/>
            <a:ext cx="5608015" cy="914400"/>
          </a:xfrm>
          <a:prstGeom prst="rect">
            <a:avLst/>
          </a:prstGeom>
          <a:noFill/>
          <a:ln/>
        </p:spPr>
        <p:txBody>
          <a:bodyPr wrap="square" lIns="0" tIns="0" rIns="0" bIns="0" rtlCol="0" anchor="ctr"/>
          <a:lstStyle/>
          <a:p>
            <a:pPr indent="0" marL="0">
              <a:lnSpc>
                <a:spcPct val="115000"/>
              </a:lnSpc>
              <a:buNone/>
            </a:pPr>
            <a:r>
              <a:rPr lang="en-US" sz="1200" dirty="0">
                <a:solidFill>
                  <a:srgbClr val="7A83A8"/>
                </a:solidFill>
                <a:latin typeface="Calibri" pitchFamily="34" charset="0"/>
                <a:ea typeface="Calibri" pitchFamily="34" charset="-122"/>
                <a:cs typeface="Calibri" pitchFamily="34" charset="-120"/>
              </a:rPr>
              <a:t>Bar tek karede yeni değere atlar. Ara değerler hiç oluşmadığı için göz hareketi yakalayamaz.</a:t>
            </a:r>
            <a:endParaRPr lang="en-US" sz="1200" dirty="0"/>
          </a:p>
        </p:txBody>
      </p:sp>
      <p:sp>
        <p:nvSpPr>
          <p:cNvPr id="9" name="Shape 7"/>
          <p:cNvSpPr/>
          <p:nvPr/>
        </p:nvSpPr>
        <p:spPr>
          <a:xfrm>
            <a:off x="566928" y="2798064"/>
            <a:ext cx="11057839" cy="1700784"/>
          </a:xfrm>
          <a:prstGeom prst="roundRect">
            <a:avLst>
              <a:gd name="adj" fmla="val 4301"/>
            </a:avLst>
          </a:prstGeom>
          <a:solidFill>
            <a:srgbClr val="242938"/>
          </a:solidFill>
          <a:ln w="19050">
            <a:solidFill>
              <a:srgbClr val="9ECE6A"/>
            </a:solidFill>
            <a:prstDash val="solid"/>
          </a:ln>
        </p:spPr>
      </p:sp>
      <p:sp>
        <p:nvSpPr>
          <p:cNvPr id="10" name="Text 8"/>
          <p:cNvSpPr/>
          <p:nvPr/>
        </p:nvSpPr>
        <p:spPr>
          <a:xfrm>
            <a:off x="804672" y="2907792"/>
            <a:ext cx="2743200" cy="256032"/>
          </a:xfrm>
          <a:prstGeom prst="rect">
            <a:avLst/>
          </a:prstGeom>
          <a:noFill/>
          <a:ln/>
        </p:spPr>
        <p:txBody>
          <a:bodyPr wrap="square" lIns="0" tIns="0" rIns="0" bIns="0" rtlCol="0" anchor="ctr"/>
          <a:lstStyle/>
          <a:p>
            <a:pPr indent="0" marL="0">
              <a:buNone/>
            </a:pPr>
            <a:r>
              <a:rPr lang="en-US" sz="1200" b="1" dirty="0">
                <a:solidFill>
                  <a:srgbClr val="9ECE6A"/>
                </a:solidFill>
                <a:latin typeface="Calibri" pitchFamily="34" charset="0"/>
                <a:ea typeface="Calibri" pitchFamily="34" charset="-122"/>
                <a:cs typeface="Calibri" pitchFamily="34" charset="-120"/>
              </a:rPr>
              <a:t>INTERP — İKİ KOL</a:t>
            </a:r>
            <a:endParaRPr lang="en-US" sz="1200" dirty="0"/>
          </a:p>
        </p:txBody>
      </p:sp>
      <p:sp>
        <p:nvSpPr>
          <p:cNvPr id="11" name="Text 9"/>
          <p:cNvSpPr/>
          <p:nvPr/>
        </p:nvSpPr>
        <p:spPr>
          <a:xfrm>
            <a:off x="804672" y="3200400"/>
            <a:ext cx="4754880" cy="402336"/>
          </a:xfrm>
          <a:prstGeom prst="rect">
            <a:avLst/>
          </a:prstGeom>
          <a:noFill/>
          <a:ln/>
        </p:spPr>
        <p:txBody>
          <a:bodyPr wrap="square" lIns="0" tIns="0" rIns="0" bIns="0" rtlCol="0" anchor="ctr"/>
          <a:lstStyle/>
          <a:p>
            <a:pPr indent="0" marL="0">
              <a:buNone/>
            </a:pPr>
            <a:r>
              <a:rPr lang="en-US" sz="1500" b="1" dirty="0">
                <a:solidFill>
                  <a:srgbClr val="C6CEF0"/>
                </a:solidFill>
                <a:latin typeface="Courier New" pitchFamily="34" charset="0"/>
                <a:ea typeface="Courier New" pitchFamily="34" charset="-122"/>
                <a:cs typeface="Courier New" pitchFamily="34" charset="-120"/>
              </a:rPr>
              <a:t>Can Azalt  →  Set HedefYuzde</a:t>
            </a:r>
            <a:endParaRPr lang="en-US" sz="1500" dirty="0"/>
          </a:p>
        </p:txBody>
      </p:sp>
      <p:sp>
        <p:nvSpPr>
          <p:cNvPr id="12" name="Text 10"/>
          <p:cNvSpPr/>
          <p:nvPr/>
        </p:nvSpPr>
        <p:spPr>
          <a:xfrm>
            <a:off x="804672" y="3657600"/>
            <a:ext cx="5852160" cy="402336"/>
          </a:xfrm>
          <a:prstGeom prst="rect">
            <a:avLst/>
          </a:prstGeom>
          <a:noFill/>
          <a:ln/>
        </p:spPr>
        <p:txBody>
          <a:bodyPr wrap="square" lIns="0" tIns="0" rIns="0" bIns="0" rtlCol="0" anchor="ctr"/>
          <a:lstStyle/>
          <a:p>
            <a:pPr indent="0" marL="0">
              <a:buNone/>
            </a:pPr>
            <a:r>
              <a:rPr lang="en-US" sz="1500" b="1" dirty="0">
                <a:solidFill>
                  <a:srgbClr val="C6CEF0"/>
                </a:solidFill>
                <a:latin typeface="Courier New" pitchFamily="34" charset="0"/>
                <a:ea typeface="Courier New" pitchFamily="34" charset="-122"/>
                <a:cs typeface="Courier New" pitchFamily="34" charset="-120"/>
              </a:rPr>
              <a:t>Event Tick  →  FInterp To  →  Set Percent</a:t>
            </a:r>
            <a:endParaRPr lang="en-US" sz="1500" dirty="0"/>
          </a:p>
        </p:txBody>
      </p:sp>
      <p:sp>
        <p:nvSpPr>
          <p:cNvPr id="13" name="Text 11"/>
          <p:cNvSpPr/>
          <p:nvPr/>
        </p:nvSpPr>
        <p:spPr>
          <a:xfrm>
            <a:off x="6967728" y="3054096"/>
            <a:ext cx="4419295" cy="1188720"/>
          </a:xfrm>
          <a:prstGeom prst="rect">
            <a:avLst/>
          </a:prstGeom>
          <a:noFill/>
          <a:ln/>
        </p:spPr>
        <p:txBody>
          <a:bodyPr wrap="square" lIns="0" tIns="0" rIns="0" bIns="0" rtlCol="0" anchor="ctr"/>
          <a:lstStyle/>
          <a:p>
            <a:pPr indent="0" marL="0">
              <a:lnSpc>
                <a:spcPct val="115000"/>
              </a:lnSpc>
              <a:buNone/>
            </a:pPr>
            <a:r>
              <a:rPr lang="en-US" sz="1200" dirty="0">
                <a:solidFill>
                  <a:srgbClr val="7A83A8"/>
                </a:solidFill>
                <a:latin typeface="Calibri" pitchFamily="34" charset="0"/>
                <a:ea typeface="Calibri" pitchFamily="34" charset="-122"/>
                <a:cs typeface="Calibri" pitchFamily="34" charset="-120"/>
              </a:rPr>
              <a:t>Üst kol yalnızca hedefi yazar ve susar. Alt kol her karede çalışarak barın mevcut değerini hedefe doğru küçük adımlarla taşır. İki kolu HedefYuzde değişkeni birbirine bağlar.</a:t>
            </a:r>
            <a:endParaRPr lang="en-US" sz="1200" dirty="0"/>
          </a:p>
        </p:txBody>
      </p:sp>
      <p:sp>
        <p:nvSpPr>
          <p:cNvPr id="14" name="Shape 12"/>
          <p:cNvSpPr/>
          <p:nvPr/>
        </p:nvSpPr>
        <p:spPr>
          <a:xfrm>
            <a:off x="566928" y="4645152"/>
            <a:ext cx="3515258" cy="1042416"/>
          </a:xfrm>
          <a:prstGeom prst="roundRect">
            <a:avLst>
              <a:gd name="adj" fmla="val 7018"/>
            </a:avLst>
          </a:prstGeom>
          <a:solidFill>
            <a:srgbClr val="242938"/>
          </a:solidFill>
          <a:ln w="12700">
            <a:solidFill>
              <a:srgbClr val="2A3042"/>
            </a:solidFill>
            <a:prstDash val="solid"/>
          </a:ln>
        </p:spPr>
      </p:sp>
      <p:sp>
        <p:nvSpPr>
          <p:cNvPr id="15" name="Text 13"/>
          <p:cNvSpPr/>
          <p:nvPr/>
        </p:nvSpPr>
        <p:spPr>
          <a:xfrm>
            <a:off x="786384" y="4809744"/>
            <a:ext cx="3076346" cy="365760"/>
          </a:xfrm>
          <a:prstGeom prst="rect">
            <a:avLst/>
          </a:prstGeom>
          <a:noFill/>
          <a:ln/>
        </p:spPr>
        <p:txBody>
          <a:bodyPr wrap="square" lIns="0" tIns="0" rIns="0" bIns="0" rtlCol="0" anchor="ctr"/>
          <a:lstStyle/>
          <a:p>
            <a:pPr algn="l" indent="0" marL="0">
              <a:buNone/>
            </a:pPr>
            <a:r>
              <a:rPr lang="en-US" sz="1300" b="1" dirty="0">
                <a:solidFill>
                  <a:srgbClr val="BB9AF7"/>
                </a:solidFill>
                <a:latin typeface="Calibri" pitchFamily="34" charset="0"/>
                <a:ea typeface="Calibri" pitchFamily="34" charset="-122"/>
                <a:cs typeface="Calibri" pitchFamily="34" charset="-120"/>
              </a:rPr>
              <a:t>Neden iki kol?</a:t>
            </a:r>
            <a:endParaRPr lang="en-US" sz="1300" dirty="0"/>
          </a:p>
        </p:txBody>
      </p:sp>
      <p:sp>
        <p:nvSpPr>
          <p:cNvPr id="16" name="Text 14"/>
          <p:cNvSpPr/>
          <p:nvPr/>
        </p:nvSpPr>
        <p:spPr>
          <a:xfrm>
            <a:off x="786384" y="5230368"/>
            <a:ext cx="3076346" cy="310896"/>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Can Azalt seyrek çalışır, yumuşak geçiş ise her kare bir işlem ister. Tek düğüm iki farklı ritmi karşılayamaz.</a:t>
            </a:r>
            <a:endParaRPr lang="en-US" sz="1100" dirty="0"/>
          </a:p>
        </p:txBody>
      </p:sp>
      <p:sp>
        <p:nvSpPr>
          <p:cNvPr id="17" name="Shape 15"/>
          <p:cNvSpPr/>
          <p:nvPr/>
        </p:nvSpPr>
        <p:spPr>
          <a:xfrm>
            <a:off x="4338218" y="4645152"/>
            <a:ext cx="3515258" cy="1042416"/>
          </a:xfrm>
          <a:prstGeom prst="roundRect">
            <a:avLst>
              <a:gd name="adj" fmla="val 7018"/>
            </a:avLst>
          </a:prstGeom>
          <a:solidFill>
            <a:srgbClr val="242938"/>
          </a:solidFill>
          <a:ln w="12700">
            <a:solidFill>
              <a:srgbClr val="2A3042"/>
            </a:solidFill>
            <a:prstDash val="solid"/>
          </a:ln>
        </p:spPr>
      </p:sp>
      <p:sp>
        <p:nvSpPr>
          <p:cNvPr id="18" name="Text 16"/>
          <p:cNvSpPr/>
          <p:nvPr/>
        </p:nvSpPr>
        <p:spPr>
          <a:xfrm>
            <a:off x="4557674" y="4809744"/>
            <a:ext cx="3076346" cy="365760"/>
          </a:xfrm>
          <a:prstGeom prst="rect">
            <a:avLst/>
          </a:prstGeom>
          <a:noFill/>
          <a:ln/>
        </p:spPr>
        <p:txBody>
          <a:bodyPr wrap="square" lIns="0" tIns="0" rIns="0" bIns="0" rtlCol="0" anchor="ctr"/>
          <a:lstStyle/>
          <a:p>
            <a:pPr algn="l" indent="0" marL="0">
              <a:buNone/>
            </a:pPr>
            <a:r>
              <a:rPr lang="en-US" sz="1300" b="1" dirty="0">
                <a:solidFill>
                  <a:srgbClr val="E0AF68"/>
                </a:solidFill>
                <a:latin typeface="Calibri" pitchFamily="34" charset="0"/>
                <a:ea typeface="Calibri" pitchFamily="34" charset="-122"/>
                <a:cs typeface="Calibri" pitchFamily="34" charset="-120"/>
              </a:rPr>
              <a:t>Delta Time neden gerekli?</a:t>
            </a:r>
            <a:endParaRPr lang="en-US" sz="1300" dirty="0"/>
          </a:p>
        </p:txBody>
      </p:sp>
      <p:sp>
        <p:nvSpPr>
          <p:cNvPr id="19" name="Text 17"/>
          <p:cNvSpPr/>
          <p:nvPr/>
        </p:nvSpPr>
        <p:spPr>
          <a:xfrm>
            <a:off x="4557674" y="5230368"/>
            <a:ext cx="3076346" cy="310896"/>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Kare süresini hesaba katarak geçişi kare hızından bağımsız kılar. 30 ve 120 FPS'te aynı sürede tamamlanır.</a:t>
            </a:r>
            <a:endParaRPr lang="en-US" sz="1100" dirty="0"/>
          </a:p>
        </p:txBody>
      </p:sp>
      <p:sp>
        <p:nvSpPr>
          <p:cNvPr id="20" name="Shape 18"/>
          <p:cNvSpPr/>
          <p:nvPr/>
        </p:nvSpPr>
        <p:spPr>
          <a:xfrm>
            <a:off x="8109509" y="4645152"/>
            <a:ext cx="3515258" cy="1042416"/>
          </a:xfrm>
          <a:prstGeom prst="roundRect">
            <a:avLst>
              <a:gd name="adj" fmla="val 7018"/>
            </a:avLst>
          </a:prstGeom>
          <a:solidFill>
            <a:srgbClr val="242938"/>
          </a:solidFill>
          <a:ln w="12700">
            <a:solidFill>
              <a:srgbClr val="2A3042"/>
            </a:solidFill>
            <a:prstDash val="solid"/>
          </a:ln>
        </p:spPr>
      </p:sp>
      <p:sp>
        <p:nvSpPr>
          <p:cNvPr id="21" name="Text 19"/>
          <p:cNvSpPr/>
          <p:nvPr/>
        </p:nvSpPr>
        <p:spPr>
          <a:xfrm>
            <a:off x="8328965" y="4809744"/>
            <a:ext cx="3076346" cy="365760"/>
          </a:xfrm>
          <a:prstGeom prst="rect">
            <a:avLst/>
          </a:prstGeom>
          <a:noFill/>
          <a:ln/>
        </p:spPr>
        <p:txBody>
          <a:bodyPr wrap="square" lIns="0" tIns="0" rIns="0" bIns="0" rtlCol="0" anchor="ctr"/>
          <a:lstStyle/>
          <a:p>
            <a:pPr algn="l" indent="0" marL="0">
              <a:buNone/>
            </a:pPr>
            <a:r>
              <a:rPr lang="en-US" sz="1300" b="1" dirty="0">
                <a:solidFill>
                  <a:srgbClr val="7AA2F7"/>
                </a:solidFill>
                <a:latin typeface="Calibri" pitchFamily="34" charset="0"/>
                <a:ea typeface="Calibri" pitchFamily="34" charset="-122"/>
                <a:cs typeface="Calibri" pitchFamily="34" charset="-120"/>
              </a:rPr>
              <a:t>Benzetme: termostat</a:t>
            </a:r>
            <a:endParaRPr lang="en-US" sz="1300" dirty="0"/>
          </a:p>
        </p:txBody>
      </p:sp>
      <p:sp>
        <p:nvSpPr>
          <p:cNvPr id="22" name="Text 20"/>
          <p:cNvSpPr/>
          <p:nvPr/>
        </p:nvSpPr>
        <p:spPr>
          <a:xfrm>
            <a:off x="8328965" y="5230368"/>
            <a:ext cx="3076346" cy="310896"/>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Sıcaklık ayarı bir kez yapılır, sistem sürekli çalışarak odayı o değere taşır. Hedef ve hareket ayrı sorumluluklardır.</a:t>
            </a:r>
            <a:endParaRPr lang="en-US" sz="1100" dirty="0"/>
          </a:p>
        </p:txBody>
      </p:sp>
      <p:sp>
        <p:nvSpPr>
          <p:cNvPr id="23" name="Text 21"/>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25</a:t>
            </a:r>
            <a:endParaRPr lang="en-US" sz="1000" dirty="0"/>
          </a:p>
        </p:txBody>
      </p:sp>
      <p:sp>
        <p:nvSpPr>
          <p:cNvPr id="24" name="Text 22"/>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04 / interp</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Lerp ile FInterp To Arasındaki Fark</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İkisi de interpolasyon uygular, fakat farklı sorunları çözer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DCFFF"/>
                </a:solidFill>
                <a:latin typeface="Courier New" pitchFamily="34" charset="0"/>
                <a:ea typeface="Courier New" pitchFamily="34" charset="-122"/>
                <a:cs typeface="Courier New" pitchFamily="34" charset="-120"/>
              </a:rPr>
              <a:t>04 / INTERP</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2651760"/>
                <a:gridCol w="4206240"/>
                <a:gridCol w="4197096"/>
              </a:tblGrid>
              <a:tr h="402336">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Ölçüt</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Lerp</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c>
                  <a:txBody>
                    <a:bodyPr/>
                    <a:lstStyle/>
                    <a:p>
                      <a:pPr indent="0" marL="0">
                        <a:buNone/>
                      </a:pPr>
                      <a:r>
                        <a:rPr lang="en-US" sz="1250" b="1" dirty="0">
                          <a:solidFill>
                            <a:srgbClr val="1A1B26"/>
                          </a:solidFill>
                          <a:latin typeface="Calibri" pitchFamily="34" charset="0"/>
                          <a:ea typeface="Calibri" pitchFamily="34" charset="-122"/>
                          <a:cs typeface="Calibri" pitchFamily="34" charset="-120"/>
                        </a:rPr>
                        <a:t>FInterp To</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DCFFF"/>
                    </a:solidFill>
                  </a:tcPr>
                </a:tc>
              </a:tr>
              <a:tr h="402336">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Ne verilir?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Başlangıç, bitiş ve Alpha oranı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Mevcut değer, hedef ve hız</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Kontrol biçimi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Konum doğrudan belirlenir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Hız belirlenir, konum hesaplanır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02336">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Hız profili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Sabit — doğrusal ilerler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Hedefe yaklaştıkça yavaşlar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Zaman farkındalığı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Yok, kare süresini bilmez</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Delta Time kullanır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02336">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Çağrılma sıklığı</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Tek seferlik hesap yeterli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Her karede çağrılmalıdır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Uygun senaryo</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Süresi kesin belirli geçişler</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50" dirty="0">
                          <a:solidFill>
                            <a:srgbClr val="C6CEF0"/>
                          </a:solidFill>
                          <a:latin typeface="Calibri" pitchFamily="34" charset="0"/>
                          <a:ea typeface="Calibri" pitchFamily="34" charset="-122"/>
                          <a:cs typeface="Calibri" pitchFamily="34" charset="-120"/>
                        </a:rPr>
                        <a:t>Hedefi değişebilen takip hareketi</a:t>
                      </a:r>
                      <a:endParaRPr lang="en-US" sz="12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bl>
          </a:graphicData>
        </a:graphic>
      </p:graphicFrame>
      <p:sp>
        <p:nvSpPr>
          <p:cNvPr id="6" name="Shape 3"/>
          <p:cNvSpPr/>
          <p:nvPr/>
        </p:nvSpPr>
        <p:spPr>
          <a:xfrm>
            <a:off x="566928" y="4315968"/>
            <a:ext cx="3515258" cy="1371600"/>
          </a:xfrm>
          <a:prstGeom prst="roundRect">
            <a:avLst>
              <a:gd name="adj" fmla="val 5333"/>
            </a:avLst>
          </a:prstGeom>
          <a:solidFill>
            <a:srgbClr val="242938"/>
          </a:solidFill>
          <a:ln w="12700">
            <a:solidFill>
              <a:srgbClr val="2A3042"/>
            </a:solidFill>
            <a:prstDash val="solid"/>
          </a:ln>
        </p:spPr>
      </p:sp>
      <p:sp>
        <p:nvSpPr>
          <p:cNvPr id="7" name="Text 4"/>
          <p:cNvSpPr/>
          <p:nvPr/>
        </p:nvSpPr>
        <p:spPr>
          <a:xfrm>
            <a:off x="786384" y="4480560"/>
            <a:ext cx="3076346" cy="365760"/>
          </a:xfrm>
          <a:prstGeom prst="rect">
            <a:avLst/>
          </a:prstGeom>
          <a:noFill/>
          <a:ln/>
        </p:spPr>
        <p:txBody>
          <a:bodyPr wrap="square" lIns="0" tIns="0" rIns="0" bIns="0" rtlCol="0" anchor="ctr"/>
          <a:lstStyle/>
          <a:p>
            <a:pPr algn="l" indent="0" marL="0">
              <a:buNone/>
            </a:pPr>
            <a:r>
              <a:rPr lang="en-US" sz="1350" b="1" dirty="0">
                <a:solidFill>
                  <a:srgbClr val="BB9AF7"/>
                </a:solidFill>
                <a:latin typeface="Calibri" pitchFamily="34" charset="0"/>
                <a:ea typeface="Calibri" pitchFamily="34" charset="-122"/>
                <a:cs typeface="Calibri" pitchFamily="34" charset="-120"/>
              </a:rPr>
              <a:t>Lerp bir cetveldir</a:t>
            </a:r>
            <a:endParaRPr lang="en-US" sz="1350" dirty="0"/>
          </a:p>
        </p:txBody>
      </p:sp>
      <p:sp>
        <p:nvSpPr>
          <p:cNvPr id="8" name="Text 5"/>
          <p:cNvSpPr/>
          <p:nvPr/>
        </p:nvSpPr>
        <p:spPr>
          <a:xfrm>
            <a:off x="786384" y="4901184"/>
            <a:ext cx="3076346" cy="6400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İki nokta arasındaki belirli bir oranı ölçer. Hareket üretmez, yalnızca konum hesaplar. Hafızası yoktur; her çağrı bağımsızdır.</a:t>
            </a:r>
            <a:endParaRPr lang="en-US" sz="1150" dirty="0"/>
          </a:p>
        </p:txBody>
      </p:sp>
      <p:sp>
        <p:nvSpPr>
          <p:cNvPr id="9" name="Shape 6"/>
          <p:cNvSpPr/>
          <p:nvPr/>
        </p:nvSpPr>
        <p:spPr>
          <a:xfrm>
            <a:off x="4338218" y="4315968"/>
            <a:ext cx="3515258" cy="1371600"/>
          </a:xfrm>
          <a:prstGeom prst="roundRect">
            <a:avLst>
              <a:gd name="adj" fmla="val 5333"/>
            </a:avLst>
          </a:prstGeom>
          <a:solidFill>
            <a:srgbClr val="242938"/>
          </a:solidFill>
          <a:ln w="12700">
            <a:solidFill>
              <a:srgbClr val="2A3042"/>
            </a:solidFill>
            <a:prstDash val="solid"/>
          </a:ln>
        </p:spPr>
      </p:sp>
      <p:sp>
        <p:nvSpPr>
          <p:cNvPr id="10" name="Text 7"/>
          <p:cNvSpPr/>
          <p:nvPr/>
        </p:nvSpPr>
        <p:spPr>
          <a:xfrm>
            <a:off x="4557674" y="4480560"/>
            <a:ext cx="3076346" cy="365760"/>
          </a:xfrm>
          <a:prstGeom prst="rect">
            <a:avLst/>
          </a:prstGeom>
          <a:noFill/>
          <a:ln/>
        </p:spPr>
        <p:txBody>
          <a:bodyPr wrap="square" lIns="0" tIns="0" rIns="0" bIns="0" rtlCol="0" anchor="ctr"/>
          <a:lstStyle/>
          <a:p>
            <a:pPr algn="l" indent="0" marL="0">
              <a:buNone/>
            </a:pPr>
            <a:r>
              <a:rPr lang="en-US" sz="1350" b="1" dirty="0">
                <a:solidFill>
                  <a:srgbClr val="9ECE6A"/>
                </a:solidFill>
                <a:latin typeface="Calibri" pitchFamily="34" charset="0"/>
                <a:ea typeface="Calibri" pitchFamily="34" charset="-122"/>
                <a:cs typeface="Calibri" pitchFamily="34" charset="-120"/>
              </a:rPr>
              <a:t>FInterp To bir motordur</a:t>
            </a:r>
            <a:endParaRPr lang="en-US" sz="1350" dirty="0"/>
          </a:p>
        </p:txBody>
      </p:sp>
      <p:sp>
        <p:nvSpPr>
          <p:cNvPr id="11" name="Text 8"/>
          <p:cNvSpPr/>
          <p:nvPr/>
        </p:nvSpPr>
        <p:spPr>
          <a:xfrm>
            <a:off x="4557674" y="4901184"/>
            <a:ext cx="3076346" cy="6400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Mevcut konumdan hedefe doğru ilerler. Hedef ortada değişse bile yeni yöne yumuşakça yönelir, sıçrama oluşmaz.</a:t>
            </a:r>
            <a:endParaRPr lang="en-US" sz="1150" dirty="0"/>
          </a:p>
        </p:txBody>
      </p:sp>
      <p:sp>
        <p:nvSpPr>
          <p:cNvPr id="12" name="Shape 9"/>
          <p:cNvSpPr/>
          <p:nvPr/>
        </p:nvSpPr>
        <p:spPr>
          <a:xfrm>
            <a:off x="8109509" y="4315968"/>
            <a:ext cx="3515258" cy="1371600"/>
          </a:xfrm>
          <a:prstGeom prst="roundRect">
            <a:avLst>
              <a:gd name="adj" fmla="val 5333"/>
            </a:avLst>
          </a:prstGeom>
          <a:solidFill>
            <a:srgbClr val="242938"/>
          </a:solidFill>
          <a:ln w="12700">
            <a:solidFill>
              <a:srgbClr val="2A3042"/>
            </a:solidFill>
            <a:prstDash val="solid"/>
          </a:ln>
        </p:spPr>
      </p:sp>
      <p:sp>
        <p:nvSpPr>
          <p:cNvPr id="13" name="Text 10"/>
          <p:cNvSpPr/>
          <p:nvPr/>
        </p:nvSpPr>
        <p:spPr>
          <a:xfrm>
            <a:off x="8328965" y="4480560"/>
            <a:ext cx="3076346" cy="365760"/>
          </a:xfrm>
          <a:prstGeom prst="rect">
            <a:avLst/>
          </a:prstGeom>
          <a:noFill/>
          <a:ln/>
        </p:spPr>
        <p:txBody>
          <a:bodyPr wrap="square" lIns="0" tIns="0" rIns="0" bIns="0" rtlCol="0" anchor="ctr"/>
          <a:lstStyle/>
          <a:p>
            <a:pPr algn="l" indent="0" marL="0">
              <a:buNone/>
            </a:pPr>
            <a:r>
              <a:rPr lang="en-US" sz="1350" b="1" dirty="0">
                <a:solidFill>
                  <a:srgbClr val="E0AF68"/>
                </a:solidFill>
                <a:latin typeface="Calibri" pitchFamily="34" charset="0"/>
                <a:ea typeface="Calibri" pitchFamily="34" charset="-122"/>
                <a:cs typeface="Calibri" pitchFamily="34" charset="-120"/>
              </a:rPr>
              <a:t>Seçim ölçütü</a:t>
            </a:r>
            <a:endParaRPr lang="en-US" sz="1350" dirty="0"/>
          </a:p>
        </p:txBody>
      </p:sp>
      <p:sp>
        <p:nvSpPr>
          <p:cNvPr id="14" name="Text 11"/>
          <p:cNvSpPr/>
          <p:nvPr/>
        </p:nvSpPr>
        <p:spPr>
          <a:xfrm>
            <a:off x="8328965" y="4901184"/>
            <a:ext cx="3076346" cy="6400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Süre kesin olmalıysa Timeline ile Lerp; hedef değişken ve doğal bir yavaşlama isteniyorsa FInterp To tercih edilir.</a:t>
            </a:r>
            <a:endParaRPr lang="en-US" sz="1150" dirty="0"/>
          </a:p>
        </p:txBody>
      </p:sp>
      <p:sp>
        <p:nvSpPr>
          <p:cNvPr id="15" name="Text 12"/>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26</a:t>
            </a:r>
            <a:endParaRPr lang="en-US" sz="1000" dirty="0"/>
          </a:p>
        </p:txBody>
      </p:sp>
      <p:sp>
        <p:nvSpPr>
          <p:cNvPr id="16" name="Text 13"/>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04 / lerp</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E0AF68"/>
          </a:solidFill>
          <a:ln w="12700">
            <a:solidFill>
              <a:srgbClr val="E0AF68"/>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05</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Animasyon Teşhisi</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Yerleştirilen AI karakteri hareket ediyor ancak T-pozunda kayıyordu. Aynı animasyon Blueprint önizlemesinde çalışıyordu. Sorunun kaynağını bulmak sistematik bir eleme gerektirdi.</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Belirti ve yanıltıcı kanıt</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Eleme sırası</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Kök neden ve ders</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27</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Vaka: AI Karakteri T-Pozunda Hareket Ediyor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Belirtiden kök nedene giden eleme zinciri</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E0AF68"/>
                </a:solidFill>
                <a:latin typeface="Courier New" pitchFamily="34" charset="0"/>
                <a:ea typeface="Courier New" pitchFamily="34" charset="-122"/>
                <a:cs typeface="Courier New" pitchFamily="34" charset="-120"/>
              </a:rPr>
              <a:t>05 / TESHIS</a:t>
            </a:r>
            <a:endParaRPr lang="en-US" sz="1000" dirty="0"/>
          </a:p>
        </p:txBody>
      </p:sp>
      <p:sp>
        <p:nvSpPr>
          <p:cNvPr id="5" name="Shape 3"/>
          <p:cNvSpPr/>
          <p:nvPr/>
        </p:nvSpPr>
        <p:spPr>
          <a:xfrm>
            <a:off x="566928" y="1481328"/>
            <a:ext cx="2599868" cy="2139696"/>
          </a:xfrm>
          <a:prstGeom prst="roundRect">
            <a:avLst>
              <a:gd name="adj" fmla="val 3419"/>
            </a:avLst>
          </a:prstGeom>
          <a:solidFill>
            <a:srgbClr val="242938"/>
          </a:solidFill>
          <a:ln w="12700">
            <a:solidFill>
              <a:srgbClr val="2A3042"/>
            </a:solidFill>
            <a:prstDash val="solid"/>
          </a:ln>
        </p:spPr>
      </p:sp>
      <p:sp>
        <p:nvSpPr>
          <p:cNvPr id="6" name="Shape 4"/>
          <p:cNvSpPr/>
          <p:nvPr/>
        </p:nvSpPr>
        <p:spPr>
          <a:xfrm>
            <a:off x="768096" y="1664208"/>
            <a:ext cx="329184" cy="329184"/>
          </a:xfrm>
          <a:prstGeom prst="ellipse">
            <a:avLst/>
          </a:prstGeom>
          <a:solidFill>
            <a:srgbClr val="F7768E"/>
          </a:solidFill>
          <a:ln w="12700">
            <a:solidFill>
              <a:srgbClr val="F7768E"/>
            </a:solidFill>
            <a:prstDash val="solid"/>
          </a:ln>
        </p:spPr>
      </p:sp>
      <p:sp>
        <p:nvSpPr>
          <p:cNvPr id="7" name="Text 5"/>
          <p:cNvSpPr/>
          <p:nvPr/>
        </p:nvSpPr>
        <p:spPr>
          <a:xfrm>
            <a:off x="76809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07008" y="1645920"/>
            <a:ext cx="1740332" cy="365760"/>
          </a:xfrm>
          <a:prstGeom prst="rect">
            <a:avLst/>
          </a:prstGeom>
          <a:noFill/>
          <a:ln/>
        </p:spPr>
        <p:txBody>
          <a:bodyPr wrap="square" lIns="0" tIns="0" rIns="0" bIns="0" rtlCol="0" anchor="ctr"/>
          <a:lstStyle/>
          <a:p>
            <a:pPr algn="l" indent="0" marL="0">
              <a:buNone/>
            </a:pPr>
            <a:r>
              <a:rPr lang="en-US" sz="1500" b="1" dirty="0">
                <a:solidFill>
                  <a:srgbClr val="F7768E"/>
                </a:solidFill>
                <a:latin typeface="Calibri" pitchFamily="34" charset="0"/>
                <a:ea typeface="Calibri" pitchFamily="34" charset="-122"/>
                <a:cs typeface="Calibri" pitchFamily="34" charset="-120"/>
              </a:rPr>
              <a:t>Belirti</a:t>
            </a:r>
            <a:endParaRPr lang="en-US" sz="1500" dirty="0"/>
          </a:p>
        </p:txBody>
      </p:sp>
      <p:sp>
        <p:nvSpPr>
          <p:cNvPr id="9" name="Text 7"/>
          <p:cNvSpPr/>
          <p:nvPr/>
        </p:nvSpPr>
        <p:spPr>
          <a:xfrm>
            <a:off x="786384" y="2066544"/>
            <a:ext cx="2160956" cy="140817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Karakter haritada yol alıyor fakat kolları yana açık, animasyonsuz duruyor. Oyuncu karakteri aynı animasyonlarla sorunsuz çalışıyor.</a:t>
            </a:r>
            <a:endParaRPr lang="en-US" sz="1150" dirty="0"/>
          </a:p>
        </p:txBody>
      </p:sp>
      <p:sp>
        <p:nvSpPr>
          <p:cNvPr id="10" name="Shape 8"/>
          <p:cNvSpPr/>
          <p:nvPr/>
        </p:nvSpPr>
        <p:spPr>
          <a:xfrm>
            <a:off x="3386252" y="1481328"/>
            <a:ext cx="2599868" cy="2139696"/>
          </a:xfrm>
          <a:prstGeom prst="roundRect">
            <a:avLst>
              <a:gd name="adj" fmla="val 3419"/>
            </a:avLst>
          </a:prstGeom>
          <a:solidFill>
            <a:srgbClr val="242938"/>
          </a:solidFill>
          <a:ln w="12700">
            <a:solidFill>
              <a:srgbClr val="2A3042"/>
            </a:solidFill>
            <a:prstDash val="solid"/>
          </a:ln>
        </p:spPr>
      </p:sp>
      <p:sp>
        <p:nvSpPr>
          <p:cNvPr id="11" name="Shape 9"/>
          <p:cNvSpPr/>
          <p:nvPr/>
        </p:nvSpPr>
        <p:spPr>
          <a:xfrm>
            <a:off x="3587420" y="1664208"/>
            <a:ext cx="329184" cy="329184"/>
          </a:xfrm>
          <a:prstGeom prst="ellipse">
            <a:avLst/>
          </a:prstGeom>
          <a:solidFill>
            <a:srgbClr val="E0AF68"/>
          </a:solidFill>
          <a:ln w="12700">
            <a:solidFill>
              <a:srgbClr val="E0AF68"/>
            </a:solidFill>
            <a:prstDash val="solid"/>
          </a:ln>
        </p:spPr>
      </p:sp>
      <p:sp>
        <p:nvSpPr>
          <p:cNvPr id="12" name="Text 10"/>
          <p:cNvSpPr/>
          <p:nvPr/>
        </p:nvSpPr>
        <p:spPr>
          <a:xfrm>
            <a:off x="3587420"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026332" y="1645920"/>
            <a:ext cx="1740332" cy="365760"/>
          </a:xfrm>
          <a:prstGeom prst="rect">
            <a:avLst/>
          </a:prstGeom>
          <a:noFill/>
          <a:ln/>
        </p:spPr>
        <p:txBody>
          <a:bodyPr wrap="square" lIns="0" tIns="0" rIns="0" bIns="0" rtlCol="0" anchor="ctr"/>
          <a:lstStyle/>
          <a:p>
            <a:pPr algn="l" indent="0" marL="0">
              <a:buNone/>
            </a:pPr>
            <a:r>
              <a:rPr lang="en-US" sz="1500" b="1" dirty="0">
                <a:solidFill>
                  <a:srgbClr val="E0AF68"/>
                </a:solidFill>
                <a:latin typeface="Calibri" pitchFamily="34" charset="0"/>
                <a:ea typeface="Calibri" pitchFamily="34" charset="-122"/>
                <a:cs typeface="Calibri" pitchFamily="34" charset="-120"/>
              </a:rPr>
              <a:t>Yanıltıcı kanıt</a:t>
            </a:r>
            <a:endParaRPr lang="en-US" sz="1500" dirty="0"/>
          </a:p>
        </p:txBody>
      </p:sp>
      <p:sp>
        <p:nvSpPr>
          <p:cNvPr id="14" name="Text 12"/>
          <p:cNvSpPr/>
          <p:nvPr/>
        </p:nvSpPr>
        <p:spPr>
          <a:xfrm>
            <a:off x="3605708" y="2066544"/>
            <a:ext cx="2160956" cy="140817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Blueprint viewport'unda animasyon dönüyordu. Bu bir önizlemedir; asset'in kendi gösterimidir, çalışma anındaki bağlamayı kanıtlamaz.</a:t>
            </a:r>
            <a:endParaRPr lang="en-US" sz="1150" dirty="0"/>
          </a:p>
        </p:txBody>
      </p:sp>
      <p:sp>
        <p:nvSpPr>
          <p:cNvPr id="15" name="Shape 13"/>
          <p:cNvSpPr/>
          <p:nvPr/>
        </p:nvSpPr>
        <p:spPr>
          <a:xfrm>
            <a:off x="6205576" y="1481328"/>
            <a:ext cx="2599868" cy="2139696"/>
          </a:xfrm>
          <a:prstGeom prst="roundRect">
            <a:avLst>
              <a:gd name="adj" fmla="val 3419"/>
            </a:avLst>
          </a:prstGeom>
          <a:solidFill>
            <a:srgbClr val="242938"/>
          </a:solidFill>
          <a:ln w="12700">
            <a:solidFill>
              <a:srgbClr val="2A3042"/>
            </a:solidFill>
            <a:prstDash val="solid"/>
          </a:ln>
        </p:spPr>
      </p:sp>
      <p:sp>
        <p:nvSpPr>
          <p:cNvPr id="16" name="Shape 14"/>
          <p:cNvSpPr/>
          <p:nvPr/>
        </p:nvSpPr>
        <p:spPr>
          <a:xfrm>
            <a:off x="6406744" y="1664208"/>
            <a:ext cx="329184" cy="329184"/>
          </a:xfrm>
          <a:prstGeom prst="ellipse">
            <a:avLst/>
          </a:prstGeom>
          <a:solidFill>
            <a:srgbClr val="7DCFFF"/>
          </a:solidFill>
          <a:ln w="12700">
            <a:solidFill>
              <a:srgbClr val="7DCFFF"/>
            </a:solidFill>
            <a:prstDash val="solid"/>
          </a:ln>
        </p:spPr>
      </p:sp>
      <p:sp>
        <p:nvSpPr>
          <p:cNvPr id="17" name="Text 15"/>
          <p:cNvSpPr/>
          <p:nvPr/>
        </p:nvSpPr>
        <p:spPr>
          <a:xfrm>
            <a:off x="6406744"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845656" y="1645920"/>
            <a:ext cx="1740332" cy="365760"/>
          </a:xfrm>
          <a:prstGeom prst="rect">
            <a:avLst/>
          </a:prstGeom>
          <a:noFill/>
          <a:ln/>
        </p:spPr>
        <p:txBody>
          <a:bodyPr wrap="square" lIns="0" tIns="0" rIns="0" bIns="0" rtlCol="0" anchor="ctr"/>
          <a:lstStyle/>
          <a:p>
            <a:pPr algn="l" indent="0" marL="0">
              <a:buNone/>
            </a:pPr>
            <a:r>
              <a:rPr lang="en-US" sz="1500" b="1" dirty="0">
                <a:solidFill>
                  <a:srgbClr val="7DCFFF"/>
                </a:solidFill>
                <a:latin typeface="Calibri" pitchFamily="34" charset="0"/>
                <a:ea typeface="Calibri" pitchFamily="34" charset="-122"/>
                <a:cs typeface="Calibri" pitchFamily="34" charset="-120"/>
              </a:rPr>
              <a:t>Ayırt edici gözlem</a:t>
            </a:r>
            <a:endParaRPr lang="en-US" sz="1500" dirty="0"/>
          </a:p>
        </p:txBody>
      </p:sp>
      <p:sp>
        <p:nvSpPr>
          <p:cNvPr id="19" name="Text 17"/>
          <p:cNvSpPr/>
          <p:nvPr/>
        </p:nvSpPr>
        <p:spPr>
          <a:xfrm>
            <a:off x="6425032" y="2066544"/>
            <a:ext cx="2160956" cy="140817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Karakter havadan bırakıldığında düşme animasyonu çalışıyordu. Demek ki animasyon blueprint'i atanmış ve durum makinesi dönüyordu.</a:t>
            </a:r>
            <a:endParaRPr lang="en-US" sz="1150" dirty="0"/>
          </a:p>
        </p:txBody>
      </p:sp>
      <p:sp>
        <p:nvSpPr>
          <p:cNvPr id="20" name="Shape 18"/>
          <p:cNvSpPr/>
          <p:nvPr/>
        </p:nvSpPr>
        <p:spPr>
          <a:xfrm>
            <a:off x="9024899" y="1481328"/>
            <a:ext cx="2599868" cy="2139696"/>
          </a:xfrm>
          <a:prstGeom prst="roundRect">
            <a:avLst>
              <a:gd name="adj" fmla="val 3419"/>
            </a:avLst>
          </a:prstGeom>
          <a:solidFill>
            <a:srgbClr val="242938"/>
          </a:solidFill>
          <a:ln w="12700">
            <a:solidFill>
              <a:srgbClr val="2A3042"/>
            </a:solidFill>
            <a:prstDash val="solid"/>
          </a:ln>
        </p:spPr>
      </p:sp>
      <p:sp>
        <p:nvSpPr>
          <p:cNvPr id="21" name="Shape 19"/>
          <p:cNvSpPr/>
          <p:nvPr/>
        </p:nvSpPr>
        <p:spPr>
          <a:xfrm>
            <a:off x="9226067" y="1664208"/>
            <a:ext cx="329184" cy="329184"/>
          </a:xfrm>
          <a:prstGeom prst="ellipse">
            <a:avLst/>
          </a:prstGeom>
          <a:solidFill>
            <a:srgbClr val="9ECE6A"/>
          </a:solidFill>
          <a:ln w="12700">
            <a:solidFill>
              <a:srgbClr val="9ECE6A"/>
            </a:solidFill>
            <a:prstDash val="solid"/>
          </a:ln>
        </p:spPr>
      </p:sp>
      <p:sp>
        <p:nvSpPr>
          <p:cNvPr id="22" name="Text 20"/>
          <p:cNvSpPr/>
          <p:nvPr/>
        </p:nvSpPr>
        <p:spPr>
          <a:xfrm>
            <a:off x="9226067"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664979" y="1645920"/>
            <a:ext cx="1740332"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Kök neden</a:t>
            </a:r>
            <a:endParaRPr lang="en-US" sz="1500" dirty="0"/>
          </a:p>
        </p:txBody>
      </p:sp>
      <p:sp>
        <p:nvSpPr>
          <p:cNvPr id="24" name="Text 22"/>
          <p:cNvSpPr/>
          <p:nvPr/>
        </p:nvSpPr>
        <p:spPr>
          <a:xfrm>
            <a:off x="9244355" y="2066544"/>
            <a:ext cx="2160956" cy="140817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Sorun yalnızca yer üzerindeki hareket kolundaydı: animasyon blueprint'inin beklediği veri ve bileşenler AI sınıfında eksikti.</a:t>
            </a:r>
            <a:endParaRPr lang="en-US" sz="11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3913632"/>
          <a:ext cx="11057839" cy="914400"/>
        </p:xfrm>
        <a:graphic>
          <a:graphicData uri="http://schemas.openxmlformats.org/drawingml/2006/table">
            <a:tbl>
              <a:tblPr/>
              <a:tblGrid>
                <a:gridCol w="3108960"/>
                <a:gridCol w="3977640"/>
                <a:gridCol w="3968496"/>
              </a:tblGrid>
              <a:tr h="402336">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Kontrol Noktası</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E0AF68"/>
                    </a:solidFill>
                  </a:tcPr>
                </a:tc>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Nerede Bakılır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E0AF68"/>
                    </a:solidFill>
                  </a:tcPr>
                </a:tc>
                <a:tc>
                  <a:txBody>
                    <a:bodyPr/>
                    <a:lstStyle/>
                    <a:p>
                      <a:pPr indent="0" marL="0">
                        <a:buNone/>
                      </a:pPr>
                      <a:r>
                        <a:rPr lang="en-US" sz="1200" b="1" dirty="0">
                          <a:solidFill>
                            <a:srgbClr val="1A1B26"/>
                          </a:solidFill>
                          <a:latin typeface="Calibri" pitchFamily="34" charset="0"/>
                          <a:ea typeface="Calibri" pitchFamily="34" charset="-122"/>
                          <a:cs typeface="Calibri" pitchFamily="34" charset="-120"/>
                        </a:rPr>
                        <a:t>Beklenen Değer</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E0AF68"/>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Animation Mode</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Mesh bileşeni › Details › Animation</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Use Animation Blueprint</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Anim Class</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Aynı panelde hemen altında</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Retarget çıktısı ABP</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İskelet uyumu</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Skeletal Mesh ile ABP'nin skeleton'ı</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Aynı iskelet olmalı</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402336">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Seviye üzerinde ezme</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Outliner › seçili aktör › sarı geri ok</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200" dirty="0">
                          <a:solidFill>
                            <a:srgbClr val="C6CEF0"/>
                          </a:solidFill>
                          <a:latin typeface="Calibri" pitchFamily="34" charset="0"/>
                          <a:ea typeface="Calibri" pitchFamily="34" charset="-122"/>
                          <a:cs typeface="Calibri" pitchFamily="34" charset="-120"/>
                        </a:rPr>
                        <a:t>Blueprint varsayılanı geçerli</a:t>
                      </a:r>
                      <a:endParaRPr lang="en-US" sz="120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bl>
          </a:graphicData>
        </a:graphic>
      </p:graphicFrame>
      <p:sp>
        <p:nvSpPr>
          <p:cNvPr id="26" name="Text 23"/>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28</a:t>
            </a:r>
            <a:endParaRPr lang="en-US" sz="1000" dirty="0"/>
          </a:p>
        </p:txBody>
      </p:sp>
      <p:sp>
        <p:nvSpPr>
          <p:cNvPr id="27" name="Text 24"/>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05 / t-pose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Canlı Hata Ayıklama Teknikleri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Tahmin yürütmek yerine çalışan sistemi doğrudan gözlemlemek</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E0AF68"/>
                </a:solidFill>
                <a:latin typeface="Courier New" pitchFamily="34" charset="0"/>
                <a:ea typeface="Courier New" pitchFamily="34" charset="-122"/>
                <a:cs typeface="Courier New" pitchFamily="34" charset="-120"/>
              </a:rPr>
              <a:t>05 / TEKNIK</a:t>
            </a:r>
            <a:endParaRPr lang="en-US" sz="1000" dirty="0"/>
          </a:p>
        </p:txBody>
      </p:sp>
      <p:sp>
        <p:nvSpPr>
          <p:cNvPr id="5" name="Shape 3"/>
          <p:cNvSpPr/>
          <p:nvPr/>
        </p:nvSpPr>
        <p:spPr>
          <a:xfrm>
            <a:off x="566928" y="1481328"/>
            <a:ext cx="5391760" cy="1975104"/>
          </a:xfrm>
          <a:prstGeom prst="roundRect">
            <a:avLst>
              <a:gd name="adj" fmla="val 3704"/>
            </a:avLst>
          </a:prstGeom>
          <a:solidFill>
            <a:srgbClr val="242938"/>
          </a:solidFill>
          <a:ln w="12700">
            <a:solidFill>
              <a:srgbClr val="2A3042"/>
            </a:solidFill>
            <a:prstDash val="solid"/>
          </a:ln>
        </p:spPr>
      </p:sp>
      <p:sp>
        <p:nvSpPr>
          <p:cNvPr id="6" name="Shape 4"/>
          <p:cNvSpPr/>
          <p:nvPr/>
        </p:nvSpPr>
        <p:spPr>
          <a:xfrm>
            <a:off x="768096" y="1664208"/>
            <a:ext cx="329184" cy="329184"/>
          </a:xfrm>
          <a:prstGeom prst="ellipse">
            <a:avLst/>
          </a:prstGeom>
          <a:solidFill>
            <a:srgbClr val="7AA2F7"/>
          </a:solidFill>
          <a:ln w="12700">
            <a:solidFill>
              <a:srgbClr val="7AA2F7"/>
            </a:solidFill>
            <a:prstDash val="solid"/>
          </a:ln>
        </p:spPr>
      </p:sp>
      <p:sp>
        <p:nvSpPr>
          <p:cNvPr id="7" name="Text 5"/>
          <p:cNvSpPr/>
          <p:nvPr/>
        </p:nvSpPr>
        <p:spPr>
          <a:xfrm>
            <a:off x="76809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07008" y="1645920"/>
            <a:ext cx="4532224" cy="365760"/>
          </a:xfrm>
          <a:prstGeom prst="rect">
            <a:avLst/>
          </a:prstGeom>
          <a:noFill/>
          <a:ln/>
        </p:spPr>
        <p:txBody>
          <a:bodyPr wrap="square" lIns="0" tIns="0" rIns="0" bIns="0" rtlCol="0" anchor="ctr"/>
          <a:lstStyle/>
          <a:p>
            <a:pPr algn="l" indent="0" marL="0">
              <a:buNone/>
            </a:pPr>
            <a:r>
              <a:rPr lang="en-US" sz="1500" b="1" dirty="0">
                <a:solidFill>
                  <a:srgbClr val="7AA2F7"/>
                </a:solidFill>
                <a:latin typeface="Calibri" pitchFamily="34" charset="0"/>
                <a:ea typeface="Calibri" pitchFamily="34" charset="-122"/>
                <a:cs typeface="Calibri" pitchFamily="34" charset="-120"/>
              </a:rPr>
              <a:t>Debug Object seçimi</a:t>
            </a:r>
            <a:endParaRPr lang="en-US" sz="1500" dirty="0"/>
          </a:p>
        </p:txBody>
      </p:sp>
      <p:sp>
        <p:nvSpPr>
          <p:cNvPr id="9" name="Text 7"/>
          <p:cNvSpPr/>
          <p:nvPr/>
        </p:nvSpPr>
        <p:spPr>
          <a:xfrm>
            <a:off x="786384" y="2066544"/>
            <a:ext cx="4952848" cy="1243584"/>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Animasyon blueprint'i oyun çalışırken açılır ve sağ üstteki Preview/Debug Object listesinden ilgili karakterin örneği seçilir. Durum makinesinde aktif durum sarı renkte yanar, değişken pinlerinde canlı değerler görünür.</a:t>
            </a:r>
            <a:endParaRPr lang="en-US" sz="1200" dirty="0"/>
          </a:p>
        </p:txBody>
      </p:sp>
      <p:sp>
        <p:nvSpPr>
          <p:cNvPr id="10" name="Shape 8"/>
          <p:cNvSpPr/>
          <p:nvPr/>
        </p:nvSpPr>
        <p:spPr>
          <a:xfrm>
            <a:off x="6233008" y="1481328"/>
            <a:ext cx="5391760" cy="1975104"/>
          </a:xfrm>
          <a:prstGeom prst="roundRect">
            <a:avLst>
              <a:gd name="adj" fmla="val 3704"/>
            </a:avLst>
          </a:prstGeom>
          <a:solidFill>
            <a:srgbClr val="242938"/>
          </a:solidFill>
          <a:ln w="12700">
            <a:solidFill>
              <a:srgbClr val="2A3042"/>
            </a:solidFill>
            <a:prstDash val="solid"/>
          </a:ln>
        </p:spPr>
      </p:sp>
      <p:sp>
        <p:nvSpPr>
          <p:cNvPr id="11" name="Shape 9"/>
          <p:cNvSpPr/>
          <p:nvPr/>
        </p:nvSpPr>
        <p:spPr>
          <a:xfrm>
            <a:off x="6434176" y="1664208"/>
            <a:ext cx="329184" cy="329184"/>
          </a:xfrm>
          <a:prstGeom prst="ellipse">
            <a:avLst/>
          </a:prstGeom>
          <a:solidFill>
            <a:srgbClr val="9ECE6A"/>
          </a:solidFill>
          <a:ln w="12700">
            <a:solidFill>
              <a:srgbClr val="9ECE6A"/>
            </a:solidFill>
            <a:prstDash val="solid"/>
          </a:ln>
        </p:spPr>
      </p:sp>
      <p:sp>
        <p:nvSpPr>
          <p:cNvPr id="12" name="Text 10"/>
          <p:cNvSpPr/>
          <p:nvPr/>
        </p:nvSpPr>
        <p:spPr>
          <a:xfrm>
            <a:off x="643417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6873088" y="1645920"/>
            <a:ext cx="4532224"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Örnek adını yazdırma</a:t>
            </a:r>
            <a:endParaRPr lang="en-US" sz="1500" dirty="0"/>
          </a:p>
        </p:txBody>
      </p:sp>
      <p:sp>
        <p:nvSpPr>
          <p:cNvPr id="14" name="Text 12"/>
          <p:cNvSpPr/>
          <p:nvPr/>
        </p:nvSpPr>
        <p:spPr>
          <a:xfrm>
            <a:off x="6452464" y="2066544"/>
            <a:ext cx="4952848" cy="1243584"/>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Ekran mesajlarına GetName() eklendiğinde hangi örneğin konuştuğu anlaşılır. Aynı mesajın iki kez görünmesi genellikle sahnede birden fazla örnek bulunmasından kaynaklanır.</a:t>
            </a:r>
            <a:endParaRPr lang="en-US" sz="1200" dirty="0"/>
          </a:p>
        </p:txBody>
      </p:sp>
      <p:sp>
        <p:nvSpPr>
          <p:cNvPr id="15" name="Shape 13"/>
          <p:cNvSpPr/>
          <p:nvPr/>
        </p:nvSpPr>
        <p:spPr>
          <a:xfrm>
            <a:off x="566928" y="3639312"/>
            <a:ext cx="5391760" cy="1975104"/>
          </a:xfrm>
          <a:prstGeom prst="roundRect">
            <a:avLst>
              <a:gd name="adj" fmla="val 3704"/>
            </a:avLst>
          </a:prstGeom>
          <a:solidFill>
            <a:srgbClr val="242938"/>
          </a:solidFill>
          <a:ln w="12700">
            <a:solidFill>
              <a:srgbClr val="2A3042"/>
            </a:solidFill>
            <a:prstDash val="solid"/>
          </a:ln>
        </p:spPr>
      </p:sp>
      <p:sp>
        <p:nvSpPr>
          <p:cNvPr id="16" name="Shape 14"/>
          <p:cNvSpPr/>
          <p:nvPr/>
        </p:nvSpPr>
        <p:spPr>
          <a:xfrm>
            <a:off x="768096" y="3822192"/>
            <a:ext cx="329184" cy="329184"/>
          </a:xfrm>
          <a:prstGeom prst="ellipse">
            <a:avLst/>
          </a:prstGeom>
          <a:solidFill>
            <a:srgbClr val="BB9AF7"/>
          </a:solidFill>
          <a:ln w="12700">
            <a:solidFill>
              <a:srgbClr val="BB9AF7"/>
            </a:solidFill>
            <a:prstDash val="solid"/>
          </a:ln>
        </p:spPr>
      </p:sp>
      <p:sp>
        <p:nvSpPr>
          <p:cNvPr id="17" name="Text 15"/>
          <p:cNvSpPr/>
          <p:nvPr/>
        </p:nvSpPr>
        <p:spPr>
          <a:xfrm>
            <a:off x="768096" y="382219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207008" y="3803904"/>
            <a:ext cx="4532224" cy="365760"/>
          </a:xfrm>
          <a:prstGeom prst="rect">
            <a:avLst/>
          </a:prstGeom>
          <a:noFill/>
          <a:ln/>
        </p:spPr>
        <p:txBody>
          <a:bodyPr wrap="square" lIns="0" tIns="0" rIns="0" bIns="0" rtlCol="0" anchor="ctr"/>
          <a:lstStyle/>
          <a:p>
            <a:pPr algn="l" indent="0" marL="0">
              <a:buNone/>
            </a:pPr>
            <a:r>
              <a:rPr lang="en-US" sz="1500" b="1" dirty="0">
                <a:solidFill>
                  <a:srgbClr val="BB9AF7"/>
                </a:solidFill>
                <a:latin typeface="Calibri" pitchFamily="34" charset="0"/>
                <a:ea typeface="Calibri" pitchFamily="34" charset="-122"/>
                <a:cs typeface="Calibri" pitchFamily="34" charset="-120"/>
              </a:rPr>
              <a:t>Sabit anahtar kullanımı</a:t>
            </a:r>
            <a:endParaRPr lang="en-US" sz="1500" dirty="0"/>
          </a:p>
        </p:txBody>
      </p:sp>
      <p:sp>
        <p:nvSpPr>
          <p:cNvPr id="19" name="Text 17"/>
          <p:cNvSpPr/>
          <p:nvPr/>
        </p:nvSpPr>
        <p:spPr>
          <a:xfrm>
            <a:off x="786384" y="4224528"/>
            <a:ext cx="4952848" cy="1243584"/>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Ekran mesajının ilk parametresi -1 verildiğinde her çağrı yeni satır ekler ve ekran dolar. Sabit bir sayı verildiğinde aynı satır güncellenir; sürekli değişen değerleri izlemek için uygundur.</a:t>
            </a:r>
            <a:endParaRPr lang="en-US" sz="1200" dirty="0"/>
          </a:p>
        </p:txBody>
      </p:sp>
      <p:sp>
        <p:nvSpPr>
          <p:cNvPr id="20" name="Shape 18"/>
          <p:cNvSpPr/>
          <p:nvPr/>
        </p:nvSpPr>
        <p:spPr>
          <a:xfrm>
            <a:off x="6233008" y="3639312"/>
            <a:ext cx="5391760" cy="1975104"/>
          </a:xfrm>
          <a:prstGeom prst="roundRect">
            <a:avLst>
              <a:gd name="adj" fmla="val 3704"/>
            </a:avLst>
          </a:prstGeom>
          <a:solidFill>
            <a:srgbClr val="242938"/>
          </a:solidFill>
          <a:ln w="12700">
            <a:solidFill>
              <a:srgbClr val="2A3042"/>
            </a:solidFill>
            <a:prstDash val="solid"/>
          </a:ln>
        </p:spPr>
      </p:sp>
      <p:sp>
        <p:nvSpPr>
          <p:cNvPr id="21" name="Shape 19"/>
          <p:cNvSpPr/>
          <p:nvPr/>
        </p:nvSpPr>
        <p:spPr>
          <a:xfrm>
            <a:off x="6434176" y="3822192"/>
            <a:ext cx="329184" cy="329184"/>
          </a:xfrm>
          <a:prstGeom prst="ellipse">
            <a:avLst/>
          </a:prstGeom>
          <a:solidFill>
            <a:srgbClr val="7DCFFF"/>
          </a:solidFill>
          <a:ln w="12700">
            <a:solidFill>
              <a:srgbClr val="7DCFFF"/>
            </a:solidFill>
            <a:prstDash val="solid"/>
          </a:ln>
        </p:spPr>
      </p:sp>
      <p:sp>
        <p:nvSpPr>
          <p:cNvPr id="22" name="Text 20"/>
          <p:cNvSpPr/>
          <p:nvPr/>
        </p:nvSpPr>
        <p:spPr>
          <a:xfrm>
            <a:off x="6434176" y="382219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6873088" y="3803904"/>
            <a:ext cx="4532224" cy="365760"/>
          </a:xfrm>
          <a:prstGeom prst="rect">
            <a:avLst/>
          </a:prstGeom>
          <a:noFill/>
          <a:ln/>
        </p:spPr>
        <p:txBody>
          <a:bodyPr wrap="square" lIns="0" tIns="0" rIns="0" bIns="0" rtlCol="0" anchor="ctr"/>
          <a:lstStyle/>
          <a:p>
            <a:pPr algn="l" indent="0" marL="0">
              <a:buNone/>
            </a:pPr>
            <a:r>
              <a:rPr lang="en-US" sz="1500" b="1" dirty="0">
                <a:solidFill>
                  <a:srgbClr val="7DCFFF"/>
                </a:solidFill>
                <a:latin typeface="Calibri" pitchFamily="34" charset="0"/>
                <a:ea typeface="Calibri" pitchFamily="34" charset="-122"/>
                <a:cs typeface="Calibri" pitchFamily="34" charset="-120"/>
              </a:rPr>
              <a:t>Sonucu yazdırma</a:t>
            </a:r>
            <a:endParaRPr lang="en-US" sz="1500" dirty="0"/>
          </a:p>
        </p:txBody>
      </p:sp>
      <p:sp>
        <p:nvSpPr>
          <p:cNvPr id="24" name="Text 22"/>
          <p:cNvSpPr/>
          <p:nvPr/>
        </p:nvSpPr>
        <p:spPr>
          <a:xfrm>
            <a:off x="6452464" y="4224528"/>
            <a:ext cx="4952848" cy="1243584"/>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Hareket düğümlerinin dönüş değeri ekrana basıldığında isteğin başarılı mı yoksa başarısız mı olduğu anında görülür. Başarısız sonuç hedefin geçersiz olduğunu gösterir.</a:t>
            </a:r>
            <a:endParaRPr lang="en-US" sz="1200" dirty="0"/>
          </a:p>
        </p:txBody>
      </p:sp>
      <p:sp>
        <p:nvSpPr>
          <p:cNvPr id="25" name="Text 23"/>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29</a:t>
            </a:r>
            <a:endParaRPr lang="en-US" sz="1000" dirty="0"/>
          </a:p>
        </p:txBody>
      </p:sp>
      <p:sp>
        <p:nvSpPr>
          <p:cNvPr id="26" name="Text 24"/>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05 / teknikler</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F7768E"/>
          </a:solidFill>
          <a:ln w="12700">
            <a:solidFill>
              <a:srgbClr val="F7768E"/>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06</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Hata Ayıklama ve</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Çökme Analizi</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Çökme raporları korkutucu görünür ama okunabilir bir yapıya sahiptir. Çağrı yığını, hatanın hangi zincir üzerinden oluştuğunu adım adım gösterir.</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Çağrı yığını okuma</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Üç gerçek çökme vakası</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Kod dışı çökmeler</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30</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06</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Çağrı Yığını Nasıl Okunur?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En üstteki satır hatanın oluştuğu yer, alt satırlar oraya nasıl gelindiği</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F7768E"/>
                </a:solidFill>
                <a:latin typeface="Courier New" pitchFamily="34" charset="0"/>
                <a:ea typeface="Courier New" pitchFamily="34" charset="-122"/>
                <a:cs typeface="Courier New" pitchFamily="34" charset="-120"/>
              </a:rPr>
              <a:t>06 / CALLSTACK</a:t>
            </a:r>
            <a:endParaRPr lang="en-US" sz="1000" dirty="0"/>
          </a:p>
        </p:txBody>
      </p:sp>
      <p:sp>
        <p:nvSpPr>
          <p:cNvPr id="5" name="Shape 3"/>
          <p:cNvSpPr/>
          <p:nvPr/>
        </p:nvSpPr>
        <p:spPr>
          <a:xfrm>
            <a:off x="566928" y="1481328"/>
            <a:ext cx="6949440" cy="3200400"/>
          </a:xfrm>
          <a:prstGeom prst="roundRect">
            <a:avLst>
              <a:gd name="adj" fmla="val 1714"/>
            </a:avLst>
          </a:prstGeom>
          <a:solidFill>
            <a:srgbClr val="13141C"/>
          </a:solidFill>
          <a:ln w="12700">
            <a:solidFill>
              <a:srgbClr val="2A3042"/>
            </a:solidFill>
            <a:prstDash val="solid"/>
          </a:ln>
        </p:spPr>
      </p:sp>
      <p:sp>
        <p:nvSpPr>
          <p:cNvPr id="6" name="Text 4"/>
          <p:cNvSpPr/>
          <p:nvPr/>
        </p:nvSpPr>
        <p:spPr>
          <a:xfrm>
            <a:off x="713232" y="1545336"/>
            <a:ext cx="6656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GERÇEK ÇÖKME RAPORU — SADELEŞTİRİLMİŞ</a:t>
            </a:r>
            <a:endParaRPr lang="en-US" sz="900" dirty="0"/>
          </a:p>
        </p:txBody>
      </p:sp>
      <p:sp>
        <p:nvSpPr>
          <p:cNvPr id="7" name="Text 5"/>
          <p:cNvSpPr/>
          <p:nvPr/>
        </p:nvSpPr>
        <p:spPr>
          <a:xfrm>
            <a:off x="713232" y="1773936"/>
            <a:ext cx="6656832" cy="2798064"/>
          </a:xfrm>
          <a:prstGeom prst="rect">
            <a:avLst/>
          </a:prstGeom>
          <a:noFill/>
          <a:ln/>
        </p:spPr>
        <p:txBody>
          <a:bodyPr wrap="square" lIns="0" tIns="0" rIns="0" bIns="0" rtlCol="0" anchor="t"/>
          <a:lstStyle/>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Assertion failed: Index &gt;= 0 &amp;&amp; Index &lt; MaxIndex</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                                    [TimerHandle.h:61]</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 </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FTimerManager::AddTimer                  &lt;- hata burada</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FTimerManager::InternalSetTimer</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FTimerManager::SetTimer&lt;AAI_CharacterCpp&gt;</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AAI_CharacterCpp::HareketBitti           &lt;- bizim kod</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AAIController::OnMoveCompleted</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UPathFollowingComponent::OnPathFinished</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UPathFollowingComponent::AbortMove       &lt;- iptal tetiklendi</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AAIController::MoveToLocation</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AAI_CharacterCpp::YeniHareket            &lt;- başlangıç</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FTimerManager::Tick</a:t>
            </a:r>
            <a:endParaRPr lang="en-US" sz="1000" dirty="0"/>
          </a:p>
        </p:txBody>
      </p:sp>
      <p:sp>
        <p:nvSpPr>
          <p:cNvPr id="8" name="Shape 6"/>
          <p:cNvSpPr/>
          <p:nvPr/>
        </p:nvSpPr>
        <p:spPr>
          <a:xfrm>
            <a:off x="7790688" y="1481328"/>
            <a:ext cx="3834079" cy="987552"/>
          </a:xfrm>
          <a:prstGeom prst="roundRect">
            <a:avLst>
              <a:gd name="adj" fmla="val 7407"/>
            </a:avLst>
          </a:prstGeom>
          <a:solidFill>
            <a:srgbClr val="242938"/>
          </a:solidFill>
          <a:ln w="12700">
            <a:solidFill>
              <a:srgbClr val="2A3042"/>
            </a:solidFill>
            <a:prstDash val="solid"/>
          </a:ln>
        </p:spPr>
      </p:sp>
      <p:sp>
        <p:nvSpPr>
          <p:cNvPr id="9" name="Text 7"/>
          <p:cNvSpPr/>
          <p:nvPr/>
        </p:nvSpPr>
        <p:spPr>
          <a:xfrm>
            <a:off x="8010144" y="1645920"/>
            <a:ext cx="3395167" cy="365760"/>
          </a:xfrm>
          <a:prstGeom prst="rect">
            <a:avLst/>
          </a:prstGeom>
          <a:noFill/>
          <a:ln/>
        </p:spPr>
        <p:txBody>
          <a:bodyPr wrap="square" lIns="0" tIns="0" rIns="0" bIns="0" rtlCol="0" anchor="ctr"/>
          <a:lstStyle/>
          <a:p>
            <a:pPr algn="l" indent="0" marL="0">
              <a:buNone/>
            </a:pPr>
            <a:r>
              <a:rPr lang="en-US" sz="1300" b="1" dirty="0">
                <a:solidFill>
                  <a:srgbClr val="7AA2F7"/>
                </a:solidFill>
                <a:latin typeface="Calibri" pitchFamily="34" charset="0"/>
                <a:ea typeface="Calibri" pitchFamily="34" charset="-122"/>
                <a:cs typeface="Calibri" pitchFamily="34" charset="-120"/>
              </a:rPr>
              <a:t>Aşağıdan yukarı okunur</a:t>
            </a:r>
            <a:endParaRPr lang="en-US" sz="1300" dirty="0"/>
          </a:p>
        </p:txBody>
      </p:sp>
      <p:sp>
        <p:nvSpPr>
          <p:cNvPr id="10" name="Text 8"/>
          <p:cNvSpPr/>
          <p:nvPr/>
        </p:nvSpPr>
        <p:spPr>
          <a:xfrm>
            <a:off x="8010144" y="2066544"/>
            <a:ext cx="3395167" cy="256032"/>
          </a:xfrm>
          <a:prstGeom prst="rect">
            <a:avLst/>
          </a:prstGeom>
          <a:noFill/>
          <a:ln/>
        </p:spPr>
        <p:txBody>
          <a:bodyPr wrap="square" lIns="0" tIns="0" rIns="0" bIns="0" rtlCol="0" anchor="t"/>
          <a:lstStyle/>
          <a:p>
            <a:pPr algn="l" indent="0" marL="0">
              <a:lnSpc>
                <a:spcPct val="115000"/>
              </a:lnSpc>
              <a:buNone/>
            </a:pPr>
            <a:r>
              <a:rPr lang="en-US" sz="1050" dirty="0">
                <a:solidFill>
                  <a:srgbClr val="C6CEF0"/>
                </a:solidFill>
                <a:latin typeface="Calibri" pitchFamily="34" charset="0"/>
                <a:ea typeface="Calibri" pitchFamily="34" charset="-122"/>
                <a:cs typeface="Calibri" pitchFamily="34" charset="-120"/>
              </a:rPr>
              <a:t>En alttaki satır zincirin başlangıcıdır. Yukarı çıkıldıkça olayların hangi sırayla tetiklendiği görülür.</a:t>
            </a:r>
            <a:endParaRPr lang="en-US" sz="1050" dirty="0"/>
          </a:p>
        </p:txBody>
      </p:sp>
      <p:sp>
        <p:nvSpPr>
          <p:cNvPr id="11" name="Shape 9"/>
          <p:cNvSpPr/>
          <p:nvPr/>
        </p:nvSpPr>
        <p:spPr>
          <a:xfrm>
            <a:off x="7790688" y="2596896"/>
            <a:ext cx="3834079" cy="987552"/>
          </a:xfrm>
          <a:prstGeom prst="roundRect">
            <a:avLst>
              <a:gd name="adj" fmla="val 7407"/>
            </a:avLst>
          </a:prstGeom>
          <a:solidFill>
            <a:srgbClr val="242938"/>
          </a:solidFill>
          <a:ln w="12700">
            <a:solidFill>
              <a:srgbClr val="2A3042"/>
            </a:solidFill>
            <a:prstDash val="solid"/>
          </a:ln>
        </p:spPr>
      </p:sp>
      <p:sp>
        <p:nvSpPr>
          <p:cNvPr id="12" name="Text 10"/>
          <p:cNvSpPr/>
          <p:nvPr/>
        </p:nvSpPr>
        <p:spPr>
          <a:xfrm>
            <a:off x="8010144" y="2761488"/>
            <a:ext cx="3395167" cy="365760"/>
          </a:xfrm>
          <a:prstGeom prst="rect">
            <a:avLst/>
          </a:prstGeom>
          <a:noFill/>
          <a:ln/>
        </p:spPr>
        <p:txBody>
          <a:bodyPr wrap="square" lIns="0" tIns="0" rIns="0" bIns="0" rtlCol="0" anchor="ctr"/>
          <a:lstStyle/>
          <a:p>
            <a:pPr algn="l" indent="0" marL="0">
              <a:buNone/>
            </a:pPr>
            <a:r>
              <a:rPr lang="en-US" sz="1300" b="1" dirty="0">
                <a:solidFill>
                  <a:srgbClr val="9ECE6A"/>
                </a:solidFill>
                <a:latin typeface="Calibri" pitchFamily="34" charset="0"/>
                <a:ea typeface="Calibri" pitchFamily="34" charset="-122"/>
                <a:cs typeface="Calibri" pitchFamily="34" charset="-120"/>
              </a:rPr>
              <a:t>Kendi sınıfın aranır</a:t>
            </a:r>
            <a:endParaRPr lang="en-US" sz="1300" dirty="0"/>
          </a:p>
        </p:txBody>
      </p:sp>
      <p:sp>
        <p:nvSpPr>
          <p:cNvPr id="13" name="Text 11"/>
          <p:cNvSpPr/>
          <p:nvPr/>
        </p:nvSpPr>
        <p:spPr>
          <a:xfrm>
            <a:off x="8010144" y="3182112"/>
            <a:ext cx="3395167" cy="256032"/>
          </a:xfrm>
          <a:prstGeom prst="rect">
            <a:avLst/>
          </a:prstGeom>
          <a:noFill/>
          <a:ln/>
        </p:spPr>
        <p:txBody>
          <a:bodyPr wrap="square" lIns="0" tIns="0" rIns="0" bIns="0" rtlCol="0" anchor="t"/>
          <a:lstStyle/>
          <a:p>
            <a:pPr algn="l" indent="0" marL="0">
              <a:lnSpc>
                <a:spcPct val="115000"/>
              </a:lnSpc>
              <a:buNone/>
            </a:pPr>
            <a:r>
              <a:rPr lang="en-US" sz="1050" dirty="0">
                <a:solidFill>
                  <a:srgbClr val="C6CEF0"/>
                </a:solidFill>
                <a:latin typeface="Calibri" pitchFamily="34" charset="0"/>
                <a:ea typeface="Calibri" pitchFamily="34" charset="-122"/>
                <a:cs typeface="Calibri" pitchFamily="34" charset="-120"/>
              </a:rPr>
              <a:t>Yığında projenin sınıf adları bulunuyorsa hata kendi kodundadır. Yalnızca motor sınıfları varsa neden büyük olasılıkla kod dışıdır.</a:t>
            </a:r>
            <a:endParaRPr lang="en-US" sz="1050" dirty="0"/>
          </a:p>
        </p:txBody>
      </p:sp>
      <p:sp>
        <p:nvSpPr>
          <p:cNvPr id="14" name="Shape 12"/>
          <p:cNvSpPr/>
          <p:nvPr/>
        </p:nvSpPr>
        <p:spPr>
          <a:xfrm>
            <a:off x="7790688" y="3712464"/>
            <a:ext cx="3834079" cy="987552"/>
          </a:xfrm>
          <a:prstGeom prst="roundRect">
            <a:avLst>
              <a:gd name="adj" fmla="val 7407"/>
            </a:avLst>
          </a:prstGeom>
          <a:solidFill>
            <a:srgbClr val="242938"/>
          </a:solidFill>
          <a:ln w="12700">
            <a:solidFill>
              <a:srgbClr val="2A3042"/>
            </a:solidFill>
            <a:prstDash val="solid"/>
          </a:ln>
        </p:spPr>
      </p:sp>
      <p:sp>
        <p:nvSpPr>
          <p:cNvPr id="15" name="Text 13"/>
          <p:cNvSpPr/>
          <p:nvPr/>
        </p:nvSpPr>
        <p:spPr>
          <a:xfrm>
            <a:off x="8010144" y="3877056"/>
            <a:ext cx="3395167" cy="365760"/>
          </a:xfrm>
          <a:prstGeom prst="rect">
            <a:avLst/>
          </a:prstGeom>
          <a:noFill/>
          <a:ln/>
        </p:spPr>
        <p:txBody>
          <a:bodyPr wrap="square" lIns="0" tIns="0" rIns="0" bIns="0" rtlCol="0" anchor="ctr"/>
          <a:lstStyle/>
          <a:p>
            <a:pPr algn="l" indent="0" marL="0">
              <a:buNone/>
            </a:pPr>
            <a:r>
              <a:rPr lang="en-US" sz="1300" b="1" dirty="0">
                <a:solidFill>
                  <a:srgbClr val="E0AF68"/>
                </a:solidFill>
                <a:latin typeface="Calibri" pitchFamily="34" charset="0"/>
                <a:ea typeface="Calibri" pitchFamily="34" charset="-122"/>
                <a:cs typeface="Calibri" pitchFamily="34" charset="-120"/>
              </a:rPr>
              <a:t>Tekrar eden desen aranır</a:t>
            </a:r>
            <a:endParaRPr lang="en-US" sz="1300" dirty="0"/>
          </a:p>
        </p:txBody>
      </p:sp>
      <p:sp>
        <p:nvSpPr>
          <p:cNvPr id="16" name="Text 14"/>
          <p:cNvSpPr/>
          <p:nvPr/>
        </p:nvSpPr>
        <p:spPr>
          <a:xfrm>
            <a:off x="8010144" y="4297680"/>
            <a:ext cx="3395167" cy="256032"/>
          </a:xfrm>
          <a:prstGeom prst="rect">
            <a:avLst/>
          </a:prstGeom>
          <a:noFill/>
          <a:ln/>
        </p:spPr>
        <p:txBody>
          <a:bodyPr wrap="square" lIns="0" tIns="0" rIns="0" bIns="0" rtlCol="0" anchor="t"/>
          <a:lstStyle/>
          <a:p>
            <a:pPr algn="l" indent="0" marL="0">
              <a:lnSpc>
                <a:spcPct val="115000"/>
              </a:lnSpc>
              <a:buNone/>
            </a:pPr>
            <a:r>
              <a:rPr lang="en-US" sz="1050" dirty="0">
                <a:solidFill>
                  <a:srgbClr val="C6CEF0"/>
                </a:solidFill>
                <a:latin typeface="Calibri" pitchFamily="34" charset="0"/>
                <a:ea typeface="Calibri" pitchFamily="34" charset="-122"/>
                <a:cs typeface="Calibri" pitchFamily="34" charset="-120"/>
              </a:rPr>
              <a:t>Aynı fonksiyonun yığında birden fazla görünmesi, kendini tetikleyen bir döngünün oluştuğunu gösterir.</a:t>
            </a:r>
            <a:endParaRPr lang="en-US" sz="1050" dirty="0"/>
          </a:p>
        </p:txBody>
      </p:sp>
      <p:sp>
        <p:nvSpPr>
          <p:cNvPr id="17" name="Shape 15"/>
          <p:cNvSpPr/>
          <p:nvPr/>
        </p:nvSpPr>
        <p:spPr>
          <a:xfrm>
            <a:off x="566928" y="4828032"/>
            <a:ext cx="11057839" cy="859536"/>
          </a:xfrm>
          <a:prstGeom prst="roundRect">
            <a:avLst>
              <a:gd name="adj" fmla="val 8511"/>
            </a:avLst>
          </a:prstGeom>
          <a:solidFill>
            <a:srgbClr val="242938"/>
          </a:solidFill>
          <a:ln w="12700">
            <a:solidFill>
              <a:srgbClr val="2A3042"/>
            </a:solidFill>
            <a:prstDash val="solid"/>
          </a:ln>
        </p:spPr>
      </p:sp>
      <p:sp>
        <p:nvSpPr>
          <p:cNvPr id="18" name="Text 16"/>
          <p:cNvSpPr/>
          <p:nvPr/>
        </p:nvSpPr>
        <p:spPr>
          <a:xfrm>
            <a:off x="786384" y="4992624"/>
            <a:ext cx="10618927" cy="365760"/>
          </a:xfrm>
          <a:prstGeom prst="rect">
            <a:avLst/>
          </a:prstGeom>
          <a:noFill/>
          <a:ln/>
        </p:spPr>
        <p:txBody>
          <a:bodyPr wrap="square" lIns="0" tIns="0" rIns="0" bIns="0" rtlCol="0" anchor="ctr"/>
          <a:lstStyle/>
          <a:p>
            <a:pPr algn="l" indent="0" marL="0">
              <a:buNone/>
            </a:pPr>
            <a:r>
              <a:rPr lang="en-US" sz="1400" b="1" dirty="0">
                <a:solidFill>
                  <a:srgbClr val="F7768E"/>
                </a:solidFill>
                <a:latin typeface="Calibri" pitchFamily="34" charset="0"/>
                <a:ea typeface="Calibri" pitchFamily="34" charset="-122"/>
                <a:cs typeface="Calibri" pitchFamily="34" charset="-120"/>
              </a:rPr>
              <a:t>Bu yığının anlattığı hikâye</a:t>
            </a:r>
            <a:endParaRPr lang="en-US" sz="1400" dirty="0"/>
          </a:p>
        </p:txBody>
      </p:sp>
      <p:sp>
        <p:nvSpPr>
          <p:cNvPr id="19" name="Text 17"/>
          <p:cNvSpPr/>
          <p:nvPr/>
        </p:nvSpPr>
        <p:spPr>
          <a:xfrm>
            <a:off x="786384" y="5413248"/>
            <a:ext cx="10618927" cy="12801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YeniHareket içinde ikinci bir hareket emri verildi. Motor önceki hareketi iptal etti, iptal anında tamamlandı bildirimi yayınlandı, bu bildirim HareketBitti fonksiyonunu çağırdı ve orada zamanlayıcı kurulmaya çalışıldı. Zincir bir kare içinde kapandığı için zamanlayıcı sistemi geçersiz duruma düştü.</a:t>
            </a:r>
            <a:endParaRPr lang="en-US" sz="1200" dirty="0"/>
          </a:p>
        </p:txBody>
      </p:sp>
      <p:sp>
        <p:nvSpPr>
          <p:cNvPr id="20" name="Text 18"/>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31</a:t>
            </a:r>
            <a:endParaRPr lang="en-US" sz="1000" dirty="0"/>
          </a:p>
        </p:txBody>
      </p:sp>
      <p:sp>
        <p:nvSpPr>
          <p:cNvPr id="21" name="Text 19"/>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06 / callstack</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Üç Çökme Vakası ve Kök Nedenleri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Hepsi aynı sistemde, farklı mekanizmalarla ortaya çıktı</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F7768E"/>
                </a:solidFill>
                <a:latin typeface="Courier New" pitchFamily="34" charset="0"/>
                <a:ea typeface="Courier New" pitchFamily="34" charset="-122"/>
                <a:cs typeface="Courier New" pitchFamily="34" charset="-120"/>
              </a:rPr>
              <a:t>06 / VAKALAR</a:t>
            </a:r>
            <a:endParaRPr lang="en-US" sz="1000" dirty="0"/>
          </a:p>
        </p:txBody>
      </p:sp>
      <p:sp>
        <p:nvSpPr>
          <p:cNvPr id="5" name="Shape 3"/>
          <p:cNvSpPr/>
          <p:nvPr/>
        </p:nvSpPr>
        <p:spPr>
          <a:xfrm>
            <a:off x="566928" y="1481328"/>
            <a:ext cx="3527450" cy="457200"/>
          </a:xfrm>
          <a:prstGeom prst="roundRect">
            <a:avLst>
              <a:gd name="adj" fmla="val 12000"/>
            </a:avLst>
          </a:prstGeom>
          <a:solidFill>
            <a:srgbClr val="F7768E"/>
          </a:solidFill>
          <a:ln w="12700">
            <a:solidFill>
              <a:srgbClr val="F7768E"/>
            </a:solidFill>
            <a:prstDash val="solid"/>
          </a:ln>
        </p:spPr>
      </p:sp>
      <p:sp>
        <p:nvSpPr>
          <p:cNvPr id="6" name="Text 4"/>
          <p:cNvSpPr/>
          <p:nvPr/>
        </p:nvSpPr>
        <p:spPr>
          <a:xfrm>
            <a:off x="713232" y="1481328"/>
            <a:ext cx="3234842" cy="457200"/>
          </a:xfrm>
          <a:prstGeom prst="rect">
            <a:avLst/>
          </a:prstGeom>
          <a:noFill/>
          <a:ln/>
        </p:spPr>
        <p:txBody>
          <a:bodyPr wrap="square" lIns="0" tIns="0" rIns="0" bIns="0" rtlCol="0" anchor="ctr"/>
          <a:lstStyle/>
          <a:p>
            <a:pPr indent="0" marL="0">
              <a:buNone/>
            </a:pPr>
            <a:r>
              <a:rPr lang="en-US" sz="1400" b="1" dirty="0">
                <a:solidFill>
                  <a:srgbClr val="1A1B26"/>
                </a:solidFill>
                <a:latin typeface="Calibri" pitchFamily="34" charset="0"/>
                <a:ea typeface="Calibri" pitchFamily="34" charset="-122"/>
                <a:cs typeface="Calibri" pitchFamily="34" charset="-120"/>
              </a:rPr>
              <a:t>Zincirleme Tetikleme</a:t>
            </a:r>
            <a:endParaRPr lang="en-US" sz="1400" dirty="0"/>
          </a:p>
        </p:txBody>
      </p:sp>
      <p:sp>
        <p:nvSpPr>
          <p:cNvPr id="7" name="Shape 5"/>
          <p:cNvSpPr/>
          <p:nvPr/>
        </p:nvSpPr>
        <p:spPr>
          <a:xfrm>
            <a:off x="566928" y="2048256"/>
            <a:ext cx="3527450" cy="1737360"/>
          </a:xfrm>
          <a:prstGeom prst="roundRect">
            <a:avLst>
              <a:gd name="adj" fmla="val 3158"/>
            </a:avLst>
          </a:prstGeom>
          <a:solidFill>
            <a:srgbClr val="13141C"/>
          </a:solidFill>
          <a:ln w="12700">
            <a:solidFill>
              <a:srgbClr val="2A3042"/>
            </a:solidFill>
            <a:prstDash val="solid"/>
          </a:ln>
        </p:spPr>
      </p:sp>
      <p:sp>
        <p:nvSpPr>
          <p:cNvPr id="8" name="Text 6"/>
          <p:cNvSpPr/>
          <p:nvPr/>
        </p:nvSpPr>
        <p:spPr>
          <a:xfrm>
            <a:off x="713232" y="2112264"/>
            <a:ext cx="323484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SORUNLU</a:t>
            </a:r>
            <a:endParaRPr lang="en-US" sz="900" dirty="0"/>
          </a:p>
        </p:txBody>
      </p:sp>
      <p:sp>
        <p:nvSpPr>
          <p:cNvPr id="9" name="Text 7"/>
          <p:cNvSpPr/>
          <p:nvPr/>
        </p:nvSpPr>
        <p:spPr>
          <a:xfrm>
            <a:off x="713232" y="2340864"/>
            <a:ext cx="3234842" cy="1335024"/>
          </a:xfrm>
          <a:prstGeom prst="rect">
            <a:avLst/>
          </a:prstGeom>
          <a:noFill/>
          <a:ln/>
        </p:spPr>
        <p:txBody>
          <a:bodyPr wrap="square" lIns="0" tIns="0" rIns="0" bIns="0" rtlCol="0" anchor="t"/>
          <a:lstStyle/>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Aynı fonksiyonda iki hareket emri</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AIC_Ref-&gt;MoveToLocation(SabitNokta);</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AIC_Ref-&gt;MoveToLocation(YeniNokta);</a:t>
            </a:r>
            <a:endParaRPr lang="en-US" sz="950" dirty="0"/>
          </a:p>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İkincisi birinciyi iptal eder,</a:t>
            </a:r>
            <a:endParaRPr lang="en-US" sz="950" dirty="0"/>
          </a:p>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iptal anında bitiş olayı yayılır.</a:t>
            </a:r>
            <a:endParaRPr lang="en-US" sz="950" dirty="0"/>
          </a:p>
        </p:txBody>
      </p:sp>
      <p:sp>
        <p:nvSpPr>
          <p:cNvPr id="10" name="Shape 8"/>
          <p:cNvSpPr/>
          <p:nvPr/>
        </p:nvSpPr>
        <p:spPr>
          <a:xfrm>
            <a:off x="566928" y="3913632"/>
            <a:ext cx="3527450" cy="1371600"/>
          </a:xfrm>
          <a:prstGeom prst="roundRect">
            <a:avLst>
              <a:gd name="adj" fmla="val 4000"/>
            </a:avLst>
          </a:prstGeom>
          <a:solidFill>
            <a:srgbClr val="13141C"/>
          </a:solidFill>
          <a:ln w="12700">
            <a:solidFill>
              <a:srgbClr val="2A3042"/>
            </a:solidFill>
            <a:prstDash val="solid"/>
          </a:ln>
        </p:spPr>
      </p:sp>
      <p:sp>
        <p:nvSpPr>
          <p:cNvPr id="11" name="Text 9"/>
          <p:cNvSpPr/>
          <p:nvPr/>
        </p:nvSpPr>
        <p:spPr>
          <a:xfrm>
            <a:off x="713232" y="3977640"/>
            <a:ext cx="323484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DÜZELTİLMİŞ</a:t>
            </a:r>
            <a:endParaRPr lang="en-US" sz="900" dirty="0"/>
          </a:p>
        </p:txBody>
      </p:sp>
      <p:sp>
        <p:nvSpPr>
          <p:cNvPr id="12" name="Text 10"/>
          <p:cNvSpPr/>
          <p:nvPr/>
        </p:nvSpPr>
        <p:spPr>
          <a:xfrm>
            <a:off x="713232" y="4206240"/>
            <a:ext cx="3234842" cy="969264"/>
          </a:xfrm>
          <a:prstGeom prst="rect">
            <a:avLst/>
          </a:prstGeom>
          <a:noFill/>
          <a:ln/>
        </p:spPr>
        <p:txBody>
          <a:bodyPr wrap="square" lIns="0" tIns="0" rIns="0" bIns="0" rtlCol="0" anchor="t"/>
          <a:lstStyle/>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Bir karede yalnızca tek emir</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AIC_Ref-&gt;MoveToLocation(NavLocation.Location);</a:t>
            </a:r>
            <a:endParaRPr lang="en-US" sz="950" dirty="0"/>
          </a:p>
        </p:txBody>
      </p:sp>
      <p:sp>
        <p:nvSpPr>
          <p:cNvPr id="13" name="Shape 11"/>
          <p:cNvSpPr/>
          <p:nvPr/>
        </p:nvSpPr>
        <p:spPr>
          <a:xfrm>
            <a:off x="4332122" y="1481328"/>
            <a:ext cx="3527450" cy="457200"/>
          </a:xfrm>
          <a:prstGeom prst="roundRect">
            <a:avLst>
              <a:gd name="adj" fmla="val 12000"/>
            </a:avLst>
          </a:prstGeom>
          <a:solidFill>
            <a:srgbClr val="E0AF68"/>
          </a:solidFill>
          <a:ln w="12700">
            <a:solidFill>
              <a:srgbClr val="E0AF68"/>
            </a:solidFill>
            <a:prstDash val="solid"/>
          </a:ln>
        </p:spPr>
      </p:sp>
      <p:sp>
        <p:nvSpPr>
          <p:cNvPr id="14" name="Text 12"/>
          <p:cNvSpPr/>
          <p:nvPr/>
        </p:nvSpPr>
        <p:spPr>
          <a:xfrm>
            <a:off x="4478426" y="1481328"/>
            <a:ext cx="3234842" cy="457200"/>
          </a:xfrm>
          <a:prstGeom prst="rect">
            <a:avLst/>
          </a:prstGeom>
          <a:noFill/>
          <a:ln/>
        </p:spPr>
        <p:txBody>
          <a:bodyPr wrap="square" lIns="0" tIns="0" rIns="0" bIns="0" rtlCol="0" anchor="ctr"/>
          <a:lstStyle/>
          <a:p>
            <a:pPr indent="0" marL="0">
              <a:buNone/>
            </a:pPr>
            <a:r>
              <a:rPr lang="en-US" sz="1400" b="1" dirty="0">
                <a:solidFill>
                  <a:srgbClr val="1A1B26"/>
                </a:solidFill>
                <a:latin typeface="Calibri" pitchFamily="34" charset="0"/>
                <a:ea typeface="Calibri" pitchFamily="34" charset="-122"/>
                <a:cs typeface="Calibri" pitchFamily="34" charset="-120"/>
              </a:rPr>
              <a:t>Dinleyici Birikmesi</a:t>
            </a:r>
            <a:endParaRPr lang="en-US" sz="1400" dirty="0"/>
          </a:p>
        </p:txBody>
      </p:sp>
      <p:sp>
        <p:nvSpPr>
          <p:cNvPr id="15" name="Shape 13"/>
          <p:cNvSpPr/>
          <p:nvPr/>
        </p:nvSpPr>
        <p:spPr>
          <a:xfrm>
            <a:off x="4332122" y="2048256"/>
            <a:ext cx="3527450" cy="1737360"/>
          </a:xfrm>
          <a:prstGeom prst="roundRect">
            <a:avLst>
              <a:gd name="adj" fmla="val 3158"/>
            </a:avLst>
          </a:prstGeom>
          <a:solidFill>
            <a:srgbClr val="13141C"/>
          </a:solidFill>
          <a:ln w="12700">
            <a:solidFill>
              <a:srgbClr val="2A3042"/>
            </a:solidFill>
            <a:prstDash val="solid"/>
          </a:ln>
        </p:spPr>
      </p:sp>
      <p:sp>
        <p:nvSpPr>
          <p:cNvPr id="16" name="Text 14"/>
          <p:cNvSpPr/>
          <p:nvPr/>
        </p:nvSpPr>
        <p:spPr>
          <a:xfrm>
            <a:off x="4478426" y="2112264"/>
            <a:ext cx="323484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SORUNLU</a:t>
            </a:r>
            <a:endParaRPr lang="en-US" sz="900" dirty="0"/>
          </a:p>
        </p:txBody>
      </p:sp>
      <p:sp>
        <p:nvSpPr>
          <p:cNvPr id="17" name="Text 15"/>
          <p:cNvSpPr/>
          <p:nvPr/>
        </p:nvSpPr>
        <p:spPr>
          <a:xfrm>
            <a:off x="4478426" y="2340864"/>
            <a:ext cx="3234842" cy="1335024"/>
          </a:xfrm>
          <a:prstGeom prst="rect">
            <a:avLst/>
          </a:prstGeom>
          <a:noFill/>
          <a:ln/>
        </p:spPr>
        <p:txBody>
          <a:bodyPr wrap="square" lIns="0" tIns="0" rIns="0" bIns="0" rtlCol="0" anchor="t"/>
          <a:lstStyle/>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Her turda yeniden bağlanıyor</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void YeniHareket() {</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    Delegate.AddDynamic(this, &amp;Sinif::Bitti);</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  </a:t>
            </a:r>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2. tur: 2 çağrı, 3. tur: 3 çağrı...</a:t>
            </a:r>
            <a:endParaRPr lang="en-US" sz="950" dirty="0"/>
          </a:p>
        </p:txBody>
      </p:sp>
      <p:sp>
        <p:nvSpPr>
          <p:cNvPr id="18" name="Shape 16"/>
          <p:cNvSpPr/>
          <p:nvPr/>
        </p:nvSpPr>
        <p:spPr>
          <a:xfrm>
            <a:off x="4332122" y="3913632"/>
            <a:ext cx="3527450" cy="1371600"/>
          </a:xfrm>
          <a:prstGeom prst="roundRect">
            <a:avLst>
              <a:gd name="adj" fmla="val 4000"/>
            </a:avLst>
          </a:prstGeom>
          <a:solidFill>
            <a:srgbClr val="13141C"/>
          </a:solidFill>
          <a:ln w="12700">
            <a:solidFill>
              <a:srgbClr val="2A3042"/>
            </a:solidFill>
            <a:prstDash val="solid"/>
          </a:ln>
        </p:spPr>
      </p:sp>
      <p:sp>
        <p:nvSpPr>
          <p:cNvPr id="19" name="Text 17"/>
          <p:cNvSpPr/>
          <p:nvPr/>
        </p:nvSpPr>
        <p:spPr>
          <a:xfrm>
            <a:off x="4478426" y="3977640"/>
            <a:ext cx="323484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DÜZELTİLMİŞ</a:t>
            </a:r>
            <a:endParaRPr lang="en-US" sz="900" dirty="0"/>
          </a:p>
        </p:txBody>
      </p:sp>
      <p:sp>
        <p:nvSpPr>
          <p:cNvPr id="20" name="Text 18"/>
          <p:cNvSpPr/>
          <p:nvPr/>
        </p:nvSpPr>
        <p:spPr>
          <a:xfrm>
            <a:off x="4478426" y="4206240"/>
            <a:ext cx="3234842" cy="969264"/>
          </a:xfrm>
          <a:prstGeom prst="rect">
            <a:avLst/>
          </a:prstGeom>
          <a:noFill/>
          <a:ln/>
        </p:spPr>
        <p:txBody>
          <a:bodyPr wrap="square" lIns="0" tIns="0" rIns="0" bIns="0" rtlCol="0" anchor="t"/>
          <a:lstStyle/>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BeginPlay içinde, yalnızca bir kez</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Delegate.AddDynamic(this, &amp;Sinif::Bitti);</a:t>
            </a:r>
            <a:endParaRPr lang="en-US" sz="950" dirty="0"/>
          </a:p>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Şüphe varsa AddUniqueDynamic kullanılır.</a:t>
            </a:r>
            <a:endParaRPr lang="en-US" sz="950" dirty="0"/>
          </a:p>
        </p:txBody>
      </p:sp>
      <p:sp>
        <p:nvSpPr>
          <p:cNvPr id="21" name="Shape 19"/>
          <p:cNvSpPr/>
          <p:nvPr/>
        </p:nvSpPr>
        <p:spPr>
          <a:xfrm>
            <a:off x="8097317" y="1481328"/>
            <a:ext cx="3527450" cy="457200"/>
          </a:xfrm>
          <a:prstGeom prst="roundRect">
            <a:avLst>
              <a:gd name="adj" fmla="val 12000"/>
            </a:avLst>
          </a:prstGeom>
          <a:solidFill>
            <a:srgbClr val="BB9AF7"/>
          </a:solidFill>
          <a:ln w="12700">
            <a:solidFill>
              <a:srgbClr val="BB9AF7"/>
            </a:solidFill>
            <a:prstDash val="solid"/>
          </a:ln>
        </p:spPr>
      </p:sp>
      <p:sp>
        <p:nvSpPr>
          <p:cNvPr id="22" name="Text 20"/>
          <p:cNvSpPr/>
          <p:nvPr/>
        </p:nvSpPr>
        <p:spPr>
          <a:xfrm>
            <a:off x="8243621" y="1481328"/>
            <a:ext cx="3234842" cy="457200"/>
          </a:xfrm>
          <a:prstGeom prst="rect">
            <a:avLst/>
          </a:prstGeom>
          <a:noFill/>
          <a:ln/>
        </p:spPr>
        <p:txBody>
          <a:bodyPr wrap="square" lIns="0" tIns="0" rIns="0" bIns="0" rtlCol="0" anchor="ctr"/>
          <a:lstStyle/>
          <a:p>
            <a:pPr indent="0" marL="0">
              <a:buNone/>
            </a:pPr>
            <a:r>
              <a:rPr lang="en-US" sz="1400" b="1" dirty="0">
                <a:solidFill>
                  <a:srgbClr val="1A1B26"/>
                </a:solidFill>
                <a:latin typeface="Calibri" pitchFamily="34" charset="0"/>
                <a:ea typeface="Calibri" pitchFamily="34" charset="-122"/>
                <a:cs typeface="Calibri" pitchFamily="34" charset="-120"/>
              </a:rPr>
              <a:t>Kısa Ömürlü Tanıtıcı</a:t>
            </a:r>
            <a:endParaRPr lang="en-US" sz="1400" dirty="0"/>
          </a:p>
        </p:txBody>
      </p:sp>
      <p:sp>
        <p:nvSpPr>
          <p:cNvPr id="23" name="Shape 21"/>
          <p:cNvSpPr/>
          <p:nvPr/>
        </p:nvSpPr>
        <p:spPr>
          <a:xfrm>
            <a:off x="8097317" y="2048256"/>
            <a:ext cx="3527450" cy="1737360"/>
          </a:xfrm>
          <a:prstGeom prst="roundRect">
            <a:avLst>
              <a:gd name="adj" fmla="val 3158"/>
            </a:avLst>
          </a:prstGeom>
          <a:solidFill>
            <a:srgbClr val="13141C"/>
          </a:solidFill>
          <a:ln w="12700">
            <a:solidFill>
              <a:srgbClr val="2A3042"/>
            </a:solidFill>
            <a:prstDash val="solid"/>
          </a:ln>
        </p:spPr>
      </p:sp>
      <p:sp>
        <p:nvSpPr>
          <p:cNvPr id="24" name="Text 22"/>
          <p:cNvSpPr/>
          <p:nvPr/>
        </p:nvSpPr>
        <p:spPr>
          <a:xfrm>
            <a:off x="8243621" y="2112264"/>
            <a:ext cx="323484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SORUNLU</a:t>
            </a:r>
            <a:endParaRPr lang="en-US" sz="900" dirty="0"/>
          </a:p>
        </p:txBody>
      </p:sp>
      <p:sp>
        <p:nvSpPr>
          <p:cNvPr id="25" name="Text 23"/>
          <p:cNvSpPr/>
          <p:nvPr/>
        </p:nvSpPr>
        <p:spPr>
          <a:xfrm>
            <a:off x="8243621" y="2340864"/>
            <a:ext cx="3234842" cy="1335024"/>
          </a:xfrm>
          <a:prstGeom prst="rect">
            <a:avLst/>
          </a:prstGeom>
          <a:noFill/>
          <a:ln/>
        </p:spPr>
        <p:txBody>
          <a:bodyPr wrap="square" lIns="0" tIns="0" rIns="0" bIns="0" rtlCol="0" anchor="t"/>
          <a:lstStyle/>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void HareketBitti() {</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    FTimerHandle TH;   </a:t>
            </a:r>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yerel değişken</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    SetTimer(TH, ...); </a:t>
            </a:r>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fonksiyon bitince yok olur</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a:t>
            </a:r>
            <a:endParaRPr lang="en-US" sz="950" dirty="0"/>
          </a:p>
        </p:txBody>
      </p:sp>
      <p:sp>
        <p:nvSpPr>
          <p:cNvPr id="26" name="Shape 24"/>
          <p:cNvSpPr/>
          <p:nvPr/>
        </p:nvSpPr>
        <p:spPr>
          <a:xfrm>
            <a:off x="8097317" y="3913632"/>
            <a:ext cx="3527450" cy="1371600"/>
          </a:xfrm>
          <a:prstGeom prst="roundRect">
            <a:avLst>
              <a:gd name="adj" fmla="val 4000"/>
            </a:avLst>
          </a:prstGeom>
          <a:solidFill>
            <a:srgbClr val="13141C"/>
          </a:solidFill>
          <a:ln w="12700">
            <a:solidFill>
              <a:srgbClr val="2A3042"/>
            </a:solidFill>
            <a:prstDash val="solid"/>
          </a:ln>
        </p:spPr>
      </p:sp>
      <p:sp>
        <p:nvSpPr>
          <p:cNvPr id="27" name="Text 25"/>
          <p:cNvSpPr/>
          <p:nvPr/>
        </p:nvSpPr>
        <p:spPr>
          <a:xfrm>
            <a:off x="8243621" y="3977640"/>
            <a:ext cx="323484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DÜZELTİLMİŞ</a:t>
            </a:r>
            <a:endParaRPr lang="en-US" sz="900" dirty="0"/>
          </a:p>
        </p:txBody>
      </p:sp>
      <p:sp>
        <p:nvSpPr>
          <p:cNvPr id="28" name="Text 26"/>
          <p:cNvSpPr/>
          <p:nvPr/>
        </p:nvSpPr>
        <p:spPr>
          <a:xfrm>
            <a:off x="8243621" y="4206240"/>
            <a:ext cx="3234842" cy="969264"/>
          </a:xfrm>
          <a:prstGeom prst="rect">
            <a:avLst/>
          </a:prstGeom>
          <a:noFill/>
          <a:ln/>
        </p:spPr>
        <p:txBody>
          <a:bodyPr wrap="square" lIns="0" tIns="0" rIns="0" bIns="0" rtlCol="0" anchor="t"/>
          <a:lstStyle/>
          <a:p>
            <a:pPr algn="l" indent="0" marL="0">
              <a:lnSpc>
                <a:spcPct val="112000"/>
              </a:lnSpc>
              <a:buNone/>
            </a:pPr>
            <a:r>
              <a:rPr lang="en-US" sz="950" dirty="0">
                <a:solidFill>
                  <a:srgbClr val="6B7396"/>
                </a:solidFill>
                <a:latin typeface="Courier New" pitchFamily="34" charset="0"/>
                <a:ea typeface="Courier New" pitchFamily="34" charset="-122"/>
                <a:cs typeface="Courier New" pitchFamily="34" charset="-120"/>
              </a:rPr>
              <a:t>// Header'da üye değişken olarak tanımlanır</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FTimerHandle SayacTimer;</a:t>
            </a:r>
            <a:endParaRPr lang="en-US" sz="950" dirty="0"/>
          </a:p>
          <a:p>
            <a:pPr algn="l" indent="0" marL="0">
              <a:lnSpc>
                <a:spcPct val="112000"/>
              </a:lnSpc>
              <a:buNone/>
            </a:pPr>
            <a:r>
              <a:rPr lang="en-US" sz="950" dirty="0">
                <a:solidFill>
                  <a:srgbClr val="C6CEF0"/>
                </a:solidFill>
                <a:latin typeface="Courier New" pitchFamily="34" charset="0"/>
                <a:ea typeface="Courier New" pitchFamily="34" charset="-122"/>
                <a:cs typeface="Courier New" pitchFamily="34" charset="-120"/>
              </a:rPr>
              <a:t>SetTimer(SayacTimer, ...);</a:t>
            </a:r>
            <a:endParaRPr lang="en-US" sz="950" dirty="0"/>
          </a:p>
        </p:txBody>
      </p:sp>
      <p:sp>
        <p:nvSpPr>
          <p:cNvPr id="29" name="Text 27"/>
          <p:cNvSpPr/>
          <p:nvPr/>
        </p:nvSpPr>
        <p:spPr>
          <a:xfrm>
            <a:off x="566928" y="5413248"/>
            <a:ext cx="11057839" cy="310896"/>
          </a:xfrm>
          <a:prstGeom prst="rect">
            <a:avLst/>
          </a:prstGeom>
          <a:noFill/>
          <a:ln/>
        </p:spPr>
        <p:txBody>
          <a:bodyPr wrap="square" lIns="0" tIns="0" rIns="0" bIns="0" rtlCol="0" anchor="ctr"/>
          <a:lstStyle/>
          <a:p>
            <a:pPr indent="0" marL="0">
              <a:buNone/>
            </a:pPr>
            <a:r>
              <a:rPr lang="en-US" sz="1250" i="1" dirty="0">
                <a:solidFill>
                  <a:srgbClr val="E0AF68"/>
                </a:solidFill>
                <a:latin typeface="Calibri" pitchFamily="34" charset="0"/>
                <a:ea typeface="Calibri" pitchFamily="34" charset="-122"/>
                <a:cs typeface="Calibri" pitchFamily="34" charset="-120"/>
              </a:rPr>
              <a:t>Ortak ders: bir olayın kendi tetikleyicisini yeniden çağırdığı her yapı, kapalı bir döngü riski taşır.</a:t>
            </a:r>
            <a:endParaRPr lang="en-US" sz="1250" dirty="0"/>
          </a:p>
        </p:txBody>
      </p:sp>
      <p:sp>
        <p:nvSpPr>
          <p:cNvPr id="30" name="Text 28"/>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32</a:t>
            </a:r>
            <a:endParaRPr lang="en-US" sz="1000" dirty="0"/>
          </a:p>
        </p:txBody>
      </p:sp>
      <p:sp>
        <p:nvSpPr>
          <p:cNvPr id="31" name="Text 29"/>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06 / vakalar</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Her Çökme Kodun Suçu Değildir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Yığında proje sınıfı yoksa neden başka yerde aranmalıdır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F7768E"/>
                </a:solidFill>
                <a:latin typeface="Courier New" pitchFamily="34" charset="0"/>
                <a:ea typeface="Courier New" pitchFamily="34" charset="-122"/>
                <a:cs typeface="Courier New" pitchFamily="34" charset="-120"/>
              </a:rPr>
              <a:t>06 / ORTAM</a:t>
            </a:r>
            <a:endParaRPr lang="en-US" sz="1000" dirty="0"/>
          </a:p>
        </p:txBody>
      </p:sp>
      <p:sp>
        <p:nvSpPr>
          <p:cNvPr id="5" name="Shape 3"/>
          <p:cNvSpPr/>
          <p:nvPr/>
        </p:nvSpPr>
        <p:spPr>
          <a:xfrm>
            <a:off x="566928" y="1481328"/>
            <a:ext cx="6675120" cy="2194560"/>
          </a:xfrm>
          <a:prstGeom prst="roundRect">
            <a:avLst>
              <a:gd name="adj" fmla="val 2500"/>
            </a:avLst>
          </a:prstGeom>
          <a:solidFill>
            <a:srgbClr val="13141C"/>
          </a:solidFill>
          <a:ln w="12700">
            <a:solidFill>
              <a:srgbClr val="2A3042"/>
            </a:solidFill>
            <a:prstDash val="solid"/>
          </a:ln>
        </p:spPr>
      </p:sp>
      <p:sp>
        <p:nvSpPr>
          <p:cNvPr id="6" name="Text 4"/>
          <p:cNvSpPr/>
          <p:nvPr/>
        </p:nvSpPr>
        <p:spPr>
          <a:xfrm>
            <a:off x="713232" y="1545336"/>
            <a:ext cx="638251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ÇAĞRI YIĞINI — PROJE SINIFI YOK</a:t>
            </a:r>
            <a:endParaRPr lang="en-US" sz="900" dirty="0"/>
          </a:p>
        </p:txBody>
      </p:sp>
      <p:sp>
        <p:nvSpPr>
          <p:cNvPr id="7" name="Text 5"/>
          <p:cNvSpPr/>
          <p:nvPr/>
        </p:nvSpPr>
        <p:spPr>
          <a:xfrm>
            <a:off x="713232" y="1773936"/>
            <a:ext cx="6382512" cy="1792224"/>
          </a:xfrm>
          <a:prstGeom prst="rect">
            <a:avLst/>
          </a:prstGeom>
          <a:noFill/>
          <a:ln/>
        </p:spPr>
        <p:txBody>
          <a:bodyPr wrap="square" lIns="0" tIns="0" rIns="0" bIns="0" rtlCol="0" anchor="t"/>
          <a:lstStyle/>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Caught signal</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libsystem_pthread.dylib!pthread_mutex_lock()</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MetalRHI!FMetalViewport::GetBackBuffer()</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MetalRHI!FMetalDynamicRHI::RHIGetViewportBackBuffer()</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SlateRHIRenderer!FSlateRHIRenderer::DrawWindow()</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RenderCore!RenderingThreadMain()</a:t>
            </a:r>
            <a:endParaRPr lang="en-US" sz="1000" dirty="0"/>
          </a:p>
          <a:p>
            <a:pPr algn="l" indent="0" marL="0">
              <a:lnSpc>
                <a:spcPct val="112000"/>
              </a:lnSpc>
              <a:buNone/>
            </a:pPr>
            <a:r>
              <a:rPr lang="en-US" sz="1000" dirty="0">
                <a:solidFill>
                  <a:srgbClr val="C6CEF0"/>
                </a:solidFill>
                <a:latin typeface="Courier New" pitchFamily="34" charset="0"/>
                <a:ea typeface="Courier New" pitchFamily="34" charset="-122"/>
                <a:cs typeface="Courier New" pitchFamily="34" charset="-120"/>
              </a:rPr>
              <a:t> </a:t>
            </a:r>
            <a:endParaRPr lang="en-US" sz="1000" dirty="0"/>
          </a:p>
          <a:p>
            <a:pPr algn="l" indent="0" marL="0">
              <a:lnSpc>
                <a:spcPct val="112000"/>
              </a:lnSpc>
              <a:buNone/>
            </a:pPr>
            <a:r>
              <a:rPr lang="en-US" sz="1000" dirty="0">
                <a:solidFill>
                  <a:srgbClr val="6B7396"/>
                </a:solidFill>
                <a:latin typeface="Courier New" pitchFamily="34" charset="0"/>
                <a:ea typeface="Courier New" pitchFamily="34" charset="-122"/>
                <a:cs typeface="Courier New" pitchFamily="34" charset="-120"/>
              </a:rPr>
              <a:t>// Tamamı motor ve işletim sistemi katmanı.</a:t>
            </a:r>
            <a:endParaRPr lang="en-US" sz="1000" dirty="0"/>
          </a:p>
          <a:p>
            <a:pPr algn="l" indent="0" marL="0">
              <a:lnSpc>
                <a:spcPct val="112000"/>
              </a:lnSpc>
              <a:buNone/>
            </a:pPr>
            <a:r>
              <a:rPr lang="en-US" sz="1000" dirty="0">
                <a:solidFill>
                  <a:srgbClr val="6B7396"/>
                </a:solidFill>
                <a:latin typeface="Courier New" pitchFamily="34" charset="0"/>
                <a:ea typeface="Courier New" pitchFamily="34" charset="-122"/>
                <a:cs typeface="Courier New" pitchFamily="34" charset="-120"/>
              </a:rPr>
              <a:t>// Proje sınıflarından tek satır bile yok.</a:t>
            </a:r>
            <a:endParaRPr lang="en-US" sz="1000" dirty="0"/>
          </a:p>
        </p:txBody>
      </p:sp>
      <p:sp>
        <p:nvSpPr>
          <p:cNvPr id="8" name="Shape 6"/>
          <p:cNvSpPr/>
          <p:nvPr/>
        </p:nvSpPr>
        <p:spPr>
          <a:xfrm>
            <a:off x="7516368" y="1481328"/>
            <a:ext cx="4108399" cy="1152144"/>
          </a:xfrm>
          <a:prstGeom prst="roundRect">
            <a:avLst>
              <a:gd name="adj" fmla="val 6349"/>
            </a:avLst>
          </a:prstGeom>
          <a:solidFill>
            <a:srgbClr val="242938"/>
          </a:solidFill>
          <a:ln w="12700">
            <a:solidFill>
              <a:srgbClr val="2A3042"/>
            </a:solidFill>
            <a:prstDash val="solid"/>
          </a:ln>
        </p:spPr>
      </p:sp>
      <p:sp>
        <p:nvSpPr>
          <p:cNvPr id="9" name="Text 7"/>
          <p:cNvSpPr/>
          <p:nvPr/>
        </p:nvSpPr>
        <p:spPr>
          <a:xfrm>
            <a:off x="7735824" y="1645920"/>
            <a:ext cx="3669487" cy="365760"/>
          </a:xfrm>
          <a:prstGeom prst="rect">
            <a:avLst/>
          </a:prstGeom>
          <a:noFill/>
          <a:ln/>
        </p:spPr>
        <p:txBody>
          <a:bodyPr wrap="square" lIns="0" tIns="0" rIns="0" bIns="0" rtlCol="0" anchor="ctr"/>
          <a:lstStyle/>
          <a:p>
            <a:pPr algn="l" indent="0" marL="0">
              <a:buNone/>
            </a:pPr>
            <a:r>
              <a:rPr lang="en-US" sz="1300" b="1" dirty="0">
                <a:solidFill>
                  <a:srgbClr val="E0AF68"/>
                </a:solidFill>
                <a:latin typeface="Calibri" pitchFamily="34" charset="0"/>
                <a:ea typeface="Calibri" pitchFamily="34" charset="-122"/>
                <a:cs typeface="Calibri" pitchFamily="34" charset="-120"/>
              </a:rPr>
              <a:t>Bellek baskısı</a:t>
            </a:r>
            <a:endParaRPr lang="en-US" sz="1300" dirty="0"/>
          </a:p>
        </p:txBody>
      </p:sp>
      <p:sp>
        <p:nvSpPr>
          <p:cNvPr id="10" name="Text 8"/>
          <p:cNvSpPr/>
          <p:nvPr/>
        </p:nvSpPr>
        <p:spPr>
          <a:xfrm>
            <a:off x="7735824" y="2066544"/>
            <a:ext cx="3669487" cy="42062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Sistem belleği dolduğunda grafik tamponları takas alanına düşer ve render iş parçacığı zaman aşımına uğrar.</a:t>
            </a:r>
            <a:endParaRPr lang="en-US" sz="1100" dirty="0"/>
          </a:p>
        </p:txBody>
      </p:sp>
      <p:sp>
        <p:nvSpPr>
          <p:cNvPr id="11" name="Shape 9"/>
          <p:cNvSpPr/>
          <p:nvPr/>
        </p:nvSpPr>
        <p:spPr>
          <a:xfrm>
            <a:off x="7516368" y="2779776"/>
            <a:ext cx="4108399" cy="1152144"/>
          </a:xfrm>
          <a:prstGeom prst="roundRect">
            <a:avLst>
              <a:gd name="adj" fmla="val 6349"/>
            </a:avLst>
          </a:prstGeom>
          <a:solidFill>
            <a:srgbClr val="242938"/>
          </a:solidFill>
          <a:ln w="12700">
            <a:solidFill>
              <a:srgbClr val="2A3042"/>
            </a:solidFill>
            <a:prstDash val="solid"/>
          </a:ln>
        </p:spPr>
      </p:sp>
      <p:sp>
        <p:nvSpPr>
          <p:cNvPr id="12" name="Text 10"/>
          <p:cNvSpPr/>
          <p:nvPr/>
        </p:nvSpPr>
        <p:spPr>
          <a:xfrm>
            <a:off x="7735824" y="2944368"/>
            <a:ext cx="3669487" cy="365760"/>
          </a:xfrm>
          <a:prstGeom prst="rect">
            <a:avLst/>
          </a:prstGeom>
          <a:noFill/>
          <a:ln/>
        </p:spPr>
        <p:txBody>
          <a:bodyPr wrap="square" lIns="0" tIns="0" rIns="0" bIns="0" rtlCol="0" anchor="ctr"/>
          <a:lstStyle/>
          <a:p>
            <a:pPr algn="l" indent="0" marL="0">
              <a:buNone/>
            </a:pPr>
            <a:r>
              <a:rPr lang="en-US" sz="1300" b="1" dirty="0">
                <a:solidFill>
                  <a:srgbClr val="7DCFFF"/>
                </a:solidFill>
                <a:latin typeface="Calibri" pitchFamily="34" charset="0"/>
                <a:ea typeface="Calibri" pitchFamily="34" charset="-122"/>
                <a:cs typeface="Calibri" pitchFamily="34" charset="-120"/>
              </a:rPr>
              <a:t>Pencere olayı</a:t>
            </a:r>
            <a:endParaRPr lang="en-US" sz="1300" dirty="0"/>
          </a:p>
        </p:txBody>
      </p:sp>
      <p:sp>
        <p:nvSpPr>
          <p:cNvPr id="13" name="Text 11"/>
          <p:cNvSpPr/>
          <p:nvPr/>
        </p:nvSpPr>
        <p:spPr>
          <a:xfrm>
            <a:off x="7735824" y="3364992"/>
            <a:ext cx="3669487" cy="42062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Oyun çalışırken pencerenin yeniden boyutlandırılması veya ekran değiştirilmesi grafik katmanını kararsız duruma sokar.</a:t>
            </a:r>
            <a:endParaRPr lang="en-US" sz="1100" dirty="0"/>
          </a:p>
        </p:txBody>
      </p:sp>
      <p:sp>
        <p:nvSpPr>
          <p:cNvPr id="14" name="Shape 12"/>
          <p:cNvSpPr/>
          <p:nvPr/>
        </p:nvSpPr>
        <p:spPr>
          <a:xfrm>
            <a:off x="7516368" y="4078224"/>
            <a:ext cx="4108399" cy="1152144"/>
          </a:xfrm>
          <a:prstGeom prst="roundRect">
            <a:avLst>
              <a:gd name="adj" fmla="val 6349"/>
            </a:avLst>
          </a:prstGeom>
          <a:solidFill>
            <a:srgbClr val="242938"/>
          </a:solidFill>
          <a:ln w="12700">
            <a:solidFill>
              <a:srgbClr val="2A3042"/>
            </a:solidFill>
            <a:prstDash val="solid"/>
          </a:ln>
        </p:spPr>
      </p:sp>
      <p:sp>
        <p:nvSpPr>
          <p:cNvPr id="15" name="Text 13"/>
          <p:cNvSpPr/>
          <p:nvPr/>
        </p:nvSpPr>
        <p:spPr>
          <a:xfrm>
            <a:off x="7735824" y="4242816"/>
            <a:ext cx="3669487" cy="365760"/>
          </a:xfrm>
          <a:prstGeom prst="rect">
            <a:avLst/>
          </a:prstGeom>
          <a:noFill/>
          <a:ln/>
        </p:spPr>
        <p:txBody>
          <a:bodyPr wrap="square" lIns="0" tIns="0" rIns="0" bIns="0" rtlCol="0" anchor="ctr"/>
          <a:lstStyle/>
          <a:p>
            <a:pPr algn="l" indent="0" marL="0">
              <a:buNone/>
            </a:pPr>
            <a:r>
              <a:rPr lang="en-US" sz="1300" b="1" dirty="0">
                <a:solidFill>
                  <a:srgbClr val="BB9AF7"/>
                </a:solidFill>
                <a:latin typeface="Calibri" pitchFamily="34" charset="0"/>
                <a:ea typeface="Calibri" pitchFamily="34" charset="-122"/>
                <a:cs typeface="Calibri" pitchFamily="34" charset="-120"/>
              </a:rPr>
              <a:t>Uzun süren kare</a:t>
            </a:r>
            <a:endParaRPr lang="en-US" sz="1300" dirty="0"/>
          </a:p>
        </p:txBody>
      </p:sp>
      <p:sp>
        <p:nvSpPr>
          <p:cNvPr id="16" name="Text 14"/>
          <p:cNvSpPr/>
          <p:nvPr/>
        </p:nvSpPr>
        <p:spPr>
          <a:xfrm>
            <a:off x="7735824" y="4663440"/>
            <a:ext cx="3669487" cy="420624"/>
          </a:xfrm>
          <a:prstGeom prst="rect">
            <a:avLst/>
          </a:prstGeom>
          <a:noFill/>
          <a:ln/>
        </p:spPr>
        <p:txBody>
          <a:bodyPr wrap="square" lIns="0" tIns="0" rIns="0" bIns="0" rtlCol="0" anchor="t"/>
          <a:lstStyle/>
          <a:p>
            <a:pPr algn="l" indent="0" marL="0">
              <a:lnSpc>
                <a:spcPct val="115000"/>
              </a:lnSpc>
              <a:buNone/>
            </a:pPr>
            <a:r>
              <a:rPr lang="en-US" sz="1100" dirty="0">
                <a:solidFill>
                  <a:srgbClr val="C6CEF0"/>
                </a:solidFill>
                <a:latin typeface="Calibri" pitchFamily="34" charset="0"/>
                <a:ea typeface="Calibri" pitchFamily="34" charset="-122"/>
                <a:cs typeface="Calibri" pitchFamily="34" charset="-120"/>
              </a:rPr>
              <a:t>Tek karede yapılan ağır hesaplama, örneğin geniş yarıçaplı navigasyon sorgusu, render iş parçacığını bekletir.</a:t>
            </a:r>
            <a:endParaRPr lang="en-US" sz="1100" dirty="0"/>
          </a:p>
        </p:txBody>
      </p:sp>
      <p:sp>
        <p:nvSpPr>
          <p:cNvPr id="17" name="Shape 15"/>
          <p:cNvSpPr/>
          <p:nvPr/>
        </p:nvSpPr>
        <p:spPr>
          <a:xfrm>
            <a:off x="566928" y="3877056"/>
            <a:ext cx="6675120" cy="1810512"/>
          </a:xfrm>
          <a:prstGeom prst="roundRect">
            <a:avLst>
              <a:gd name="adj" fmla="val 4040"/>
            </a:avLst>
          </a:prstGeom>
          <a:solidFill>
            <a:srgbClr val="242938"/>
          </a:solidFill>
          <a:ln w="12700">
            <a:solidFill>
              <a:srgbClr val="2A3042"/>
            </a:solidFill>
            <a:prstDash val="solid"/>
          </a:ln>
        </p:spPr>
      </p:sp>
      <p:sp>
        <p:nvSpPr>
          <p:cNvPr id="18" name="Text 16"/>
          <p:cNvSpPr/>
          <p:nvPr/>
        </p:nvSpPr>
        <p:spPr>
          <a:xfrm>
            <a:off x="786384" y="4005072"/>
            <a:ext cx="6236208" cy="256032"/>
          </a:xfrm>
          <a:prstGeom prst="rect">
            <a:avLst/>
          </a:prstGeom>
          <a:noFill/>
          <a:ln/>
        </p:spPr>
        <p:txBody>
          <a:bodyPr wrap="square" lIns="0" tIns="0" rIns="0" bIns="0" rtlCol="0" anchor="ctr"/>
          <a:lstStyle/>
          <a:p>
            <a:pPr indent="0" marL="0">
              <a:buNone/>
            </a:pPr>
            <a:r>
              <a:rPr lang="en-US" sz="1100" b="1" dirty="0">
                <a:solidFill>
                  <a:srgbClr val="9ECE6A"/>
                </a:solidFill>
                <a:latin typeface="Calibri" pitchFamily="34" charset="0"/>
                <a:ea typeface="Calibri" pitchFamily="34" charset="-122"/>
                <a:cs typeface="Calibri" pitchFamily="34" charset="-120"/>
              </a:rPr>
              <a:t>ALINABİLECEK ÖNLEMLER</a:t>
            </a:r>
            <a:endParaRPr lang="en-US" sz="1100" dirty="0"/>
          </a:p>
        </p:txBody>
      </p:sp>
      <p:sp>
        <p:nvSpPr>
          <p:cNvPr id="19" name="Text 17"/>
          <p:cNvSpPr/>
          <p:nvPr/>
        </p:nvSpPr>
        <p:spPr>
          <a:xfrm>
            <a:off x="786384" y="4315968"/>
            <a:ext cx="6236208" cy="1280160"/>
          </a:xfrm>
          <a:prstGeom prst="rect">
            <a:avLst/>
          </a:prstGeom>
          <a:noFill/>
          <a:ln/>
        </p:spPr>
        <p:txBody>
          <a:bodyPr wrap="square" lIns="0" tIns="0" rIns="0" bIns="0" rtlCol="0" anchor="t"/>
          <a:lstStyle/>
          <a:p>
            <a:pPr algn="l" marL="342900" indent="-342900">
              <a:spcAft>
                <a:spcPts val="600"/>
              </a:spcAft>
              <a:buSzPct val="100000"/>
              <a:buChar char="▪"/>
            </a:pPr>
            <a:r>
              <a:rPr lang="en-US" sz="1200" dirty="0">
                <a:solidFill>
                  <a:srgbClr val="C6CEF0"/>
                </a:solidFill>
                <a:latin typeface="Calibri" pitchFamily="34" charset="0"/>
                <a:ea typeface="Calibri" pitchFamily="34" charset="-122"/>
                <a:cs typeface="Calibri" pitchFamily="34" charset="-120"/>
              </a:rPr>
              <a:t>Ölçeklenebilirlik ayarları düşürülür</a:t>
            </a:r>
            <a:endParaRPr lang="en-US" sz="1200" dirty="0"/>
          </a:p>
          <a:p>
            <a:pPr algn="l" marL="342900" indent="-342900">
              <a:spcAft>
                <a:spcPts val="600"/>
              </a:spcAft>
              <a:buSzPct val="100000"/>
              <a:buChar char="▪"/>
            </a:pPr>
            <a:r>
              <a:rPr lang="en-US" sz="1200" dirty="0">
                <a:solidFill>
                  <a:srgbClr val="C6CEF0"/>
                </a:solidFill>
                <a:latin typeface="Calibri" pitchFamily="34" charset="0"/>
                <a:ea typeface="Calibri" pitchFamily="34" charset="-122"/>
                <a:cs typeface="Calibri" pitchFamily="34" charset="-120"/>
              </a:rPr>
              <a:t>Oyun ayrı pencerede başlatılır</a:t>
            </a:r>
            <a:endParaRPr lang="en-US" sz="1200" dirty="0"/>
          </a:p>
          <a:p>
            <a:pPr algn="l" marL="342900" indent="-342900">
              <a:spcAft>
                <a:spcPts val="600"/>
              </a:spcAft>
              <a:buSzPct val="100000"/>
              <a:buChar char="▪"/>
            </a:pPr>
            <a:r>
              <a:rPr lang="en-US" sz="1200" dirty="0">
                <a:solidFill>
                  <a:srgbClr val="C6CEF0"/>
                </a:solidFill>
                <a:latin typeface="Calibri" pitchFamily="34" charset="0"/>
                <a:ea typeface="Calibri" pitchFamily="34" charset="-122"/>
                <a:cs typeface="Calibri" pitchFamily="34" charset="-120"/>
              </a:rPr>
              <a:t>IDE ile editör aynı anda açık tutulmaz</a:t>
            </a:r>
            <a:endParaRPr lang="en-US" sz="1200" dirty="0"/>
          </a:p>
          <a:p>
            <a:pPr algn="l" marL="342900" indent="-342900">
              <a:spcAft>
                <a:spcPts val="600"/>
              </a:spcAft>
              <a:buSzPct val="100000"/>
              <a:buChar char="▪"/>
            </a:pPr>
            <a:r>
              <a:rPr lang="en-US" sz="1200" dirty="0">
                <a:solidFill>
                  <a:srgbClr val="C6CEF0"/>
                </a:solidFill>
                <a:latin typeface="Calibri" pitchFamily="34" charset="0"/>
                <a:ea typeface="Calibri" pitchFamily="34" charset="-122"/>
                <a:cs typeface="Calibri" pitchFamily="34" charset="-120"/>
              </a:rPr>
              <a:t>Ağır sorguların yarıçapı sınırlanır</a:t>
            </a:r>
            <a:endParaRPr lang="en-US" sz="1200" dirty="0"/>
          </a:p>
        </p:txBody>
      </p:sp>
      <p:sp>
        <p:nvSpPr>
          <p:cNvPr id="20" name="Text 18"/>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33</a:t>
            </a:r>
            <a:endParaRPr lang="en-US" sz="1000" dirty="0"/>
          </a:p>
        </p:txBody>
      </p:sp>
      <p:sp>
        <p:nvSpPr>
          <p:cNvPr id="21" name="Text 19"/>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06 / ortam</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7AA2F7"/>
          </a:solidFill>
          <a:ln w="12700">
            <a:solidFill>
              <a:srgbClr val="7AA2F7"/>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07</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C++ ve UHT Kuralları</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Unreal'in kendi başlık aracı, standart C++'ın üzerine ek kurallar getirir. Bu kurallar bilinmediğinde alınan hatalar ilk bakışta anlaşılmaz görünür, oysa hepsi birkaç temel ilkeye dayanır.</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Derleyici hataları kataloğu</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Yansıma sistemi kuralları</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Bileşenler ve makrolar</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34</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07</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Karşılaşılan Derleyici Hataları Kataloğu</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Bu projede alınan her hata ve tek satırlık çözümü</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07 / HATALAR</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7839" cy="914400"/>
        </p:xfrm>
        <a:graphic>
          <a:graphicData uri="http://schemas.openxmlformats.org/drawingml/2006/table">
            <a:tbl>
              <a:tblPr/>
              <a:tblGrid>
                <a:gridCol w="4023360"/>
                <a:gridCol w="3291840"/>
                <a:gridCol w="3739896"/>
              </a:tblGrid>
              <a:tr h="384048">
                <a:tc>
                  <a:txBody>
                    <a:bodyPr/>
                    <a:lstStyle/>
                    <a:p>
                      <a:pPr indent="0" marL="0">
                        <a:buNone/>
                      </a:pPr>
                      <a:r>
                        <a:rPr lang="en-US" sz="1150" b="1" dirty="0">
                          <a:solidFill>
                            <a:srgbClr val="1A1B26"/>
                          </a:solidFill>
                          <a:latin typeface="Calibri" pitchFamily="34" charset="0"/>
                          <a:ea typeface="Calibri" pitchFamily="34" charset="-122"/>
                          <a:cs typeface="Calibri" pitchFamily="34" charset="-120"/>
                        </a:rPr>
                        <a:t>Hata Mesajı</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AA2F7"/>
                    </a:solidFill>
                  </a:tcPr>
                </a:tc>
                <a:tc>
                  <a:txBody>
                    <a:bodyPr/>
                    <a:lstStyle/>
                    <a:p>
                      <a:pPr indent="0" marL="0">
                        <a:buNone/>
                      </a:pPr>
                      <a:r>
                        <a:rPr lang="en-US" sz="1150" b="1" dirty="0">
                          <a:solidFill>
                            <a:srgbClr val="1A1B26"/>
                          </a:solidFill>
                          <a:latin typeface="Calibri" pitchFamily="34" charset="0"/>
                          <a:ea typeface="Calibri" pitchFamily="34" charset="-122"/>
                          <a:cs typeface="Calibri" pitchFamily="34" charset="-120"/>
                        </a:rPr>
                        <a:t>Kök Neden</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AA2F7"/>
                    </a:solidFill>
                  </a:tcPr>
                </a:tc>
                <a:tc>
                  <a:txBody>
                    <a:bodyPr/>
                    <a:lstStyle/>
                    <a:p>
                      <a:pPr indent="0" marL="0">
                        <a:buNone/>
                      </a:pPr>
                      <a:r>
                        <a:rPr lang="en-US" sz="1150" b="1" dirty="0">
                          <a:solidFill>
                            <a:srgbClr val="1A1B26"/>
                          </a:solidFill>
                          <a:latin typeface="Calibri" pitchFamily="34" charset="0"/>
                          <a:ea typeface="Calibri" pitchFamily="34" charset="-122"/>
                          <a:cs typeface="Calibri" pitchFamily="34" charset="-120"/>
                        </a:rPr>
                        <a:t>Çözüm</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7AA2F7"/>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generated.h file not found</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Modül bağımlılığı eksik</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Build.cs içine modül eklenir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no member named 'addDynamic'</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Büyük harf yazımı yanlış</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AddDynamic olarak düzeltilir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declaration shadows a field</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Üye değişken .cpp'de yeniden tanımlandı</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Tip adı silinir, sadece atama yapılır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unknown type name</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Header'da tip tanıtılmamış</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Forward declaration eklenir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Unrecognized type - must be USTRUCT</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USTRUCT olmayan tipe UPROPERTY konuldu</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UPROPERTY işareti kaldırılır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too many arguments to macro</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Değişken TEXT() içinde kalmış</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Parantez tırnaktan sonra kapatılır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'%d' expects integral arg</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Float değişken %d ile verilmiş</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%.0f kullanılır ya da int32'ye çevrilir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42938"/>
                    </a:solidFill>
                  </a:tcPr>
                </a:tc>
              </a:tr>
              <a:tr h="384048">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expression must have class type</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Pointer nokta ile kullanılmış</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c>
                  <a:txBody>
                    <a:bodyPr/>
                    <a:lstStyle/>
                    <a:p>
                      <a:pPr indent="0" marL="0">
                        <a:buNone/>
                      </a:pPr>
                      <a:r>
                        <a:rPr lang="en-US" sz="1150" dirty="0">
                          <a:solidFill>
                            <a:srgbClr val="C6CEF0"/>
                          </a:solidFill>
                          <a:latin typeface="Calibri" pitchFamily="34" charset="0"/>
                          <a:ea typeface="Calibri" pitchFamily="34" charset="-122"/>
                          <a:cs typeface="Calibri" pitchFamily="34" charset="-120"/>
                        </a:rPr>
                        <a:t>Ok işareti kullanılır</a:t>
                      </a:r>
                      <a:endParaRPr lang="en-US" sz="1150" dirty="0">
                        <a:latin typeface="Calibri" charset="0"/>
                        <a:ea typeface="Calibri" charset="0"/>
                        <a:cs typeface="Calibri" charset="0"/>
                      </a:endParaRPr>
                    </a:p>
                  </a:txBody>
                  <a:tcPr marL="101600" marR="101600" marT="50800" marB="50800" anchor="ctr">
                    <a:lnL w="12700" cap="flat" cmpd="sng" algn="ctr">
                      <a:solidFill>
                        <a:srgbClr val="1A1B26"/>
                      </a:solidFill>
                      <a:prstDash val="solid"/>
                      <a:round/>
                      <a:headEnd type="none" w="med" len="med"/>
                      <a:tailEnd type="none" w="med" len="med"/>
                    </a:lnL>
                    <a:lnR w="12700" cap="flat" cmpd="sng" algn="ctr">
                      <a:solidFill>
                        <a:srgbClr val="1A1B26"/>
                      </a:solidFill>
                      <a:prstDash val="solid"/>
                      <a:round/>
                      <a:headEnd type="none" w="med" len="med"/>
                      <a:tailEnd type="none" w="med" len="med"/>
                    </a:lnR>
                    <a:lnT w="12700" cap="flat" cmpd="sng" algn="ctr">
                      <a:solidFill>
                        <a:srgbClr val="1A1B26"/>
                      </a:solidFill>
                      <a:prstDash val="solid"/>
                      <a:round/>
                      <a:headEnd type="none" w="med" len="med"/>
                      <a:tailEnd type="none" w="med" len="med"/>
                    </a:lnT>
                    <a:lnB w="12700" cap="flat" cmpd="sng" algn="ctr">
                      <a:solidFill>
                        <a:srgbClr val="1A1B26"/>
                      </a:solidFill>
                      <a:prstDash val="solid"/>
                      <a:round/>
                      <a:headEnd type="none" w="med" len="med"/>
                      <a:tailEnd type="none" w="med" len="med"/>
                    </a:lnB>
                    <a:solidFill>
                      <a:srgbClr val="2A3042"/>
                    </a:solidFill>
                  </a:tcPr>
                </a:tc>
              </a:tr>
            </a:tbl>
          </a:graphicData>
        </a:graphic>
      </p:graphicFrame>
      <p:sp>
        <p:nvSpPr>
          <p:cNvPr id="6" name="Shape 3"/>
          <p:cNvSpPr/>
          <p:nvPr/>
        </p:nvSpPr>
        <p:spPr>
          <a:xfrm>
            <a:off x="566928" y="5212080"/>
            <a:ext cx="11057839" cy="822960"/>
          </a:xfrm>
          <a:prstGeom prst="roundRect">
            <a:avLst>
              <a:gd name="adj" fmla="val 8889"/>
            </a:avLst>
          </a:prstGeom>
          <a:solidFill>
            <a:srgbClr val="242938"/>
          </a:solidFill>
          <a:ln w="12700">
            <a:solidFill>
              <a:srgbClr val="2A3042"/>
            </a:solidFill>
            <a:prstDash val="solid"/>
          </a:ln>
        </p:spPr>
      </p:sp>
      <p:sp>
        <p:nvSpPr>
          <p:cNvPr id="7" name="Text 4"/>
          <p:cNvSpPr/>
          <p:nvPr/>
        </p:nvSpPr>
        <p:spPr>
          <a:xfrm>
            <a:off x="786384" y="5376672"/>
            <a:ext cx="10618927" cy="365760"/>
          </a:xfrm>
          <a:prstGeom prst="rect">
            <a:avLst/>
          </a:prstGeom>
          <a:noFill/>
          <a:ln/>
        </p:spPr>
        <p:txBody>
          <a:bodyPr wrap="square" lIns="0" tIns="0" rIns="0" bIns="0" rtlCol="0" anchor="ctr"/>
          <a:lstStyle/>
          <a:p>
            <a:pPr algn="l" indent="0" marL="0">
              <a:buNone/>
            </a:pPr>
            <a:r>
              <a:rPr lang="en-US" sz="1400" b="1" dirty="0">
                <a:solidFill>
                  <a:srgbClr val="9ECE6A"/>
                </a:solidFill>
                <a:latin typeface="Calibri" pitchFamily="34" charset="0"/>
                <a:ea typeface="Calibri" pitchFamily="34" charset="-122"/>
                <a:cs typeface="Calibri" pitchFamily="34" charset="-120"/>
              </a:rPr>
              <a:t>Genel ilke</a:t>
            </a:r>
            <a:endParaRPr lang="en-US" sz="1400" dirty="0"/>
          </a:p>
        </p:txBody>
      </p:sp>
      <p:sp>
        <p:nvSpPr>
          <p:cNvPr id="8" name="Text 5"/>
          <p:cNvSpPr/>
          <p:nvPr/>
        </p:nvSpPr>
        <p:spPr>
          <a:xfrm>
            <a:off x="786384" y="5797296"/>
            <a:ext cx="10618927" cy="9144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IDE'nin kırmızı çizgisi ile derleyicinin hatası aynı şey değildir. Terminal derlemesi başarılı sonuç veriyorsa kod doğrudur; IDE'nin uyarısı büyük olasılıkla eskimiş bir dizinden kaynaklanır. Karar mercii her zaman derleyicidir.</a:t>
            </a:r>
            <a:endParaRPr lang="en-US" sz="1200" dirty="0"/>
          </a:p>
        </p:txBody>
      </p:sp>
      <p:sp>
        <p:nvSpPr>
          <p:cNvPr id="9" name="Text 6"/>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35</a:t>
            </a:r>
            <a:endParaRPr lang="en-US" sz="1000" dirty="0"/>
          </a:p>
        </p:txBody>
      </p:sp>
      <p:sp>
        <p:nvSpPr>
          <p:cNvPr id="10" name="Text 7"/>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07 / hata katalogu</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Yansıma Sistemi Kuralları</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Unreal Header Tool'un standart C++ üzerine getirdiği kısıtlar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07 / UHT</a:t>
            </a:r>
            <a:endParaRPr lang="en-US" sz="1000" dirty="0"/>
          </a:p>
        </p:txBody>
      </p:sp>
      <p:sp>
        <p:nvSpPr>
          <p:cNvPr id="5" name="Shape 3"/>
          <p:cNvSpPr/>
          <p:nvPr/>
        </p:nvSpPr>
        <p:spPr>
          <a:xfrm>
            <a:off x="566928" y="1481328"/>
            <a:ext cx="3515258" cy="1956816"/>
          </a:xfrm>
          <a:prstGeom prst="roundRect">
            <a:avLst>
              <a:gd name="adj" fmla="val 3738"/>
            </a:avLst>
          </a:prstGeom>
          <a:solidFill>
            <a:srgbClr val="242938"/>
          </a:solidFill>
          <a:ln w="12700">
            <a:solidFill>
              <a:srgbClr val="2A3042"/>
            </a:solidFill>
            <a:prstDash val="solid"/>
          </a:ln>
        </p:spPr>
      </p:sp>
      <p:sp>
        <p:nvSpPr>
          <p:cNvPr id="6" name="Shape 4"/>
          <p:cNvSpPr/>
          <p:nvPr/>
        </p:nvSpPr>
        <p:spPr>
          <a:xfrm>
            <a:off x="768096" y="1664208"/>
            <a:ext cx="329184" cy="329184"/>
          </a:xfrm>
          <a:prstGeom prst="ellipse">
            <a:avLst/>
          </a:prstGeom>
          <a:solidFill>
            <a:srgbClr val="7AA2F7"/>
          </a:solidFill>
          <a:ln w="12700">
            <a:solidFill>
              <a:srgbClr val="7AA2F7"/>
            </a:solidFill>
            <a:prstDash val="solid"/>
          </a:ln>
        </p:spPr>
      </p:sp>
      <p:sp>
        <p:nvSpPr>
          <p:cNvPr id="7" name="Text 5"/>
          <p:cNvSpPr/>
          <p:nvPr/>
        </p:nvSpPr>
        <p:spPr>
          <a:xfrm>
            <a:off x="76809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07008" y="1645920"/>
            <a:ext cx="2655722" cy="365760"/>
          </a:xfrm>
          <a:prstGeom prst="rect">
            <a:avLst/>
          </a:prstGeom>
          <a:noFill/>
          <a:ln/>
        </p:spPr>
        <p:txBody>
          <a:bodyPr wrap="square" lIns="0" tIns="0" rIns="0" bIns="0" rtlCol="0" anchor="ctr"/>
          <a:lstStyle/>
          <a:p>
            <a:pPr algn="l" indent="0" marL="0">
              <a:buNone/>
            </a:pPr>
            <a:r>
              <a:rPr lang="en-US" sz="1450" b="1" dirty="0">
                <a:solidFill>
                  <a:srgbClr val="7AA2F7"/>
                </a:solidFill>
                <a:latin typeface="Calibri" pitchFamily="34" charset="0"/>
                <a:ea typeface="Calibri" pitchFamily="34" charset="-122"/>
                <a:cs typeface="Calibri" pitchFamily="34" charset="-120"/>
              </a:rPr>
              <a:t>Tip kısıtı</a:t>
            </a:r>
            <a:endParaRPr lang="en-US" sz="1450" dirty="0"/>
          </a:p>
        </p:txBody>
      </p:sp>
      <p:sp>
        <p:nvSpPr>
          <p:cNvPr id="9" name="Text 7"/>
          <p:cNvSpPr/>
          <p:nvPr/>
        </p:nvSpPr>
        <p:spPr>
          <a:xfrm>
            <a:off x="786384" y="2066544"/>
            <a:ext cx="3076346" cy="122529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Yansıma sistemi yalnızca kendi tanıdığı tiplerle çalışır: int32, float, FString, USTRUCT ve UObject türevleri. Düz int tipi kabul edilmez.</a:t>
            </a:r>
            <a:endParaRPr lang="en-US" sz="1200" dirty="0"/>
          </a:p>
        </p:txBody>
      </p:sp>
      <p:sp>
        <p:nvSpPr>
          <p:cNvPr id="10" name="Shape 8"/>
          <p:cNvSpPr/>
          <p:nvPr/>
        </p:nvSpPr>
        <p:spPr>
          <a:xfrm>
            <a:off x="4338218" y="1481328"/>
            <a:ext cx="3515258" cy="1956816"/>
          </a:xfrm>
          <a:prstGeom prst="roundRect">
            <a:avLst>
              <a:gd name="adj" fmla="val 3738"/>
            </a:avLst>
          </a:prstGeom>
          <a:solidFill>
            <a:srgbClr val="242938"/>
          </a:solidFill>
          <a:ln w="12700">
            <a:solidFill>
              <a:srgbClr val="2A3042"/>
            </a:solidFill>
            <a:prstDash val="solid"/>
          </a:ln>
        </p:spPr>
      </p:sp>
      <p:sp>
        <p:nvSpPr>
          <p:cNvPr id="11" name="Shape 9"/>
          <p:cNvSpPr/>
          <p:nvPr/>
        </p:nvSpPr>
        <p:spPr>
          <a:xfrm>
            <a:off x="4539386" y="1664208"/>
            <a:ext cx="329184" cy="329184"/>
          </a:xfrm>
          <a:prstGeom prst="ellipse">
            <a:avLst/>
          </a:prstGeom>
          <a:solidFill>
            <a:srgbClr val="BB9AF7"/>
          </a:solidFill>
          <a:ln w="12700">
            <a:solidFill>
              <a:srgbClr val="BB9AF7"/>
            </a:solidFill>
            <a:prstDash val="solid"/>
          </a:ln>
        </p:spPr>
      </p:sp>
      <p:sp>
        <p:nvSpPr>
          <p:cNvPr id="12" name="Text 10"/>
          <p:cNvSpPr/>
          <p:nvPr/>
        </p:nvSpPr>
        <p:spPr>
          <a:xfrm>
            <a:off x="453938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978298" y="1645920"/>
            <a:ext cx="2655722" cy="365760"/>
          </a:xfrm>
          <a:prstGeom prst="rect">
            <a:avLst/>
          </a:prstGeom>
          <a:noFill/>
          <a:ln/>
        </p:spPr>
        <p:txBody>
          <a:bodyPr wrap="square" lIns="0" tIns="0" rIns="0" bIns="0" rtlCol="0" anchor="ctr"/>
          <a:lstStyle/>
          <a:p>
            <a:pPr algn="l" indent="0" marL="0">
              <a:buNone/>
            </a:pPr>
            <a:r>
              <a:rPr lang="en-US" sz="1450" b="1" dirty="0">
                <a:solidFill>
                  <a:srgbClr val="BB9AF7"/>
                </a:solidFill>
                <a:latin typeface="Calibri" pitchFamily="34" charset="0"/>
                <a:ea typeface="Calibri" pitchFamily="34" charset="-122"/>
                <a:cs typeface="Calibri" pitchFamily="34" charset="-120"/>
              </a:rPr>
              <a:t>UFUNCTION zorunluluğu</a:t>
            </a:r>
            <a:endParaRPr lang="en-US" sz="1450" dirty="0"/>
          </a:p>
        </p:txBody>
      </p:sp>
      <p:sp>
        <p:nvSpPr>
          <p:cNvPr id="14" name="Text 12"/>
          <p:cNvSpPr/>
          <p:nvPr/>
        </p:nvSpPr>
        <p:spPr>
          <a:xfrm>
            <a:off x="4557674" y="2066544"/>
            <a:ext cx="3076346" cy="122529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Dynamic delegate hedefleri, Blueprint'ten çağrılabilir fonksiyonlar ve olay yanıtları bu işaret olmadan isim tablosuna girmez.</a:t>
            </a:r>
            <a:endParaRPr lang="en-US" sz="1200" dirty="0"/>
          </a:p>
        </p:txBody>
      </p:sp>
      <p:sp>
        <p:nvSpPr>
          <p:cNvPr id="15" name="Shape 13"/>
          <p:cNvSpPr/>
          <p:nvPr/>
        </p:nvSpPr>
        <p:spPr>
          <a:xfrm>
            <a:off x="8109509" y="1481328"/>
            <a:ext cx="3515258" cy="1956816"/>
          </a:xfrm>
          <a:prstGeom prst="roundRect">
            <a:avLst>
              <a:gd name="adj" fmla="val 3738"/>
            </a:avLst>
          </a:prstGeom>
          <a:solidFill>
            <a:srgbClr val="242938"/>
          </a:solidFill>
          <a:ln w="12700">
            <a:solidFill>
              <a:srgbClr val="2A3042"/>
            </a:solidFill>
            <a:prstDash val="solid"/>
          </a:ln>
        </p:spPr>
      </p:sp>
      <p:sp>
        <p:nvSpPr>
          <p:cNvPr id="16" name="Shape 14"/>
          <p:cNvSpPr/>
          <p:nvPr/>
        </p:nvSpPr>
        <p:spPr>
          <a:xfrm>
            <a:off x="8310677" y="1664208"/>
            <a:ext cx="329184" cy="329184"/>
          </a:xfrm>
          <a:prstGeom prst="ellipse">
            <a:avLst/>
          </a:prstGeom>
          <a:solidFill>
            <a:srgbClr val="F7768E"/>
          </a:solidFill>
          <a:ln w="12700">
            <a:solidFill>
              <a:srgbClr val="F7768E"/>
            </a:solidFill>
            <a:prstDash val="solid"/>
          </a:ln>
        </p:spPr>
      </p:sp>
      <p:sp>
        <p:nvSpPr>
          <p:cNvPr id="17" name="Text 15"/>
          <p:cNvSpPr/>
          <p:nvPr/>
        </p:nvSpPr>
        <p:spPr>
          <a:xfrm>
            <a:off x="8310677"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749589" y="1645920"/>
            <a:ext cx="2655722" cy="365760"/>
          </a:xfrm>
          <a:prstGeom prst="rect">
            <a:avLst/>
          </a:prstGeom>
          <a:noFill/>
          <a:ln/>
        </p:spPr>
        <p:txBody>
          <a:bodyPr wrap="square" lIns="0" tIns="0" rIns="0" bIns="0" rtlCol="0" anchor="ctr"/>
          <a:lstStyle/>
          <a:p>
            <a:pPr algn="l" indent="0" marL="0">
              <a:buNone/>
            </a:pPr>
            <a:r>
              <a:rPr lang="en-US" sz="1450" b="1" dirty="0">
                <a:solidFill>
                  <a:srgbClr val="F7768E"/>
                </a:solidFill>
                <a:latin typeface="Calibri" pitchFamily="34" charset="0"/>
                <a:ea typeface="Calibri" pitchFamily="34" charset="-122"/>
                <a:cs typeface="Calibri" pitchFamily="34" charset="-120"/>
              </a:rPr>
              <a:t>Gölgeleme yasağı</a:t>
            </a:r>
            <a:endParaRPr lang="en-US" sz="1450" dirty="0"/>
          </a:p>
        </p:txBody>
      </p:sp>
      <p:sp>
        <p:nvSpPr>
          <p:cNvPr id="19" name="Text 17"/>
          <p:cNvSpPr/>
          <p:nvPr/>
        </p:nvSpPr>
        <p:spPr>
          <a:xfrm>
            <a:off x="8328965" y="2066544"/>
            <a:ext cx="3076346" cy="122529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Aynı isimde hem üye hem yerel değişken bulunması uyarı değil, doğrudan hata sayılır. Parametre adı da üye adıyla çakışamaz.</a:t>
            </a:r>
            <a:endParaRPr lang="en-US" sz="1200" dirty="0"/>
          </a:p>
        </p:txBody>
      </p:sp>
      <p:sp>
        <p:nvSpPr>
          <p:cNvPr id="20" name="Shape 18"/>
          <p:cNvSpPr/>
          <p:nvPr/>
        </p:nvSpPr>
        <p:spPr>
          <a:xfrm>
            <a:off x="566928" y="3621024"/>
            <a:ext cx="3515258" cy="1956816"/>
          </a:xfrm>
          <a:prstGeom prst="roundRect">
            <a:avLst>
              <a:gd name="adj" fmla="val 3738"/>
            </a:avLst>
          </a:prstGeom>
          <a:solidFill>
            <a:srgbClr val="242938"/>
          </a:solidFill>
          <a:ln w="12700">
            <a:solidFill>
              <a:srgbClr val="2A3042"/>
            </a:solidFill>
            <a:prstDash val="solid"/>
          </a:ln>
        </p:spPr>
      </p:sp>
      <p:sp>
        <p:nvSpPr>
          <p:cNvPr id="21" name="Shape 19"/>
          <p:cNvSpPr/>
          <p:nvPr/>
        </p:nvSpPr>
        <p:spPr>
          <a:xfrm>
            <a:off x="768096" y="3803904"/>
            <a:ext cx="329184" cy="329184"/>
          </a:xfrm>
          <a:prstGeom prst="ellipse">
            <a:avLst/>
          </a:prstGeom>
          <a:solidFill>
            <a:srgbClr val="E0AF68"/>
          </a:solidFill>
          <a:ln w="12700">
            <a:solidFill>
              <a:srgbClr val="E0AF68"/>
            </a:solidFill>
            <a:prstDash val="solid"/>
          </a:ln>
        </p:spPr>
      </p:sp>
      <p:sp>
        <p:nvSpPr>
          <p:cNvPr id="22" name="Text 20"/>
          <p:cNvSpPr/>
          <p:nvPr/>
        </p:nvSpPr>
        <p:spPr>
          <a:xfrm>
            <a:off x="768096" y="38039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207008" y="3785616"/>
            <a:ext cx="2655722" cy="365760"/>
          </a:xfrm>
          <a:prstGeom prst="rect">
            <a:avLst/>
          </a:prstGeom>
          <a:noFill/>
          <a:ln/>
        </p:spPr>
        <p:txBody>
          <a:bodyPr wrap="square" lIns="0" tIns="0" rIns="0" bIns="0" rtlCol="0" anchor="ctr"/>
          <a:lstStyle/>
          <a:p>
            <a:pPr algn="l" indent="0" marL="0">
              <a:buNone/>
            </a:pPr>
            <a:r>
              <a:rPr lang="en-US" sz="1450" b="1" dirty="0">
                <a:solidFill>
                  <a:srgbClr val="E0AF68"/>
                </a:solidFill>
                <a:latin typeface="Calibri" pitchFamily="34" charset="0"/>
                <a:ea typeface="Calibri" pitchFamily="34" charset="-122"/>
                <a:cs typeface="Calibri" pitchFamily="34" charset="-120"/>
              </a:rPr>
              <a:t>Makro kapsamı</a:t>
            </a:r>
            <a:endParaRPr lang="en-US" sz="1450" dirty="0"/>
          </a:p>
        </p:txBody>
      </p:sp>
      <p:sp>
        <p:nvSpPr>
          <p:cNvPr id="24" name="Text 22"/>
          <p:cNvSpPr/>
          <p:nvPr/>
        </p:nvSpPr>
        <p:spPr>
          <a:xfrm>
            <a:off x="786384" y="4206240"/>
            <a:ext cx="3076346" cy="122529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Her UFUNCTION ve UPROPERTY yalnızca kendisinden sonraki tek bildirimi kapsar. Tek makro ile birden fazla üye işaretlenemez.</a:t>
            </a:r>
            <a:endParaRPr lang="en-US" sz="1200" dirty="0"/>
          </a:p>
        </p:txBody>
      </p:sp>
      <p:sp>
        <p:nvSpPr>
          <p:cNvPr id="25" name="Shape 23"/>
          <p:cNvSpPr/>
          <p:nvPr/>
        </p:nvSpPr>
        <p:spPr>
          <a:xfrm>
            <a:off x="4338218" y="3621024"/>
            <a:ext cx="3515258" cy="1956816"/>
          </a:xfrm>
          <a:prstGeom prst="roundRect">
            <a:avLst>
              <a:gd name="adj" fmla="val 3738"/>
            </a:avLst>
          </a:prstGeom>
          <a:solidFill>
            <a:srgbClr val="242938"/>
          </a:solidFill>
          <a:ln w="12700">
            <a:solidFill>
              <a:srgbClr val="2A3042"/>
            </a:solidFill>
            <a:prstDash val="solid"/>
          </a:ln>
        </p:spPr>
      </p:sp>
      <p:sp>
        <p:nvSpPr>
          <p:cNvPr id="26" name="Shape 24"/>
          <p:cNvSpPr/>
          <p:nvPr/>
        </p:nvSpPr>
        <p:spPr>
          <a:xfrm>
            <a:off x="4539386" y="3803904"/>
            <a:ext cx="329184" cy="329184"/>
          </a:xfrm>
          <a:prstGeom prst="ellipse">
            <a:avLst/>
          </a:prstGeom>
          <a:solidFill>
            <a:srgbClr val="7DCFFF"/>
          </a:solidFill>
          <a:ln w="12700">
            <a:solidFill>
              <a:srgbClr val="7DCFFF"/>
            </a:solidFill>
            <a:prstDash val="solid"/>
          </a:ln>
        </p:spPr>
      </p:sp>
      <p:sp>
        <p:nvSpPr>
          <p:cNvPr id="27" name="Text 25"/>
          <p:cNvSpPr/>
          <p:nvPr/>
        </p:nvSpPr>
        <p:spPr>
          <a:xfrm>
            <a:off x="4539386" y="38039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978298" y="3785616"/>
            <a:ext cx="2655722" cy="365760"/>
          </a:xfrm>
          <a:prstGeom prst="rect">
            <a:avLst/>
          </a:prstGeom>
          <a:noFill/>
          <a:ln/>
        </p:spPr>
        <p:txBody>
          <a:bodyPr wrap="square" lIns="0" tIns="0" rIns="0" bIns="0" rtlCol="0" anchor="ctr"/>
          <a:lstStyle/>
          <a:p>
            <a:pPr algn="l" indent="0" marL="0">
              <a:buNone/>
            </a:pPr>
            <a:r>
              <a:rPr lang="en-US" sz="1450" b="1" dirty="0">
                <a:solidFill>
                  <a:srgbClr val="7DCFFF"/>
                </a:solidFill>
                <a:latin typeface="Calibri" pitchFamily="34" charset="0"/>
                <a:ea typeface="Calibri" pitchFamily="34" charset="-122"/>
                <a:cs typeface="Calibri" pitchFamily="34" charset="-120"/>
              </a:rPr>
              <a:t>Bildirim yeri</a:t>
            </a:r>
            <a:endParaRPr lang="en-US" sz="1450" dirty="0"/>
          </a:p>
        </p:txBody>
      </p:sp>
      <p:sp>
        <p:nvSpPr>
          <p:cNvPr id="29" name="Text 27"/>
          <p:cNvSpPr/>
          <p:nvPr/>
        </p:nvSpPr>
        <p:spPr>
          <a:xfrm>
            <a:off x="4557674" y="4206240"/>
            <a:ext cx="3076346" cy="122529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Delegate makroları sınıfın dışında, UPROPERTY işaretli üyeler sınıfın içinde tanımlanır. Fonksiyon gövdesine yazılamazlar.</a:t>
            </a:r>
            <a:endParaRPr lang="en-US" sz="1200" dirty="0"/>
          </a:p>
        </p:txBody>
      </p:sp>
      <p:sp>
        <p:nvSpPr>
          <p:cNvPr id="30" name="Shape 28"/>
          <p:cNvSpPr/>
          <p:nvPr/>
        </p:nvSpPr>
        <p:spPr>
          <a:xfrm>
            <a:off x="8109509" y="3621024"/>
            <a:ext cx="3515258" cy="1956816"/>
          </a:xfrm>
          <a:prstGeom prst="roundRect">
            <a:avLst>
              <a:gd name="adj" fmla="val 3738"/>
            </a:avLst>
          </a:prstGeom>
          <a:solidFill>
            <a:srgbClr val="242938"/>
          </a:solidFill>
          <a:ln w="12700">
            <a:solidFill>
              <a:srgbClr val="2A3042"/>
            </a:solidFill>
            <a:prstDash val="solid"/>
          </a:ln>
        </p:spPr>
      </p:sp>
      <p:sp>
        <p:nvSpPr>
          <p:cNvPr id="31" name="Shape 29"/>
          <p:cNvSpPr/>
          <p:nvPr/>
        </p:nvSpPr>
        <p:spPr>
          <a:xfrm>
            <a:off x="8310677" y="3803904"/>
            <a:ext cx="329184" cy="329184"/>
          </a:xfrm>
          <a:prstGeom prst="ellipse">
            <a:avLst/>
          </a:prstGeom>
          <a:solidFill>
            <a:srgbClr val="9ECE6A"/>
          </a:solidFill>
          <a:ln w="12700">
            <a:solidFill>
              <a:srgbClr val="9ECE6A"/>
            </a:solidFill>
            <a:prstDash val="solid"/>
          </a:ln>
        </p:spPr>
      </p:sp>
      <p:sp>
        <p:nvSpPr>
          <p:cNvPr id="32" name="Text 30"/>
          <p:cNvSpPr/>
          <p:nvPr/>
        </p:nvSpPr>
        <p:spPr>
          <a:xfrm>
            <a:off x="8310677" y="38039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749589" y="3785616"/>
            <a:ext cx="2655722" cy="365760"/>
          </a:xfrm>
          <a:prstGeom prst="rect">
            <a:avLst/>
          </a:prstGeom>
          <a:noFill/>
          <a:ln/>
        </p:spPr>
        <p:txBody>
          <a:bodyPr wrap="square" lIns="0" tIns="0" rIns="0" bIns="0" rtlCol="0" anchor="ctr"/>
          <a:lstStyle/>
          <a:p>
            <a:pPr algn="l" indent="0" marL="0">
              <a:buNone/>
            </a:pPr>
            <a:r>
              <a:rPr lang="en-US" sz="1450" b="1" dirty="0">
                <a:solidFill>
                  <a:srgbClr val="9ECE6A"/>
                </a:solidFill>
                <a:latin typeface="Calibri" pitchFamily="34" charset="0"/>
                <a:ea typeface="Calibri" pitchFamily="34" charset="-122"/>
                <a:cs typeface="Calibri" pitchFamily="34" charset="-120"/>
              </a:rPr>
              <a:t>Yapılandırıcı kısıtı</a:t>
            </a:r>
            <a:endParaRPr lang="en-US" sz="1450" dirty="0"/>
          </a:p>
        </p:txBody>
      </p:sp>
      <p:sp>
        <p:nvSpPr>
          <p:cNvPr id="34" name="Text 32"/>
          <p:cNvSpPr/>
          <p:nvPr/>
        </p:nvSpPr>
        <p:spPr>
          <a:xfrm>
            <a:off x="8328965" y="4206240"/>
            <a:ext cx="3076346" cy="1225296"/>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CreateDefaultSubobject yalnızca yapılandırıcı içinde çağrılabilir. Çalışma anında bileşen eklemek farklı bir yol gerektirir.</a:t>
            </a:r>
            <a:endParaRPr lang="en-US" sz="1200" dirty="0"/>
          </a:p>
        </p:txBody>
      </p:sp>
      <p:sp>
        <p:nvSpPr>
          <p:cNvPr id="35" name="Text 33"/>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36</a:t>
            </a:r>
            <a:endParaRPr lang="en-US" sz="1000" dirty="0"/>
          </a:p>
        </p:txBody>
      </p:sp>
      <p:sp>
        <p:nvSpPr>
          <p:cNvPr id="36" name="Text 34"/>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07 / uht kurallari</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Bileşen Oluşturma ve Hiyerarşi</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Bir aktörün parçalarının üretilmesi ve birbirine bağlanması</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07 / COMPONENT</a:t>
            </a:r>
            <a:endParaRPr lang="en-US" sz="1000" dirty="0"/>
          </a:p>
        </p:txBody>
      </p:sp>
      <p:sp>
        <p:nvSpPr>
          <p:cNvPr id="5" name="Shape 3"/>
          <p:cNvSpPr/>
          <p:nvPr/>
        </p:nvSpPr>
        <p:spPr>
          <a:xfrm>
            <a:off x="566928" y="1481328"/>
            <a:ext cx="6858000" cy="2926080"/>
          </a:xfrm>
          <a:prstGeom prst="roundRect">
            <a:avLst>
              <a:gd name="adj" fmla="val 1875"/>
            </a:avLst>
          </a:prstGeom>
          <a:solidFill>
            <a:srgbClr val="13141C"/>
          </a:solidFill>
          <a:ln w="12700">
            <a:solidFill>
              <a:srgbClr val="2A3042"/>
            </a:solidFill>
            <a:prstDash val="solid"/>
          </a:ln>
        </p:spPr>
      </p:sp>
      <p:sp>
        <p:nvSpPr>
          <p:cNvPr id="6" name="Text 4"/>
          <p:cNvSpPr/>
          <p:nvPr/>
        </p:nvSpPr>
        <p:spPr>
          <a:xfrm>
            <a:off x="713232" y="1545336"/>
            <a:ext cx="656539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YAPILANDIRICI İÇİNDE</a:t>
            </a:r>
            <a:endParaRPr lang="en-US" sz="900" dirty="0"/>
          </a:p>
        </p:txBody>
      </p:sp>
      <p:sp>
        <p:nvSpPr>
          <p:cNvPr id="7" name="Text 5"/>
          <p:cNvSpPr/>
          <p:nvPr/>
        </p:nvSpPr>
        <p:spPr>
          <a:xfrm>
            <a:off x="713232" y="1773936"/>
            <a:ext cx="6565392" cy="252374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Aktörün varsayılan parçasını üretir.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&lt;UStaticMeshComponent&gt; hangi tipin üretileceğini,</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TEXT("CubeMesh") dahili adı belirtir.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Bu ad editörde görünür ve benzersiz olmalıdır.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CubeMesh = CreateDefaultSubobject&lt;UStaticMeshComponent&gt;(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TEXT("CubeMesh"));</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Bileşeni kök bileşenin altına bağlar.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Bağlanmazsa aktör hareket ettiğinde peşinden gelmez.</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CubeMesh-&gt;SetupAttachment(GetRootComponent());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Kök yoksa bileşenin kendisi kök yapılabilir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SetRootComponent(CubeMesh);</a:t>
            </a:r>
            <a:endParaRPr lang="en-US" sz="1100" dirty="0"/>
          </a:p>
        </p:txBody>
      </p:sp>
      <p:sp>
        <p:nvSpPr>
          <p:cNvPr id="8" name="Shape 6"/>
          <p:cNvSpPr/>
          <p:nvPr/>
        </p:nvSpPr>
        <p:spPr>
          <a:xfrm>
            <a:off x="7699248" y="1481328"/>
            <a:ext cx="3925519" cy="1371600"/>
          </a:xfrm>
          <a:prstGeom prst="roundRect">
            <a:avLst>
              <a:gd name="adj" fmla="val 5333"/>
            </a:avLst>
          </a:prstGeom>
          <a:solidFill>
            <a:srgbClr val="242938"/>
          </a:solidFill>
          <a:ln w="12700">
            <a:solidFill>
              <a:srgbClr val="2A3042"/>
            </a:solidFill>
            <a:prstDash val="solid"/>
          </a:ln>
        </p:spPr>
      </p:sp>
      <p:sp>
        <p:nvSpPr>
          <p:cNvPr id="9" name="Text 7"/>
          <p:cNvSpPr/>
          <p:nvPr/>
        </p:nvSpPr>
        <p:spPr>
          <a:xfrm>
            <a:off x="7918704" y="1645920"/>
            <a:ext cx="3486607" cy="365760"/>
          </a:xfrm>
          <a:prstGeom prst="rect">
            <a:avLst/>
          </a:prstGeom>
          <a:noFill/>
          <a:ln/>
        </p:spPr>
        <p:txBody>
          <a:bodyPr wrap="square" lIns="0" tIns="0" rIns="0" bIns="0" rtlCol="0" anchor="ctr"/>
          <a:lstStyle/>
          <a:p>
            <a:pPr algn="l" indent="0" marL="0">
              <a:buNone/>
            </a:pPr>
            <a:r>
              <a:rPr lang="en-US" sz="1350" b="1" dirty="0">
                <a:solidFill>
                  <a:srgbClr val="7DCFFF"/>
                </a:solidFill>
                <a:latin typeface="Calibri" pitchFamily="34" charset="0"/>
                <a:ea typeface="Calibri" pitchFamily="34" charset="-122"/>
                <a:cs typeface="Calibri" pitchFamily="34" charset="-120"/>
              </a:rPr>
              <a:t>Benzetme: araba şasisi</a:t>
            </a:r>
            <a:endParaRPr lang="en-US" sz="1350" dirty="0"/>
          </a:p>
        </p:txBody>
      </p:sp>
      <p:sp>
        <p:nvSpPr>
          <p:cNvPr id="10" name="Text 8"/>
          <p:cNvSpPr/>
          <p:nvPr/>
        </p:nvSpPr>
        <p:spPr>
          <a:xfrm>
            <a:off x="7918704" y="2066544"/>
            <a:ext cx="3486607" cy="6400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Kök bileşen şasidir. Tekerlekler ve kapılar ona bağlıdır; şasi hareket ettiğinde hepsi birlikte gider. Bağlanmayan bir parça araba giderken yerinde kalır.</a:t>
            </a:r>
            <a:endParaRPr lang="en-US" sz="1150" dirty="0"/>
          </a:p>
        </p:txBody>
      </p:sp>
      <p:sp>
        <p:nvSpPr>
          <p:cNvPr id="11" name="Shape 9"/>
          <p:cNvSpPr/>
          <p:nvPr/>
        </p:nvSpPr>
        <p:spPr>
          <a:xfrm>
            <a:off x="7699248" y="2962656"/>
            <a:ext cx="3925519" cy="1444752"/>
          </a:xfrm>
          <a:prstGeom prst="roundRect">
            <a:avLst>
              <a:gd name="adj" fmla="val 5063"/>
            </a:avLst>
          </a:prstGeom>
          <a:solidFill>
            <a:srgbClr val="242938"/>
          </a:solidFill>
          <a:ln w="12700">
            <a:solidFill>
              <a:srgbClr val="2A3042"/>
            </a:solidFill>
            <a:prstDash val="solid"/>
          </a:ln>
        </p:spPr>
      </p:sp>
      <p:sp>
        <p:nvSpPr>
          <p:cNvPr id="12" name="Text 10"/>
          <p:cNvSpPr/>
          <p:nvPr/>
        </p:nvSpPr>
        <p:spPr>
          <a:xfrm>
            <a:off x="7918704" y="3127248"/>
            <a:ext cx="3486607" cy="365760"/>
          </a:xfrm>
          <a:prstGeom prst="rect">
            <a:avLst/>
          </a:prstGeom>
          <a:noFill/>
          <a:ln/>
        </p:spPr>
        <p:txBody>
          <a:bodyPr wrap="square" lIns="0" tIns="0" rIns="0" bIns="0" rtlCol="0" anchor="ctr"/>
          <a:lstStyle/>
          <a:p>
            <a:pPr algn="l" indent="0" marL="0">
              <a:buNone/>
            </a:pPr>
            <a:r>
              <a:rPr lang="en-US" sz="1350" b="1" dirty="0">
                <a:solidFill>
                  <a:srgbClr val="9ECE6A"/>
                </a:solidFill>
                <a:latin typeface="Calibri" pitchFamily="34" charset="0"/>
                <a:ea typeface="Calibri" pitchFamily="34" charset="-122"/>
                <a:cs typeface="Calibri" pitchFamily="34" charset="-120"/>
              </a:rPr>
              <a:t>Mesh ataması nerede yapılır?</a:t>
            </a:r>
            <a:endParaRPr lang="en-US" sz="1350" dirty="0"/>
          </a:p>
        </p:txBody>
      </p:sp>
      <p:sp>
        <p:nvSpPr>
          <p:cNvPr id="13" name="Text 11"/>
          <p:cNvSpPr/>
          <p:nvPr/>
        </p:nvSpPr>
        <p:spPr>
          <a:xfrm>
            <a:off x="7918704" y="3547872"/>
            <a:ext cx="3486607" cy="713232"/>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Öğrenme aşamasında editörden yapmak tercih edilir: Blueprint açılır, bileşen seçilir, Static Mesh alanından model atanır. Kod değişmediği için yeniden derleme gerekmez ve farklı Blueprint'lerde farklı modeller kullanılabilir.</a:t>
            </a:r>
            <a:endParaRPr lang="en-US" sz="1150" dirty="0"/>
          </a:p>
        </p:txBody>
      </p:sp>
      <p:sp>
        <p:nvSpPr>
          <p:cNvPr id="14" name="Shape 12"/>
          <p:cNvSpPr/>
          <p:nvPr/>
        </p:nvSpPr>
        <p:spPr>
          <a:xfrm>
            <a:off x="566928" y="4572000"/>
            <a:ext cx="11057839" cy="1115568"/>
          </a:xfrm>
          <a:prstGeom prst="roundRect">
            <a:avLst>
              <a:gd name="adj" fmla="val 6557"/>
            </a:avLst>
          </a:prstGeom>
          <a:solidFill>
            <a:srgbClr val="242938"/>
          </a:solidFill>
          <a:ln w="12700">
            <a:solidFill>
              <a:srgbClr val="2A3042"/>
            </a:solidFill>
            <a:prstDash val="solid"/>
          </a:ln>
        </p:spPr>
      </p:sp>
      <p:sp>
        <p:nvSpPr>
          <p:cNvPr id="15" name="Text 13"/>
          <p:cNvSpPr/>
          <p:nvPr/>
        </p:nvSpPr>
        <p:spPr>
          <a:xfrm>
            <a:off x="786384" y="4736592"/>
            <a:ext cx="10618927" cy="365760"/>
          </a:xfrm>
          <a:prstGeom prst="rect">
            <a:avLst/>
          </a:prstGeom>
          <a:noFill/>
          <a:ln/>
        </p:spPr>
        <p:txBody>
          <a:bodyPr wrap="square" lIns="0" tIns="0" rIns="0" bIns="0" rtlCol="0" anchor="ctr"/>
          <a:lstStyle/>
          <a:p>
            <a:pPr algn="l" indent="0" marL="0">
              <a:buNone/>
            </a:pPr>
            <a:r>
              <a:rPr lang="en-US" sz="1400" b="1" dirty="0">
                <a:solidFill>
                  <a:srgbClr val="F7768E"/>
                </a:solidFill>
                <a:latin typeface="Calibri" pitchFamily="34" charset="0"/>
                <a:ea typeface="Calibri" pitchFamily="34" charset="-122"/>
                <a:cs typeface="Calibri" pitchFamily="34" charset="-120"/>
              </a:rPr>
              <a:t>Görünmeyen aktör sorunu</a:t>
            </a:r>
            <a:endParaRPr lang="en-US" sz="1400" dirty="0"/>
          </a:p>
        </p:txBody>
      </p:sp>
      <p:sp>
        <p:nvSpPr>
          <p:cNvPr id="16" name="Text 14"/>
          <p:cNvSpPr/>
          <p:nvPr/>
        </p:nvSpPr>
        <p:spPr>
          <a:xfrm>
            <a:off x="786384" y="5157216"/>
            <a:ext cx="10618927" cy="384048"/>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Kök bileşen tanımlanmamış bir aktör editörde seçilebilir ancak taşınamaz ve çoğu zaman hiç görünmez. Bu proje sırasında da yaşanan bu durumun çözümü, yapılandırıcıda bir kök bileşen atanması ve görsel bileşenin ona bağlanmasıdır.</a:t>
            </a:r>
            <a:endParaRPr lang="en-US" sz="1200" dirty="0"/>
          </a:p>
        </p:txBody>
      </p:sp>
      <p:sp>
        <p:nvSpPr>
          <p:cNvPr id="17" name="Text 15"/>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37</a:t>
            </a:r>
            <a:endParaRPr lang="en-US" sz="1000" dirty="0"/>
          </a:p>
        </p:txBody>
      </p:sp>
      <p:sp>
        <p:nvSpPr>
          <p:cNvPr id="18" name="Text 16"/>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07 / component</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Ön İşlemci Makroları ile Tekrarı Azaltmak</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Sık kullanılan uzun ifadeleri kısaltmanın yolu</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7AA2F7"/>
                </a:solidFill>
                <a:latin typeface="Courier New" pitchFamily="34" charset="0"/>
                <a:ea typeface="Courier New" pitchFamily="34" charset="-122"/>
                <a:cs typeface="Courier New" pitchFamily="34" charset="-120"/>
              </a:rPr>
              <a:t>07 / MAKRO</a:t>
            </a:r>
            <a:endParaRPr lang="en-US" sz="1000" dirty="0"/>
          </a:p>
        </p:txBody>
      </p:sp>
      <p:sp>
        <p:nvSpPr>
          <p:cNvPr id="5" name="Shape 3"/>
          <p:cNvSpPr/>
          <p:nvPr/>
        </p:nvSpPr>
        <p:spPr>
          <a:xfrm>
            <a:off x="566928" y="1481328"/>
            <a:ext cx="11057839" cy="2468880"/>
          </a:xfrm>
          <a:prstGeom prst="roundRect">
            <a:avLst>
              <a:gd name="adj" fmla="val 2222"/>
            </a:avLst>
          </a:prstGeom>
          <a:solidFill>
            <a:srgbClr val="13141C"/>
          </a:solidFill>
          <a:ln w="12700">
            <a:solidFill>
              <a:srgbClr val="2A3042"/>
            </a:solidFill>
            <a:prstDash val="solid"/>
          </a:ln>
        </p:spPr>
      </p:sp>
      <p:sp>
        <p:nvSpPr>
          <p:cNvPr id="6" name="Text 4"/>
          <p:cNvSpPr/>
          <p:nvPr/>
        </p:nvSpPr>
        <p:spPr>
          <a:xfrm>
            <a:off x="713232" y="1545336"/>
            <a:ext cx="10765231"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TANIMLAR</a:t>
            </a:r>
            <a:endParaRPr lang="en-US" sz="900" dirty="0"/>
          </a:p>
        </p:txBody>
      </p:sp>
      <p:sp>
        <p:nvSpPr>
          <p:cNvPr id="7" name="Text 5"/>
          <p:cNvSpPr/>
          <p:nvPr/>
        </p:nvSpPr>
        <p:spPr>
          <a:xfrm>
            <a:off x="713232" y="1773936"/>
            <a:ext cx="10765231" cy="2066544"/>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#define derlemeden ÖNCE çalışan metin değiştirme kuralıdır.</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Fonksiyon değildir; derleyici kodu görmeden önce yerine yazılır.</a:t>
            </a:r>
            <a:endParaRPr lang="en-US" sz="1100" dirty="0"/>
          </a:p>
          <a:p>
            <a:pPr algn="l" indent="0" marL="0">
              <a:lnSpc>
                <a:spcPct val="112000"/>
              </a:lnSpc>
              <a:buNone/>
            </a:pPr>
            <a:r>
              <a:rPr lang="en-US" sz="1100" dirty="0">
                <a:solidFill>
                  <a:srgbClr val="BB9AF7"/>
                </a:solidFill>
                <a:latin typeface="Courier New" pitchFamily="34" charset="0"/>
                <a:ea typeface="Courier New" pitchFamily="34" charset="-122"/>
                <a:cs typeface="Courier New" pitchFamily="34" charset="-120"/>
              </a:rPr>
              <a:t>#define yazdir(Key, Time, Msg)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if (GEngine) GEngine-&gt;AddOnScreenDebugMessage(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Key, Time, FColor::Blue, Msg)</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          girişte: kaç argüman gelirse gelsin kabul et</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__VA_ARGS__  çıkışta: yakalananların tamamını buraya yerleştir</a:t>
            </a:r>
            <a:endParaRPr lang="en-US" sz="1100" dirty="0"/>
          </a:p>
          <a:p>
            <a:pPr algn="l" indent="0" marL="0">
              <a:lnSpc>
                <a:spcPct val="112000"/>
              </a:lnSpc>
              <a:buNone/>
            </a:pPr>
            <a:r>
              <a:rPr lang="en-US" sz="1100" dirty="0">
                <a:solidFill>
                  <a:srgbClr val="BB9AF7"/>
                </a:solidFill>
                <a:latin typeface="Courier New" pitchFamily="34" charset="0"/>
                <a:ea typeface="Courier New" pitchFamily="34" charset="-122"/>
                <a:cs typeface="Courier New" pitchFamily="34" charset="-120"/>
              </a:rPr>
              <a:t>#define yazdirF(Key, Time, Msg, ...)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if (GEngine) GEngine-&gt;AddOnScreenDebugMessage(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Key, Time, FColor::Blue, \</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FString::Printf(TEXT(Msg), __VA_ARGS__))</a:t>
            </a:r>
            <a:endParaRPr lang="en-US" sz="1100" dirty="0"/>
          </a:p>
        </p:txBody>
      </p:sp>
      <p:sp>
        <p:nvSpPr>
          <p:cNvPr id="8" name="Shape 6"/>
          <p:cNvSpPr/>
          <p:nvPr/>
        </p:nvSpPr>
        <p:spPr>
          <a:xfrm>
            <a:off x="566928" y="4114800"/>
            <a:ext cx="5806440" cy="1572768"/>
          </a:xfrm>
          <a:prstGeom prst="roundRect">
            <a:avLst>
              <a:gd name="adj" fmla="val 3488"/>
            </a:avLst>
          </a:prstGeom>
          <a:solidFill>
            <a:srgbClr val="13141C"/>
          </a:solidFill>
          <a:ln w="12700">
            <a:solidFill>
              <a:srgbClr val="2A3042"/>
            </a:solidFill>
            <a:prstDash val="solid"/>
          </a:ln>
        </p:spPr>
      </p:sp>
      <p:sp>
        <p:nvSpPr>
          <p:cNvPr id="9" name="Text 7"/>
          <p:cNvSpPr/>
          <p:nvPr/>
        </p:nvSpPr>
        <p:spPr>
          <a:xfrm>
            <a:off x="713232" y="4178808"/>
            <a:ext cx="551383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KULLANIM</a:t>
            </a:r>
            <a:endParaRPr lang="en-US" sz="900" dirty="0"/>
          </a:p>
        </p:txBody>
      </p:sp>
      <p:sp>
        <p:nvSpPr>
          <p:cNvPr id="10" name="Text 8"/>
          <p:cNvSpPr/>
          <p:nvPr/>
        </p:nvSpPr>
        <p:spPr>
          <a:xfrm>
            <a:off x="713232" y="4407408"/>
            <a:ext cx="5513832" cy="1170432"/>
          </a:xfrm>
          <a:prstGeom prst="rect">
            <a:avLst/>
          </a:prstGeom>
          <a:noFill/>
          <a:ln/>
        </p:spPr>
        <p:txBody>
          <a:bodyPr wrap="square" lIns="0" tIns="0" rIns="0" bIns="0" rtlCol="0" anchor="t"/>
          <a:lstStyle/>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yazdir(5, 5.f, TEXT("Sistem hazır"));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yazdirF(6, 5.f, "Kalan süre: %d", Zaman);</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yazdirF(7, 5.f, "Can: %d | Süre: %d", Can, Sure);</a:t>
            </a:r>
            <a:endParaRPr lang="en-US" sz="1100" dirty="0"/>
          </a:p>
        </p:txBody>
      </p:sp>
      <p:sp>
        <p:nvSpPr>
          <p:cNvPr id="11" name="Shape 9"/>
          <p:cNvSpPr/>
          <p:nvPr/>
        </p:nvSpPr>
        <p:spPr>
          <a:xfrm>
            <a:off x="6647688" y="4114800"/>
            <a:ext cx="2359152" cy="1572768"/>
          </a:xfrm>
          <a:prstGeom prst="roundRect">
            <a:avLst>
              <a:gd name="adj" fmla="val 4651"/>
            </a:avLst>
          </a:prstGeom>
          <a:solidFill>
            <a:srgbClr val="242938"/>
          </a:solidFill>
          <a:ln w="12700">
            <a:solidFill>
              <a:srgbClr val="2A3042"/>
            </a:solidFill>
            <a:prstDash val="solid"/>
          </a:ln>
        </p:spPr>
      </p:sp>
      <p:sp>
        <p:nvSpPr>
          <p:cNvPr id="12" name="Text 10"/>
          <p:cNvSpPr/>
          <p:nvPr/>
        </p:nvSpPr>
        <p:spPr>
          <a:xfrm>
            <a:off x="6867144" y="4279392"/>
            <a:ext cx="1920240" cy="365760"/>
          </a:xfrm>
          <a:prstGeom prst="rect">
            <a:avLst/>
          </a:prstGeom>
          <a:noFill/>
          <a:ln/>
        </p:spPr>
        <p:txBody>
          <a:bodyPr wrap="square" lIns="0" tIns="0" rIns="0" bIns="0" rtlCol="0" anchor="ctr"/>
          <a:lstStyle/>
          <a:p>
            <a:pPr algn="l" indent="0" marL="0">
              <a:buNone/>
            </a:pPr>
            <a:r>
              <a:rPr lang="en-US" sz="1250" b="1" dirty="0">
                <a:solidFill>
                  <a:srgbClr val="E0AF68"/>
                </a:solidFill>
                <a:latin typeface="Calibri" pitchFamily="34" charset="0"/>
                <a:ea typeface="Calibri" pitchFamily="34" charset="-122"/>
                <a:cs typeface="Calibri" pitchFamily="34" charset="-120"/>
              </a:rPr>
              <a:t>Anahtar parametresi</a:t>
            </a:r>
            <a:endParaRPr lang="en-US" sz="1250" dirty="0"/>
          </a:p>
        </p:txBody>
      </p:sp>
      <p:sp>
        <p:nvSpPr>
          <p:cNvPr id="13" name="Text 11"/>
          <p:cNvSpPr/>
          <p:nvPr/>
        </p:nvSpPr>
        <p:spPr>
          <a:xfrm>
            <a:off x="6867144" y="4700016"/>
            <a:ext cx="1920240" cy="841248"/>
          </a:xfrm>
          <a:prstGeom prst="rect">
            <a:avLst/>
          </a:prstGeom>
          <a:noFill/>
          <a:ln/>
        </p:spPr>
        <p:txBody>
          <a:bodyPr wrap="square" lIns="0" tIns="0" rIns="0" bIns="0" rtlCol="0" anchor="t"/>
          <a:lstStyle/>
          <a:p>
            <a:pPr algn="l" indent="0" marL="0">
              <a:lnSpc>
                <a:spcPct val="115000"/>
              </a:lnSpc>
              <a:buNone/>
            </a:pPr>
            <a:r>
              <a:rPr lang="en-US" sz="1050" dirty="0">
                <a:solidFill>
                  <a:srgbClr val="C6CEF0"/>
                </a:solidFill>
                <a:latin typeface="Calibri" pitchFamily="34" charset="0"/>
                <a:ea typeface="Calibri" pitchFamily="34" charset="-122"/>
                <a:cs typeface="Calibri" pitchFamily="34" charset="-120"/>
              </a:rPr>
              <a:t>Sabit bir sayı verildiğinde aynı satır güncellenir, ekran dolmaz. Her mesaja farklı anahtar verilmelidir.</a:t>
            </a:r>
            <a:endParaRPr lang="en-US" sz="1050" dirty="0"/>
          </a:p>
        </p:txBody>
      </p:sp>
      <p:sp>
        <p:nvSpPr>
          <p:cNvPr id="14" name="Shape 12"/>
          <p:cNvSpPr/>
          <p:nvPr/>
        </p:nvSpPr>
        <p:spPr>
          <a:xfrm>
            <a:off x="9262872" y="4114800"/>
            <a:ext cx="2359152" cy="1572768"/>
          </a:xfrm>
          <a:prstGeom prst="roundRect">
            <a:avLst>
              <a:gd name="adj" fmla="val 4651"/>
            </a:avLst>
          </a:prstGeom>
          <a:solidFill>
            <a:srgbClr val="242938"/>
          </a:solidFill>
          <a:ln w="12700">
            <a:solidFill>
              <a:srgbClr val="2A3042"/>
            </a:solidFill>
            <a:prstDash val="solid"/>
          </a:ln>
        </p:spPr>
      </p:sp>
      <p:sp>
        <p:nvSpPr>
          <p:cNvPr id="15" name="Text 13"/>
          <p:cNvSpPr/>
          <p:nvPr/>
        </p:nvSpPr>
        <p:spPr>
          <a:xfrm>
            <a:off x="9482328" y="4279392"/>
            <a:ext cx="1920240" cy="365760"/>
          </a:xfrm>
          <a:prstGeom prst="rect">
            <a:avLst/>
          </a:prstGeom>
          <a:noFill/>
          <a:ln/>
        </p:spPr>
        <p:txBody>
          <a:bodyPr wrap="square" lIns="0" tIns="0" rIns="0" bIns="0" rtlCol="0" anchor="ctr"/>
          <a:lstStyle/>
          <a:p>
            <a:pPr algn="l" indent="0" marL="0">
              <a:buNone/>
            </a:pPr>
            <a:r>
              <a:rPr lang="en-US" sz="1250" b="1" dirty="0">
                <a:solidFill>
                  <a:srgbClr val="F7768E"/>
                </a:solidFill>
                <a:latin typeface="Calibri" pitchFamily="34" charset="0"/>
                <a:ea typeface="Calibri" pitchFamily="34" charset="-122"/>
                <a:cs typeface="Calibri" pitchFamily="34" charset="-120"/>
              </a:rPr>
              <a:t>Tip denetimi yoktur</a:t>
            </a:r>
            <a:endParaRPr lang="en-US" sz="1250" dirty="0"/>
          </a:p>
        </p:txBody>
      </p:sp>
      <p:sp>
        <p:nvSpPr>
          <p:cNvPr id="16" name="Text 14"/>
          <p:cNvSpPr/>
          <p:nvPr/>
        </p:nvSpPr>
        <p:spPr>
          <a:xfrm>
            <a:off x="9482328" y="4700016"/>
            <a:ext cx="1920240" cy="841248"/>
          </a:xfrm>
          <a:prstGeom prst="rect">
            <a:avLst/>
          </a:prstGeom>
          <a:noFill/>
          <a:ln/>
        </p:spPr>
        <p:txBody>
          <a:bodyPr wrap="square" lIns="0" tIns="0" rIns="0" bIns="0" rtlCol="0" anchor="t"/>
          <a:lstStyle/>
          <a:p>
            <a:pPr algn="l" indent="0" marL="0">
              <a:lnSpc>
                <a:spcPct val="115000"/>
              </a:lnSpc>
              <a:buNone/>
            </a:pPr>
            <a:r>
              <a:rPr lang="en-US" sz="1050" dirty="0">
                <a:solidFill>
                  <a:srgbClr val="C6CEF0"/>
                </a:solidFill>
                <a:latin typeface="Calibri" pitchFamily="34" charset="0"/>
                <a:ea typeface="Calibri" pitchFamily="34" charset="-122"/>
                <a:cs typeface="Calibri" pitchFamily="34" charset="-120"/>
              </a:rPr>
              <a:t>Makrolar argüman tiplerini kontrol etmez; hatalı kullanımda derleyici mesajı okunması zor olur. Bu nedenle yalnızca basit işlerde tercih edilir.</a:t>
            </a:r>
            <a:endParaRPr lang="en-US" sz="1050" dirty="0"/>
          </a:p>
        </p:txBody>
      </p:sp>
      <p:sp>
        <p:nvSpPr>
          <p:cNvPr id="17" name="Text 15"/>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38</a:t>
            </a:r>
            <a:endParaRPr lang="en-US" sz="1000" dirty="0"/>
          </a:p>
        </p:txBody>
      </p:sp>
      <p:sp>
        <p:nvSpPr>
          <p:cNvPr id="18" name="Text 16"/>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07 / makrolar</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66928" y="1371600"/>
            <a:ext cx="1828800" cy="1828800"/>
          </a:xfrm>
          <a:prstGeom prst="roundRect">
            <a:avLst>
              <a:gd name="adj" fmla="val 6000"/>
            </a:avLst>
          </a:prstGeom>
          <a:solidFill>
            <a:srgbClr val="9ECE6A"/>
          </a:solidFill>
          <a:ln w="12700">
            <a:solidFill>
              <a:srgbClr val="9ECE6A"/>
            </a:solidFill>
            <a:prstDash val="solid"/>
          </a:ln>
        </p:spPr>
      </p:sp>
      <p:sp>
        <p:nvSpPr>
          <p:cNvPr id="3" name="Text 1"/>
          <p:cNvSpPr/>
          <p:nvPr/>
        </p:nvSpPr>
        <p:spPr>
          <a:xfrm>
            <a:off x="566928" y="1371600"/>
            <a:ext cx="1828800" cy="1828800"/>
          </a:xfrm>
          <a:prstGeom prst="rect">
            <a:avLst/>
          </a:prstGeom>
          <a:noFill/>
          <a:ln/>
        </p:spPr>
        <p:txBody>
          <a:bodyPr wrap="square" lIns="0" tIns="0" rIns="0" bIns="0" rtlCol="0" anchor="ctr"/>
          <a:lstStyle/>
          <a:p>
            <a:pPr algn="ctr" indent="0" marL="0">
              <a:buNone/>
            </a:pPr>
            <a:r>
              <a:rPr lang="en-US" sz="7600" b="1" dirty="0">
                <a:solidFill>
                  <a:srgbClr val="1A1B26"/>
                </a:solidFill>
                <a:latin typeface="Cambria" pitchFamily="34" charset="0"/>
                <a:ea typeface="Cambria" pitchFamily="34" charset="-122"/>
                <a:cs typeface="Cambria" pitchFamily="34" charset="-120"/>
              </a:rPr>
              <a:t>08</a:t>
            </a:r>
            <a:endParaRPr lang="en-US" sz="7600" dirty="0"/>
          </a:p>
        </p:txBody>
      </p:sp>
      <p:sp>
        <p:nvSpPr>
          <p:cNvPr id="4" name="Text 2"/>
          <p:cNvSpPr/>
          <p:nvPr/>
        </p:nvSpPr>
        <p:spPr>
          <a:xfrm>
            <a:off x="2852928" y="1481328"/>
            <a:ext cx="8771839" cy="1005840"/>
          </a:xfrm>
          <a:prstGeom prst="rect">
            <a:avLst/>
          </a:prstGeom>
          <a:noFill/>
          <a:ln/>
        </p:spPr>
        <p:txBody>
          <a:bodyPr wrap="square" lIns="0" tIns="0" rIns="0" bIns="0"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Mimari Dersler</a:t>
            </a:r>
            <a:endParaRPr lang="en-US" sz="4000" dirty="0"/>
          </a:p>
        </p:txBody>
      </p:sp>
      <p:sp>
        <p:nvSpPr>
          <p:cNvPr id="5" name="Text 3"/>
          <p:cNvSpPr/>
          <p:nvPr/>
        </p:nvSpPr>
        <p:spPr>
          <a:xfrm>
            <a:off x="2852928" y="2487168"/>
            <a:ext cx="8771839" cy="640080"/>
          </a:xfrm>
          <a:prstGeom prst="rect">
            <a:avLst/>
          </a:prstGeom>
          <a:noFill/>
          <a:ln/>
        </p:spPr>
        <p:txBody>
          <a:bodyPr wrap="square" lIns="0" tIns="0" rIns="0" bIns="0" rtlCol="0" anchor="t"/>
          <a:lstStyle/>
          <a:p>
            <a:pPr algn="l" indent="0" marL="0">
              <a:lnSpc>
                <a:spcPct val="120000"/>
              </a:lnSpc>
              <a:buNone/>
            </a:pPr>
            <a:r>
              <a:rPr lang="en-US" sz="1500" dirty="0">
                <a:solidFill>
                  <a:srgbClr val="7A83A8"/>
                </a:solidFill>
                <a:latin typeface="Calibri" pitchFamily="34" charset="0"/>
                <a:ea typeface="Calibri" pitchFamily="34" charset="-122"/>
                <a:cs typeface="Calibri" pitchFamily="34" charset="-120"/>
              </a:rPr>
              <a:t>Bu projede alınan en pahalı dersler sözdizimiyle değil, Unreal'in nesne modelini yanlış anlamakla ilgiliydi. Bir kavramın yanlış anlaşılması saatlerce süren yanlış yönde arayışa yol açtı.</a:t>
            </a:r>
            <a:endParaRPr lang="en-US" sz="1500" dirty="0"/>
          </a:p>
        </p:txBody>
      </p:sp>
      <p:sp>
        <p:nvSpPr>
          <p:cNvPr id="6" name="Shape 4"/>
          <p:cNvSpPr/>
          <p:nvPr/>
        </p:nvSpPr>
        <p:spPr>
          <a:xfrm>
            <a:off x="566928" y="3886200"/>
            <a:ext cx="3515258" cy="841248"/>
          </a:xfrm>
          <a:prstGeom prst="roundRect">
            <a:avLst>
              <a:gd name="adj" fmla="val 8696"/>
            </a:avLst>
          </a:prstGeom>
          <a:solidFill>
            <a:srgbClr val="242938"/>
          </a:solidFill>
          <a:ln w="12700">
            <a:solidFill>
              <a:srgbClr val="2A3042"/>
            </a:solidFill>
            <a:prstDash val="solid"/>
          </a:ln>
        </p:spPr>
      </p:sp>
      <p:sp>
        <p:nvSpPr>
          <p:cNvPr id="7" name="Text 5"/>
          <p:cNvSpPr/>
          <p:nvPr/>
        </p:nvSpPr>
        <p:spPr>
          <a:xfrm>
            <a:off x="73152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Örnek ile varlık ayrımı</a:t>
            </a:r>
            <a:endParaRPr lang="en-US" sz="1200" dirty="0"/>
          </a:p>
        </p:txBody>
      </p:sp>
      <p:sp>
        <p:nvSpPr>
          <p:cNvPr id="8" name="Shape 6"/>
          <p:cNvSpPr/>
          <p:nvPr/>
        </p:nvSpPr>
        <p:spPr>
          <a:xfrm>
            <a:off x="4338218" y="3886200"/>
            <a:ext cx="3515258" cy="841248"/>
          </a:xfrm>
          <a:prstGeom prst="roundRect">
            <a:avLst>
              <a:gd name="adj" fmla="val 8696"/>
            </a:avLst>
          </a:prstGeom>
          <a:solidFill>
            <a:srgbClr val="242938"/>
          </a:solidFill>
          <a:ln w="12700">
            <a:solidFill>
              <a:srgbClr val="2A3042"/>
            </a:solidFill>
            <a:prstDash val="solid"/>
          </a:ln>
        </p:spPr>
      </p:sp>
      <p:sp>
        <p:nvSpPr>
          <p:cNvPr id="9" name="Text 7"/>
          <p:cNvSpPr/>
          <p:nvPr/>
        </p:nvSpPr>
        <p:spPr>
          <a:xfrm>
            <a:off x="4502810"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Yeniden türetme riskleri</a:t>
            </a:r>
            <a:endParaRPr lang="en-US" sz="1200" dirty="0"/>
          </a:p>
        </p:txBody>
      </p:sp>
      <p:sp>
        <p:nvSpPr>
          <p:cNvPr id="10" name="Shape 8"/>
          <p:cNvSpPr/>
          <p:nvPr/>
        </p:nvSpPr>
        <p:spPr>
          <a:xfrm>
            <a:off x="8109509" y="3886200"/>
            <a:ext cx="3515258" cy="841248"/>
          </a:xfrm>
          <a:prstGeom prst="roundRect">
            <a:avLst>
              <a:gd name="adj" fmla="val 8696"/>
            </a:avLst>
          </a:prstGeom>
          <a:solidFill>
            <a:srgbClr val="242938"/>
          </a:solidFill>
          <a:ln w="12700">
            <a:solidFill>
              <a:srgbClr val="2A3042"/>
            </a:solidFill>
            <a:prstDash val="solid"/>
          </a:ln>
        </p:spPr>
      </p:sp>
      <p:sp>
        <p:nvSpPr>
          <p:cNvPr id="11" name="Text 9"/>
          <p:cNvSpPr/>
          <p:nvPr/>
        </p:nvSpPr>
        <p:spPr>
          <a:xfrm>
            <a:off x="8274101" y="3886200"/>
            <a:ext cx="3186074" cy="841248"/>
          </a:xfrm>
          <a:prstGeom prst="rect">
            <a:avLst/>
          </a:prstGeom>
          <a:noFill/>
          <a:ln/>
        </p:spPr>
        <p:txBody>
          <a:bodyPr wrap="square" lIns="0" tIns="0" rIns="0" bIns="0" rtlCol="0" anchor="ctr"/>
          <a:lstStyle/>
          <a:p>
            <a:pPr algn="l" indent="0" marL="0">
              <a:buNone/>
            </a:pPr>
            <a:r>
              <a:rPr lang="en-US" sz="1200" dirty="0">
                <a:solidFill>
                  <a:srgbClr val="C6CEF0"/>
                </a:solidFill>
                <a:latin typeface="Calibri" pitchFamily="34" charset="0"/>
                <a:ea typeface="Calibri" pitchFamily="34" charset="-122"/>
                <a:cs typeface="Calibri" pitchFamily="34" charset="-120"/>
              </a:rPr>
              <a:t>Güvenli alternatif</a:t>
            </a:r>
            <a:endParaRPr lang="en-US" sz="1200" dirty="0"/>
          </a:p>
        </p:txBody>
      </p:sp>
      <p:sp>
        <p:nvSpPr>
          <p:cNvPr id="12" name="Text 10"/>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39</a:t>
            </a:r>
            <a:endParaRPr lang="en-US" sz="1000" dirty="0"/>
          </a:p>
        </p:txBody>
      </p:sp>
      <p:sp>
        <p:nvSpPr>
          <p:cNvPr id="13" name="Text 11"/>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bolum 08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Örnek ile Varlık Aynı Şey Değildir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Sahnedeki kopya, yeni bir sınıf üretmez</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08 / MIMARI</a:t>
            </a:r>
            <a:endParaRPr lang="en-US" sz="1000" dirty="0"/>
          </a:p>
        </p:txBody>
      </p:sp>
      <p:sp>
        <p:nvSpPr>
          <p:cNvPr id="5" name="Shape 3"/>
          <p:cNvSpPr/>
          <p:nvPr/>
        </p:nvSpPr>
        <p:spPr>
          <a:xfrm>
            <a:off x="566928" y="1481328"/>
            <a:ext cx="5806440" cy="2139696"/>
          </a:xfrm>
          <a:prstGeom prst="roundRect">
            <a:avLst>
              <a:gd name="adj" fmla="val 3419"/>
            </a:avLst>
          </a:prstGeom>
          <a:solidFill>
            <a:srgbClr val="242938"/>
          </a:solidFill>
          <a:ln w="19050">
            <a:solidFill>
              <a:srgbClr val="F7768E"/>
            </a:solidFill>
            <a:prstDash val="solid"/>
          </a:ln>
        </p:spPr>
      </p:sp>
      <p:sp>
        <p:nvSpPr>
          <p:cNvPr id="6" name="Text 4"/>
          <p:cNvSpPr/>
          <p:nvPr/>
        </p:nvSpPr>
        <p:spPr>
          <a:xfrm>
            <a:off x="804672" y="1609344"/>
            <a:ext cx="5330952" cy="274320"/>
          </a:xfrm>
          <a:prstGeom prst="rect">
            <a:avLst/>
          </a:prstGeom>
          <a:noFill/>
          <a:ln/>
        </p:spPr>
        <p:txBody>
          <a:bodyPr wrap="square" lIns="0" tIns="0" rIns="0" bIns="0" rtlCol="0" anchor="ctr"/>
          <a:lstStyle/>
          <a:p>
            <a:pPr indent="0" marL="0">
              <a:buNone/>
            </a:pPr>
            <a:r>
              <a:rPr lang="en-US" sz="1200" b="1" dirty="0">
                <a:solidFill>
                  <a:srgbClr val="F7768E"/>
                </a:solidFill>
                <a:latin typeface="Calibri" pitchFamily="34" charset="0"/>
                <a:ea typeface="Calibri" pitchFamily="34" charset="-122"/>
                <a:cs typeface="Calibri" pitchFamily="34" charset="-120"/>
              </a:rPr>
              <a:t>YANLIŞ VARSAYIM</a:t>
            </a:r>
            <a:endParaRPr lang="en-US" sz="1200" dirty="0"/>
          </a:p>
        </p:txBody>
      </p:sp>
      <p:sp>
        <p:nvSpPr>
          <p:cNvPr id="7" name="Text 5"/>
          <p:cNvSpPr/>
          <p:nvPr/>
        </p:nvSpPr>
        <p:spPr>
          <a:xfrm>
            <a:off x="804672" y="1956816"/>
            <a:ext cx="5330952" cy="1005840"/>
          </a:xfrm>
          <a:prstGeom prst="rect">
            <a:avLst/>
          </a:prstGeom>
          <a:noFill/>
          <a:ln/>
        </p:spPr>
        <p:txBody>
          <a:bodyPr wrap="square" lIns="0" tIns="0" rIns="0" bIns="0" rtlCol="0" anchor="ctr"/>
          <a:lstStyle/>
          <a:p>
            <a:pPr indent="0" marL="0">
              <a:lnSpc>
                <a:spcPct val="120000"/>
              </a:lnSpc>
              <a:buNone/>
            </a:pPr>
            <a:r>
              <a:rPr lang="en-US" sz="1250" dirty="0">
                <a:solidFill>
                  <a:srgbClr val="C6CEF0"/>
                </a:solidFill>
                <a:latin typeface="Calibri" pitchFamily="34" charset="0"/>
                <a:ea typeface="Calibri" pitchFamily="34" charset="-122"/>
                <a:cs typeface="Calibri" pitchFamily="34" charset="-120"/>
              </a:rPr>
              <a:t>Sahnedeki karakter kopyalandığında iki bağımsız karakter elde edildiği düşünüldü. Birine Blueprint davranışı, diğerine C++ davranışı verilmek istendi. Fakat birinde yapılan her değişiklik diğerini de etkiledi.</a:t>
            </a:r>
            <a:endParaRPr lang="en-US" sz="1250" dirty="0"/>
          </a:p>
        </p:txBody>
      </p:sp>
      <p:sp>
        <p:nvSpPr>
          <p:cNvPr id="8" name="Text 6"/>
          <p:cNvSpPr/>
          <p:nvPr/>
        </p:nvSpPr>
        <p:spPr>
          <a:xfrm>
            <a:off x="804672" y="3054096"/>
            <a:ext cx="5330952" cy="365760"/>
          </a:xfrm>
          <a:prstGeom prst="rect">
            <a:avLst/>
          </a:prstGeom>
          <a:noFill/>
          <a:ln/>
        </p:spPr>
        <p:txBody>
          <a:bodyPr wrap="square" lIns="0" tIns="0" rIns="0" bIns="0" rtlCol="0" anchor="ctr"/>
          <a:lstStyle/>
          <a:p>
            <a:pPr indent="0" marL="0">
              <a:buNone/>
            </a:pPr>
            <a:r>
              <a:rPr lang="en-US" sz="1300" b="1" dirty="0">
                <a:solidFill>
                  <a:srgbClr val="F7768E"/>
                </a:solidFill>
                <a:latin typeface="Courier New" pitchFamily="34" charset="0"/>
                <a:ea typeface="Courier New" pitchFamily="34" charset="-122"/>
                <a:cs typeface="Courier New" pitchFamily="34" charset="-120"/>
              </a:rPr>
              <a:t>Aynı varlığın iki örneği  ≠  iki ayrı sınıf</a:t>
            </a:r>
            <a:endParaRPr lang="en-US" sz="1300" dirty="0"/>
          </a:p>
        </p:txBody>
      </p:sp>
      <p:sp>
        <p:nvSpPr>
          <p:cNvPr id="9" name="Shape 7"/>
          <p:cNvSpPr/>
          <p:nvPr/>
        </p:nvSpPr>
        <p:spPr>
          <a:xfrm>
            <a:off x="6647688" y="1481328"/>
            <a:ext cx="5806440" cy="2139696"/>
          </a:xfrm>
          <a:prstGeom prst="roundRect">
            <a:avLst>
              <a:gd name="adj" fmla="val 3419"/>
            </a:avLst>
          </a:prstGeom>
          <a:solidFill>
            <a:srgbClr val="242938"/>
          </a:solidFill>
          <a:ln w="19050">
            <a:solidFill>
              <a:srgbClr val="9ECE6A"/>
            </a:solidFill>
            <a:prstDash val="solid"/>
          </a:ln>
        </p:spPr>
      </p:sp>
      <p:sp>
        <p:nvSpPr>
          <p:cNvPr id="10" name="Text 8"/>
          <p:cNvSpPr/>
          <p:nvPr/>
        </p:nvSpPr>
        <p:spPr>
          <a:xfrm>
            <a:off x="6885432" y="1609344"/>
            <a:ext cx="5330952" cy="274320"/>
          </a:xfrm>
          <a:prstGeom prst="rect">
            <a:avLst/>
          </a:prstGeom>
          <a:noFill/>
          <a:ln/>
        </p:spPr>
        <p:txBody>
          <a:bodyPr wrap="square" lIns="0" tIns="0" rIns="0" bIns="0" rtlCol="0" anchor="ctr"/>
          <a:lstStyle/>
          <a:p>
            <a:pPr indent="0" marL="0">
              <a:buNone/>
            </a:pPr>
            <a:r>
              <a:rPr lang="en-US" sz="1200" b="1" dirty="0">
                <a:solidFill>
                  <a:srgbClr val="9ECE6A"/>
                </a:solidFill>
                <a:latin typeface="Calibri" pitchFamily="34" charset="0"/>
                <a:ea typeface="Calibri" pitchFamily="34" charset="-122"/>
                <a:cs typeface="Calibri" pitchFamily="34" charset="-120"/>
              </a:rPr>
              <a:t>DOĞRU MODEL</a:t>
            </a:r>
            <a:endParaRPr lang="en-US" sz="1200" dirty="0"/>
          </a:p>
        </p:txBody>
      </p:sp>
      <p:sp>
        <p:nvSpPr>
          <p:cNvPr id="11" name="Text 9"/>
          <p:cNvSpPr/>
          <p:nvPr/>
        </p:nvSpPr>
        <p:spPr>
          <a:xfrm>
            <a:off x="6885432" y="1956816"/>
            <a:ext cx="5330952" cy="1005840"/>
          </a:xfrm>
          <a:prstGeom prst="rect">
            <a:avLst/>
          </a:prstGeom>
          <a:noFill/>
          <a:ln/>
        </p:spPr>
        <p:txBody>
          <a:bodyPr wrap="square" lIns="0" tIns="0" rIns="0" bIns="0" rtlCol="0" anchor="ctr"/>
          <a:lstStyle/>
          <a:p>
            <a:pPr indent="0" marL="0">
              <a:lnSpc>
                <a:spcPct val="120000"/>
              </a:lnSpc>
              <a:buNone/>
            </a:pPr>
            <a:r>
              <a:rPr lang="en-US" sz="1250" dirty="0">
                <a:solidFill>
                  <a:srgbClr val="C6CEF0"/>
                </a:solidFill>
                <a:latin typeface="Calibri" pitchFamily="34" charset="0"/>
                <a:ea typeface="Calibri" pitchFamily="34" charset="-122"/>
                <a:cs typeface="Calibri" pitchFamily="34" charset="-120"/>
              </a:rPr>
              <a:t>Blueprint bir varlıktır; sahneye sürüklendiğinde onun bir örneği oluşur. Sahnedeki kopyalar aynı varlığı paylaşır. Farklı davranış isteniyorsa içerik tarayıcısında varlığın kendisi çoğaltılmalıdır.</a:t>
            </a:r>
            <a:endParaRPr lang="en-US" sz="1250" dirty="0"/>
          </a:p>
        </p:txBody>
      </p:sp>
      <p:sp>
        <p:nvSpPr>
          <p:cNvPr id="12" name="Text 10"/>
          <p:cNvSpPr/>
          <p:nvPr/>
        </p:nvSpPr>
        <p:spPr>
          <a:xfrm>
            <a:off x="6885432" y="3054096"/>
            <a:ext cx="5330952" cy="365760"/>
          </a:xfrm>
          <a:prstGeom prst="rect">
            <a:avLst/>
          </a:prstGeom>
          <a:noFill/>
          <a:ln/>
        </p:spPr>
        <p:txBody>
          <a:bodyPr wrap="square" lIns="0" tIns="0" rIns="0" bIns="0" rtlCol="0" anchor="ctr"/>
          <a:lstStyle/>
          <a:p>
            <a:pPr indent="0" marL="0">
              <a:buNone/>
            </a:pPr>
            <a:r>
              <a:rPr lang="en-US" sz="1300" b="1" dirty="0">
                <a:solidFill>
                  <a:srgbClr val="9ECE6A"/>
                </a:solidFill>
                <a:latin typeface="Courier New" pitchFamily="34" charset="0"/>
                <a:ea typeface="Courier New" pitchFamily="34" charset="-122"/>
                <a:cs typeface="Courier New" pitchFamily="34" charset="-120"/>
              </a:rPr>
              <a:t>Farklı davranış  →  Content Browser'da Duplicate</a:t>
            </a:r>
            <a:endParaRPr lang="en-US" sz="1300" dirty="0"/>
          </a:p>
        </p:txBody>
      </p:sp>
      <p:sp>
        <p:nvSpPr>
          <p:cNvPr id="13" name="Shape 11"/>
          <p:cNvSpPr/>
          <p:nvPr/>
        </p:nvSpPr>
        <p:spPr>
          <a:xfrm>
            <a:off x="566928" y="3913632"/>
            <a:ext cx="2599868" cy="1773936"/>
          </a:xfrm>
          <a:prstGeom prst="roundRect">
            <a:avLst>
              <a:gd name="adj" fmla="val 4124"/>
            </a:avLst>
          </a:prstGeom>
          <a:solidFill>
            <a:srgbClr val="242938"/>
          </a:solidFill>
          <a:ln w="12700">
            <a:solidFill>
              <a:srgbClr val="2A3042"/>
            </a:solidFill>
            <a:prstDash val="solid"/>
          </a:ln>
        </p:spPr>
      </p:sp>
      <p:sp>
        <p:nvSpPr>
          <p:cNvPr id="14" name="Shape 12"/>
          <p:cNvSpPr/>
          <p:nvPr/>
        </p:nvSpPr>
        <p:spPr>
          <a:xfrm>
            <a:off x="768096" y="4096512"/>
            <a:ext cx="329184" cy="329184"/>
          </a:xfrm>
          <a:prstGeom prst="ellipse">
            <a:avLst/>
          </a:prstGeom>
          <a:solidFill>
            <a:srgbClr val="E0AF68"/>
          </a:solidFill>
          <a:ln w="12700">
            <a:solidFill>
              <a:srgbClr val="E0AF68"/>
            </a:solidFill>
            <a:prstDash val="solid"/>
          </a:ln>
        </p:spPr>
      </p:sp>
      <p:sp>
        <p:nvSpPr>
          <p:cNvPr id="15" name="Text 13"/>
          <p:cNvSpPr/>
          <p:nvPr/>
        </p:nvSpPr>
        <p:spPr>
          <a:xfrm>
            <a:off x="768096" y="409651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16" name="Text 14"/>
          <p:cNvSpPr/>
          <p:nvPr/>
        </p:nvSpPr>
        <p:spPr>
          <a:xfrm>
            <a:off x="1207008" y="4078224"/>
            <a:ext cx="1740332" cy="365760"/>
          </a:xfrm>
          <a:prstGeom prst="rect">
            <a:avLst/>
          </a:prstGeom>
          <a:noFill/>
          <a:ln/>
        </p:spPr>
        <p:txBody>
          <a:bodyPr wrap="square" lIns="0" tIns="0" rIns="0" bIns="0" rtlCol="0" anchor="ctr"/>
          <a:lstStyle/>
          <a:p>
            <a:pPr algn="l" indent="0" marL="0">
              <a:buNone/>
            </a:pPr>
            <a:r>
              <a:rPr lang="en-US" sz="1350" b="1" dirty="0">
                <a:solidFill>
                  <a:srgbClr val="E0AF68"/>
                </a:solidFill>
                <a:latin typeface="Calibri" pitchFamily="34" charset="0"/>
                <a:ea typeface="Calibri" pitchFamily="34" charset="-122"/>
                <a:cs typeface="Calibri" pitchFamily="34" charset="-120"/>
              </a:rPr>
              <a:t>Belirti</a:t>
            </a:r>
            <a:endParaRPr lang="en-US" sz="1350" dirty="0"/>
          </a:p>
        </p:txBody>
      </p:sp>
      <p:sp>
        <p:nvSpPr>
          <p:cNvPr id="17" name="Text 15"/>
          <p:cNvSpPr/>
          <p:nvPr/>
        </p:nvSpPr>
        <p:spPr>
          <a:xfrm>
            <a:off x="786384" y="4498848"/>
            <a:ext cx="2160956" cy="104241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Aynı ekran mesajının iki kez görünmesi</a:t>
            </a:r>
            <a:endParaRPr lang="en-US" sz="1150" dirty="0"/>
          </a:p>
        </p:txBody>
      </p:sp>
      <p:sp>
        <p:nvSpPr>
          <p:cNvPr id="18" name="Shape 16"/>
          <p:cNvSpPr/>
          <p:nvPr/>
        </p:nvSpPr>
        <p:spPr>
          <a:xfrm>
            <a:off x="3386252" y="3913632"/>
            <a:ext cx="2599868" cy="1773936"/>
          </a:xfrm>
          <a:prstGeom prst="roundRect">
            <a:avLst>
              <a:gd name="adj" fmla="val 4124"/>
            </a:avLst>
          </a:prstGeom>
          <a:solidFill>
            <a:srgbClr val="242938"/>
          </a:solidFill>
          <a:ln w="12700">
            <a:solidFill>
              <a:srgbClr val="2A3042"/>
            </a:solidFill>
            <a:prstDash val="solid"/>
          </a:ln>
        </p:spPr>
      </p:sp>
      <p:sp>
        <p:nvSpPr>
          <p:cNvPr id="19" name="Shape 17"/>
          <p:cNvSpPr/>
          <p:nvPr/>
        </p:nvSpPr>
        <p:spPr>
          <a:xfrm>
            <a:off x="3587420" y="4096512"/>
            <a:ext cx="329184" cy="329184"/>
          </a:xfrm>
          <a:prstGeom prst="ellipse">
            <a:avLst/>
          </a:prstGeom>
          <a:solidFill>
            <a:srgbClr val="7DCFFF"/>
          </a:solidFill>
          <a:ln w="12700">
            <a:solidFill>
              <a:srgbClr val="7DCFFF"/>
            </a:solidFill>
            <a:prstDash val="solid"/>
          </a:ln>
        </p:spPr>
      </p:sp>
      <p:sp>
        <p:nvSpPr>
          <p:cNvPr id="20" name="Text 18"/>
          <p:cNvSpPr/>
          <p:nvPr/>
        </p:nvSpPr>
        <p:spPr>
          <a:xfrm>
            <a:off x="3587420" y="409651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21" name="Text 19"/>
          <p:cNvSpPr/>
          <p:nvPr/>
        </p:nvSpPr>
        <p:spPr>
          <a:xfrm>
            <a:off x="4026332" y="4078224"/>
            <a:ext cx="1740332" cy="365760"/>
          </a:xfrm>
          <a:prstGeom prst="rect">
            <a:avLst/>
          </a:prstGeom>
          <a:noFill/>
          <a:ln/>
        </p:spPr>
        <p:txBody>
          <a:bodyPr wrap="square" lIns="0" tIns="0" rIns="0" bIns="0" rtlCol="0" anchor="ctr"/>
          <a:lstStyle/>
          <a:p>
            <a:pPr algn="l" indent="0" marL="0">
              <a:buNone/>
            </a:pPr>
            <a:r>
              <a:rPr lang="en-US" sz="1350" b="1" dirty="0">
                <a:solidFill>
                  <a:srgbClr val="7DCFFF"/>
                </a:solidFill>
                <a:latin typeface="Calibri" pitchFamily="34" charset="0"/>
                <a:ea typeface="Calibri" pitchFamily="34" charset="-122"/>
                <a:cs typeface="Calibri" pitchFamily="34" charset="-120"/>
              </a:rPr>
              <a:t>Teşhis yöntemi</a:t>
            </a:r>
            <a:endParaRPr lang="en-US" sz="1350" dirty="0"/>
          </a:p>
        </p:txBody>
      </p:sp>
      <p:sp>
        <p:nvSpPr>
          <p:cNvPr id="22" name="Text 20"/>
          <p:cNvSpPr/>
          <p:nvPr/>
        </p:nvSpPr>
        <p:spPr>
          <a:xfrm>
            <a:off x="3605708" y="4498848"/>
            <a:ext cx="2160956" cy="104241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Mesajlara GetName() eklenerek örnek adının yazdırılması</a:t>
            </a:r>
            <a:endParaRPr lang="en-US" sz="1150" dirty="0"/>
          </a:p>
        </p:txBody>
      </p:sp>
      <p:sp>
        <p:nvSpPr>
          <p:cNvPr id="23" name="Shape 21"/>
          <p:cNvSpPr/>
          <p:nvPr/>
        </p:nvSpPr>
        <p:spPr>
          <a:xfrm>
            <a:off x="6205576" y="3913632"/>
            <a:ext cx="2599868" cy="1773936"/>
          </a:xfrm>
          <a:prstGeom prst="roundRect">
            <a:avLst>
              <a:gd name="adj" fmla="val 4124"/>
            </a:avLst>
          </a:prstGeom>
          <a:solidFill>
            <a:srgbClr val="242938"/>
          </a:solidFill>
          <a:ln w="12700">
            <a:solidFill>
              <a:srgbClr val="2A3042"/>
            </a:solidFill>
            <a:prstDash val="solid"/>
          </a:ln>
        </p:spPr>
      </p:sp>
      <p:sp>
        <p:nvSpPr>
          <p:cNvPr id="24" name="Shape 22"/>
          <p:cNvSpPr/>
          <p:nvPr/>
        </p:nvSpPr>
        <p:spPr>
          <a:xfrm>
            <a:off x="6406744" y="4096512"/>
            <a:ext cx="329184" cy="329184"/>
          </a:xfrm>
          <a:prstGeom prst="ellipse">
            <a:avLst/>
          </a:prstGeom>
          <a:solidFill>
            <a:srgbClr val="BB9AF7"/>
          </a:solidFill>
          <a:ln w="12700">
            <a:solidFill>
              <a:srgbClr val="BB9AF7"/>
            </a:solidFill>
            <a:prstDash val="solid"/>
          </a:ln>
        </p:spPr>
      </p:sp>
      <p:sp>
        <p:nvSpPr>
          <p:cNvPr id="25" name="Text 23"/>
          <p:cNvSpPr/>
          <p:nvPr/>
        </p:nvSpPr>
        <p:spPr>
          <a:xfrm>
            <a:off x="6406744" y="409651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26" name="Text 24"/>
          <p:cNvSpPr/>
          <p:nvPr/>
        </p:nvSpPr>
        <p:spPr>
          <a:xfrm>
            <a:off x="6845656" y="4078224"/>
            <a:ext cx="1740332" cy="365760"/>
          </a:xfrm>
          <a:prstGeom prst="rect">
            <a:avLst/>
          </a:prstGeom>
          <a:noFill/>
          <a:ln/>
        </p:spPr>
        <p:txBody>
          <a:bodyPr wrap="square" lIns="0" tIns="0" rIns="0" bIns="0" rtlCol="0" anchor="ctr"/>
          <a:lstStyle/>
          <a:p>
            <a:pPr algn="l" indent="0" marL="0">
              <a:buNone/>
            </a:pPr>
            <a:r>
              <a:rPr lang="en-US" sz="1350" b="1" dirty="0">
                <a:solidFill>
                  <a:srgbClr val="BB9AF7"/>
                </a:solidFill>
                <a:latin typeface="Calibri" pitchFamily="34" charset="0"/>
                <a:ea typeface="Calibri" pitchFamily="34" charset="-122"/>
                <a:cs typeface="Calibri" pitchFamily="34" charset="-120"/>
              </a:rPr>
              <a:t>Bulgu</a:t>
            </a:r>
            <a:endParaRPr lang="en-US" sz="1350" dirty="0"/>
          </a:p>
        </p:txBody>
      </p:sp>
      <p:sp>
        <p:nvSpPr>
          <p:cNvPr id="27" name="Text 25"/>
          <p:cNvSpPr/>
          <p:nvPr/>
        </p:nvSpPr>
        <p:spPr>
          <a:xfrm>
            <a:off x="6425032" y="4498848"/>
            <a:ext cx="2160956" cy="104241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Spawn edilen kopyalardan birinde bileşenin kaldığı görüldü</a:t>
            </a:r>
            <a:endParaRPr lang="en-US" sz="1150" dirty="0"/>
          </a:p>
        </p:txBody>
      </p:sp>
      <p:sp>
        <p:nvSpPr>
          <p:cNvPr id="28" name="Shape 26"/>
          <p:cNvSpPr/>
          <p:nvPr/>
        </p:nvSpPr>
        <p:spPr>
          <a:xfrm>
            <a:off x="9024899" y="3913632"/>
            <a:ext cx="2599868" cy="1773936"/>
          </a:xfrm>
          <a:prstGeom prst="roundRect">
            <a:avLst>
              <a:gd name="adj" fmla="val 4124"/>
            </a:avLst>
          </a:prstGeom>
          <a:solidFill>
            <a:srgbClr val="242938"/>
          </a:solidFill>
          <a:ln w="12700">
            <a:solidFill>
              <a:srgbClr val="2A3042"/>
            </a:solidFill>
            <a:prstDash val="solid"/>
          </a:ln>
        </p:spPr>
      </p:sp>
      <p:sp>
        <p:nvSpPr>
          <p:cNvPr id="29" name="Shape 27"/>
          <p:cNvSpPr/>
          <p:nvPr/>
        </p:nvSpPr>
        <p:spPr>
          <a:xfrm>
            <a:off x="9226067" y="4096512"/>
            <a:ext cx="329184" cy="329184"/>
          </a:xfrm>
          <a:prstGeom prst="ellipse">
            <a:avLst/>
          </a:prstGeom>
          <a:solidFill>
            <a:srgbClr val="9ECE6A"/>
          </a:solidFill>
          <a:ln w="12700">
            <a:solidFill>
              <a:srgbClr val="9ECE6A"/>
            </a:solidFill>
            <a:prstDash val="solid"/>
          </a:ln>
        </p:spPr>
      </p:sp>
      <p:sp>
        <p:nvSpPr>
          <p:cNvPr id="30" name="Text 28"/>
          <p:cNvSpPr/>
          <p:nvPr/>
        </p:nvSpPr>
        <p:spPr>
          <a:xfrm>
            <a:off x="9226067" y="4096512"/>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31" name="Text 29"/>
          <p:cNvSpPr/>
          <p:nvPr/>
        </p:nvSpPr>
        <p:spPr>
          <a:xfrm>
            <a:off x="9664979" y="4078224"/>
            <a:ext cx="1740332" cy="365760"/>
          </a:xfrm>
          <a:prstGeom prst="rect">
            <a:avLst/>
          </a:prstGeom>
          <a:noFill/>
          <a:ln/>
        </p:spPr>
        <p:txBody>
          <a:bodyPr wrap="square" lIns="0" tIns="0" rIns="0" bIns="0" rtlCol="0" anchor="ctr"/>
          <a:lstStyle/>
          <a:p>
            <a:pPr algn="l" indent="0" marL="0">
              <a:buNone/>
            </a:pPr>
            <a:r>
              <a:rPr lang="en-US" sz="1350" b="1" dirty="0">
                <a:solidFill>
                  <a:srgbClr val="9ECE6A"/>
                </a:solidFill>
                <a:latin typeface="Calibri" pitchFamily="34" charset="0"/>
                <a:ea typeface="Calibri" pitchFamily="34" charset="-122"/>
                <a:cs typeface="Calibri" pitchFamily="34" charset="-120"/>
              </a:rPr>
              <a:t>Sonuç</a:t>
            </a:r>
            <a:endParaRPr lang="en-US" sz="1350" dirty="0"/>
          </a:p>
        </p:txBody>
      </p:sp>
      <p:sp>
        <p:nvSpPr>
          <p:cNvPr id="32" name="Text 30"/>
          <p:cNvSpPr/>
          <p:nvPr/>
        </p:nvSpPr>
        <p:spPr>
          <a:xfrm>
            <a:off x="9244355" y="4498848"/>
            <a:ext cx="2160956" cy="104241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Sorun kodda değil, sahnedeki nesne sayısındaydı</a:t>
            </a:r>
            <a:endParaRPr lang="en-US" sz="1150" dirty="0"/>
          </a:p>
        </p:txBody>
      </p:sp>
      <p:sp>
        <p:nvSpPr>
          <p:cNvPr id="33" name="Text 31"/>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40</a:t>
            </a:r>
            <a:endParaRPr lang="en-US" sz="1000" dirty="0"/>
          </a:p>
        </p:txBody>
      </p:sp>
      <p:sp>
        <p:nvSpPr>
          <p:cNvPr id="34" name="Text 32"/>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08 / instance</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Yeniden Türetme Riski ve Güvenli Alternatif</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Parent sınıf değiştirmek yerine davranışı bir bayrakla kontrol etmek</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9ECE6A"/>
                </a:solidFill>
                <a:latin typeface="Courier New" pitchFamily="34" charset="0"/>
                <a:ea typeface="Courier New" pitchFamily="34" charset="-122"/>
                <a:cs typeface="Courier New" pitchFamily="34" charset="-120"/>
              </a:rPr>
              <a:t>08 / MIMARI</a:t>
            </a:r>
            <a:endParaRPr lang="en-US" sz="1000" dirty="0"/>
          </a:p>
        </p:txBody>
      </p:sp>
      <p:sp>
        <p:nvSpPr>
          <p:cNvPr id="5" name="Shape 3"/>
          <p:cNvSpPr/>
          <p:nvPr/>
        </p:nvSpPr>
        <p:spPr>
          <a:xfrm>
            <a:off x="566928" y="1481328"/>
            <a:ext cx="5806440" cy="1737360"/>
          </a:xfrm>
          <a:prstGeom prst="roundRect">
            <a:avLst>
              <a:gd name="adj" fmla="val 4211"/>
            </a:avLst>
          </a:prstGeom>
          <a:solidFill>
            <a:srgbClr val="242938"/>
          </a:solidFill>
          <a:ln w="12700">
            <a:solidFill>
              <a:srgbClr val="2A3042"/>
            </a:solidFill>
            <a:prstDash val="solid"/>
          </a:ln>
        </p:spPr>
      </p:sp>
      <p:sp>
        <p:nvSpPr>
          <p:cNvPr id="6" name="Text 4"/>
          <p:cNvSpPr/>
          <p:nvPr/>
        </p:nvSpPr>
        <p:spPr>
          <a:xfrm>
            <a:off x="786384" y="1645920"/>
            <a:ext cx="5367528" cy="365760"/>
          </a:xfrm>
          <a:prstGeom prst="rect">
            <a:avLst/>
          </a:prstGeom>
          <a:noFill/>
          <a:ln/>
        </p:spPr>
        <p:txBody>
          <a:bodyPr wrap="square" lIns="0" tIns="0" rIns="0" bIns="0" rtlCol="0" anchor="ctr"/>
          <a:lstStyle/>
          <a:p>
            <a:pPr algn="l" indent="0" marL="0">
              <a:buNone/>
            </a:pPr>
            <a:r>
              <a:rPr lang="en-US" sz="1500" b="1" dirty="0">
                <a:solidFill>
                  <a:srgbClr val="F7768E"/>
                </a:solidFill>
                <a:latin typeface="Calibri" pitchFamily="34" charset="0"/>
                <a:ea typeface="Calibri" pitchFamily="34" charset="-122"/>
                <a:cs typeface="Calibri" pitchFamily="34" charset="-120"/>
              </a:rPr>
              <a:t>Reparent neden risklidir?</a:t>
            </a:r>
            <a:endParaRPr lang="en-US" sz="1500" dirty="0"/>
          </a:p>
        </p:txBody>
      </p:sp>
      <p:sp>
        <p:nvSpPr>
          <p:cNvPr id="7" name="Text 5"/>
          <p:cNvSpPr/>
          <p:nvPr/>
        </p:nvSpPr>
        <p:spPr>
          <a:xfrm>
            <a:off x="786384" y="2066544"/>
            <a:ext cx="5367528" cy="100584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Bir Blueprint'in üst sınıfı değiştirildiğinde eski sınıftan gelen değişkenler ve bileşenler kaldırılır. Bunlara bağlı düğümler kopar, mesh ve animasyon atamaları boşalabilir. Bu projede reparent sonrası Blueprint kullanılamaz hale geldi ve yeniden oluşturulması gerekti.</a:t>
            </a:r>
            <a:endParaRPr lang="en-US" sz="1200" dirty="0"/>
          </a:p>
        </p:txBody>
      </p:sp>
      <p:sp>
        <p:nvSpPr>
          <p:cNvPr id="8" name="Shape 6"/>
          <p:cNvSpPr/>
          <p:nvPr/>
        </p:nvSpPr>
        <p:spPr>
          <a:xfrm>
            <a:off x="6647688" y="1481328"/>
            <a:ext cx="5806440" cy="1737360"/>
          </a:xfrm>
          <a:prstGeom prst="roundRect">
            <a:avLst>
              <a:gd name="adj" fmla="val 4211"/>
            </a:avLst>
          </a:prstGeom>
          <a:solidFill>
            <a:srgbClr val="242938"/>
          </a:solidFill>
          <a:ln w="12700">
            <a:solidFill>
              <a:srgbClr val="2A3042"/>
            </a:solidFill>
            <a:prstDash val="solid"/>
          </a:ln>
        </p:spPr>
      </p:sp>
      <p:sp>
        <p:nvSpPr>
          <p:cNvPr id="9" name="Text 7"/>
          <p:cNvSpPr/>
          <p:nvPr/>
        </p:nvSpPr>
        <p:spPr>
          <a:xfrm>
            <a:off x="6867144" y="1645920"/>
            <a:ext cx="5367528"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Alternatif: davranış bayrağı</a:t>
            </a:r>
            <a:endParaRPr lang="en-US" sz="1500" dirty="0"/>
          </a:p>
        </p:txBody>
      </p:sp>
      <p:sp>
        <p:nvSpPr>
          <p:cNvPr id="10" name="Text 8"/>
          <p:cNvSpPr/>
          <p:nvPr/>
        </p:nvSpPr>
        <p:spPr>
          <a:xfrm>
            <a:off x="6867144" y="2066544"/>
            <a:ext cx="5367528" cy="1005840"/>
          </a:xfrm>
          <a:prstGeom prst="rect">
            <a:avLst/>
          </a:prstGeom>
          <a:noFill/>
          <a:ln/>
        </p:spPr>
        <p:txBody>
          <a:bodyPr wrap="square" lIns="0" tIns="0" rIns="0" bIns="0" rtlCol="0" anchor="t"/>
          <a:lstStyle/>
          <a:p>
            <a:pPr algn="l" indent="0" marL="0">
              <a:lnSpc>
                <a:spcPct val="115000"/>
              </a:lnSpc>
              <a:buNone/>
            </a:pPr>
            <a:r>
              <a:rPr lang="en-US" sz="1200" dirty="0">
                <a:solidFill>
                  <a:srgbClr val="C6CEF0"/>
                </a:solidFill>
                <a:latin typeface="Calibri" pitchFamily="34" charset="0"/>
                <a:ea typeface="Calibri" pitchFamily="34" charset="-122"/>
                <a:cs typeface="Calibri" pitchFamily="34" charset="-120"/>
              </a:rPr>
              <a:t>Üst sınıf değiştirilmez. C++ tarafına editörden kapatılabilen bir mantıksal anahtar eklenir. Aynı sınıftan türeyen iki Blueprint, bu anahtarın değerine göre farklı davranır. Hiyerarşi bozulmaz, geri dönüş her zaman mümkündür.</a:t>
            </a:r>
            <a:endParaRPr lang="en-US" sz="1200" dirty="0"/>
          </a:p>
        </p:txBody>
      </p:sp>
      <p:sp>
        <p:nvSpPr>
          <p:cNvPr id="11" name="Shape 9"/>
          <p:cNvSpPr/>
          <p:nvPr/>
        </p:nvSpPr>
        <p:spPr>
          <a:xfrm>
            <a:off x="566928" y="3383280"/>
            <a:ext cx="6858000" cy="2304288"/>
          </a:xfrm>
          <a:prstGeom prst="roundRect">
            <a:avLst>
              <a:gd name="adj" fmla="val 2381"/>
            </a:avLst>
          </a:prstGeom>
          <a:solidFill>
            <a:srgbClr val="13141C"/>
          </a:solidFill>
          <a:ln w="12700">
            <a:solidFill>
              <a:srgbClr val="2A3042"/>
            </a:solidFill>
            <a:prstDash val="solid"/>
          </a:ln>
        </p:spPr>
      </p:sp>
      <p:sp>
        <p:nvSpPr>
          <p:cNvPr id="12" name="Text 10"/>
          <p:cNvSpPr/>
          <p:nvPr/>
        </p:nvSpPr>
        <p:spPr>
          <a:xfrm>
            <a:off x="713232" y="3447288"/>
            <a:ext cx="6565392" cy="219456"/>
          </a:xfrm>
          <a:prstGeom prst="rect">
            <a:avLst/>
          </a:prstGeom>
          <a:noFill/>
          <a:ln/>
        </p:spPr>
        <p:txBody>
          <a:bodyPr wrap="square" lIns="0" tIns="0" rIns="0" bIns="0" rtlCol="0" anchor="ctr"/>
          <a:lstStyle/>
          <a:p>
            <a:pPr indent="0" marL="0">
              <a:buNone/>
            </a:pPr>
            <a:r>
              <a:rPr lang="en-US" sz="900" spc="100" kern="0" dirty="0">
                <a:solidFill>
                  <a:srgbClr val="7A83A8"/>
                </a:solidFill>
                <a:latin typeface="Courier New" pitchFamily="34" charset="0"/>
                <a:ea typeface="Courier New" pitchFamily="34" charset="-122"/>
                <a:cs typeface="Courier New" pitchFamily="34" charset="-120"/>
              </a:rPr>
              <a:t>UYGULAMA</a:t>
            </a:r>
            <a:endParaRPr lang="en-US" sz="900" dirty="0"/>
          </a:p>
        </p:txBody>
      </p:sp>
      <p:sp>
        <p:nvSpPr>
          <p:cNvPr id="13" name="Text 11"/>
          <p:cNvSpPr/>
          <p:nvPr/>
        </p:nvSpPr>
        <p:spPr>
          <a:xfrm>
            <a:off x="713232" y="3675888"/>
            <a:ext cx="6565392" cy="1901952"/>
          </a:xfrm>
          <a:prstGeom prst="rect">
            <a:avLst/>
          </a:prstGeom>
          <a:noFill/>
          <a:ln/>
        </p:spPr>
        <p:txBody>
          <a:bodyPr wrap="square" lIns="0" tIns="0" rIns="0" bIns="0" rtlCol="0" anchor="t"/>
          <a:lstStyle/>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Header — editörden görünür, Blueprint'te kapatılabilir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UPROPERTY(EditAnywhere, Category = "AI")</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bool bCppHareketiAktif = true;</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BeginPlay başında tek satırlık kontrol</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void AAI_CharacterCpp::BeginPlay()</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Super::BeginPlay();</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    if (!bCppHareketiAktif) return;   </a:t>
            </a:r>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BP kendi işini yapsın</a:t>
            </a:r>
            <a:endParaRPr lang="en-US" sz="1100" dirty="0"/>
          </a:p>
          <a:p>
            <a:pPr algn="l" indent="0" marL="0">
              <a:lnSpc>
                <a:spcPct val="112000"/>
              </a:lnSpc>
              <a:buNone/>
            </a:pPr>
            <a:r>
              <a:rPr lang="en-US" sz="1100" dirty="0">
                <a:solidFill>
                  <a:srgbClr val="6B7396"/>
                </a:solidFill>
                <a:latin typeface="Courier New" pitchFamily="34" charset="0"/>
                <a:ea typeface="Courier New" pitchFamily="34" charset="-122"/>
                <a:cs typeface="Courier New" pitchFamily="34" charset="-120"/>
              </a:rPr>
              <a:t>    // ... C++ hareket sistemi buradan sonra kurulur</a:t>
            </a:r>
            <a:endParaRPr lang="en-US" sz="1100" dirty="0"/>
          </a:p>
          <a:p>
            <a:pPr algn="l" indent="0" marL="0">
              <a:lnSpc>
                <a:spcPct val="112000"/>
              </a:lnSpc>
              <a:buNone/>
            </a:pPr>
            <a:r>
              <a:rPr lang="en-US" sz="1100" dirty="0">
                <a:solidFill>
                  <a:srgbClr val="C6CEF0"/>
                </a:solidFill>
                <a:latin typeface="Courier New" pitchFamily="34" charset="0"/>
                <a:ea typeface="Courier New" pitchFamily="34" charset="-122"/>
                <a:cs typeface="Courier New" pitchFamily="34" charset="-120"/>
              </a:rPr>
              <a:t>}</a:t>
            </a:r>
            <a:endParaRPr lang="en-US" sz="1100" dirty="0"/>
          </a:p>
        </p:txBody>
      </p:sp>
      <p:sp>
        <p:nvSpPr>
          <p:cNvPr id="14" name="Shape 12"/>
          <p:cNvSpPr/>
          <p:nvPr/>
        </p:nvSpPr>
        <p:spPr>
          <a:xfrm>
            <a:off x="7699248" y="3383280"/>
            <a:ext cx="3925519" cy="694944"/>
          </a:xfrm>
          <a:prstGeom prst="roundRect">
            <a:avLst>
              <a:gd name="adj" fmla="val 10526"/>
            </a:avLst>
          </a:prstGeom>
          <a:solidFill>
            <a:srgbClr val="242938"/>
          </a:solidFill>
          <a:ln w="12700">
            <a:solidFill>
              <a:srgbClr val="2A3042"/>
            </a:solidFill>
            <a:prstDash val="solid"/>
          </a:ln>
        </p:spPr>
      </p:sp>
      <p:sp>
        <p:nvSpPr>
          <p:cNvPr id="15" name="Text 13"/>
          <p:cNvSpPr/>
          <p:nvPr/>
        </p:nvSpPr>
        <p:spPr>
          <a:xfrm>
            <a:off x="7918704" y="3547872"/>
            <a:ext cx="3486607" cy="365760"/>
          </a:xfrm>
          <a:prstGeom prst="rect">
            <a:avLst/>
          </a:prstGeom>
          <a:noFill/>
          <a:ln/>
        </p:spPr>
        <p:txBody>
          <a:bodyPr wrap="square" lIns="0" tIns="0" rIns="0" bIns="0" rtlCol="0" anchor="ctr"/>
          <a:lstStyle/>
          <a:p>
            <a:pPr algn="l" indent="0" marL="0">
              <a:buNone/>
            </a:pPr>
            <a:r>
              <a:rPr lang="en-US" sz="1200" b="1" dirty="0">
                <a:solidFill>
                  <a:srgbClr val="7DCFFF"/>
                </a:solidFill>
                <a:latin typeface="Calibri" pitchFamily="34" charset="0"/>
                <a:ea typeface="Calibri" pitchFamily="34" charset="-122"/>
                <a:cs typeface="Calibri" pitchFamily="34" charset="-120"/>
              </a:rPr>
              <a:t>Tek sınıf, iki davranış</a:t>
            </a:r>
            <a:endParaRPr lang="en-US" sz="1200" dirty="0"/>
          </a:p>
        </p:txBody>
      </p:sp>
      <p:sp>
        <p:nvSpPr>
          <p:cNvPr id="16" name="Text 14"/>
          <p:cNvSpPr/>
          <p:nvPr/>
        </p:nvSpPr>
        <p:spPr>
          <a:xfrm>
            <a:off x="7918704" y="3968496"/>
            <a:ext cx="3486607" cy="-36576"/>
          </a:xfrm>
          <a:prstGeom prst="rect">
            <a:avLst/>
          </a:prstGeom>
          <a:noFill/>
          <a:ln/>
        </p:spPr>
        <p:txBody>
          <a:bodyPr wrap="square" lIns="0" tIns="0" rIns="0" bIns="0" rtlCol="0" anchor="t"/>
          <a:lstStyle/>
          <a:p>
            <a:pPr algn="l" indent="0" marL="0">
              <a:lnSpc>
                <a:spcPct val="115000"/>
              </a:lnSpc>
              <a:buNone/>
            </a:pPr>
            <a:r>
              <a:rPr lang="en-US" sz="1000" dirty="0">
                <a:solidFill>
                  <a:srgbClr val="C6CEF0"/>
                </a:solidFill>
                <a:latin typeface="Calibri" pitchFamily="34" charset="0"/>
                <a:ea typeface="Calibri" pitchFamily="34" charset="-122"/>
                <a:cs typeface="Calibri" pitchFamily="34" charset="-120"/>
              </a:rPr>
              <a:t>Aynı üst sınıftan türeyen Blueprint'ler farklı çalışır.</a:t>
            </a:r>
            <a:endParaRPr lang="en-US" sz="1000" dirty="0"/>
          </a:p>
        </p:txBody>
      </p:sp>
      <p:sp>
        <p:nvSpPr>
          <p:cNvPr id="17" name="Shape 15"/>
          <p:cNvSpPr/>
          <p:nvPr/>
        </p:nvSpPr>
        <p:spPr>
          <a:xfrm>
            <a:off x="7699248" y="4187952"/>
            <a:ext cx="3925519" cy="694944"/>
          </a:xfrm>
          <a:prstGeom prst="roundRect">
            <a:avLst>
              <a:gd name="adj" fmla="val 10526"/>
            </a:avLst>
          </a:prstGeom>
          <a:solidFill>
            <a:srgbClr val="242938"/>
          </a:solidFill>
          <a:ln w="12700">
            <a:solidFill>
              <a:srgbClr val="2A3042"/>
            </a:solidFill>
            <a:prstDash val="solid"/>
          </a:ln>
        </p:spPr>
      </p:sp>
      <p:sp>
        <p:nvSpPr>
          <p:cNvPr id="18" name="Text 16"/>
          <p:cNvSpPr/>
          <p:nvPr/>
        </p:nvSpPr>
        <p:spPr>
          <a:xfrm>
            <a:off x="7918704" y="4352544"/>
            <a:ext cx="3486607" cy="365760"/>
          </a:xfrm>
          <a:prstGeom prst="rect">
            <a:avLst/>
          </a:prstGeom>
          <a:noFill/>
          <a:ln/>
        </p:spPr>
        <p:txBody>
          <a:bodyPr wrap="square" lIns="0" tIns="0" rIns="0" bIns="0" rtlCol="0" anchor="ctr"/>
          <a:lstStyle/>
          <a:p>
            <a:pPr algn="l" indent="0" marL="0">
              <a:buNone/>
            </a:pPr>
            <a:r>
              <a:rPr lang="en-US" sz="1200" b="1" dirty="0">
                <a:solidFill>
                  <a:srgbClr val="BB9AF7"/>
                </a:solidFill>
                <a:latin typeface="Calibri" pitchFamily="34" charset="0"/>
                <a:ea typeface="Calibri" pitchFamily="34" charset="-122"/>
                <a:cs typeface="Calibri" pitchFamily="34" charset="-120"/>
              </a:rPr>
              <a:t>Geri alınabilir</a:t>
            </a:r>
            <a:endParaRPr lang="en-US" sz="1200" dirty="0"/>
          </a:p>
        </p:txBody>
      </p:sp>
      <p:sp>
        <p:nvSpPr>
          <p:cNvPr id="19" name="Text 17"/>
          <p:cNvSpPr/>
          <p:nvPr/>
        </p:nvSpPr>
        <p:spPr>
          <a:xfrm>
            <a:off x="7918704" y="4773168"/>
            <a:ext cx="3486607" cy="-36576"/>
          </a:xfrm>
          <a:prstGeom prst="rect">
            <a:avLst/>
          </a:prstGeom>
          <a:noFill/>
          <a:ln/>
        </p:spPr>
        <p:txBody>
          <a:bodyPr wrap="square" lIns="0" tIns="0" rIns="0" bIns="0" rtlCol="0" anchor="t"/>
          <a:lstStyle/>
          <a:p>
            <a:pPr algn="l" indent="0" marL="0">
              <a:lnSpc>
                <a:spcPct val="115000"/>
              </a:lnSpc>
              <a:buNone/>
            </a:pPr>
            <a:r>
              <a:rPr lang="en-US" sz="1000" dirty="0">
                <a:solidFill>
                  <a:srgbClr val="C6CEF0"/>
                </a:solidFill>
                <a:latin typeface="Calibri" pitchFamily="34" charset="0"/>
                <a:ea typeface="Calibri" pitchFamily="34" charset="-122"/>
                <a:cs typeface="Calibri" pitchFamily="34" charset="-120"/>
              </a:rPr>
              <a:t>Anahtar tekrar açılarak eski davranışa dönülür.</a:t>
            </a:r>
            <a:endParaRPr lang="en-US" sz="1000" dirty="0"/>
          </a:p>
        </p:txBody>
      </p:sp>
      <p:sp>
        <p:nvSpPr>
          <p:cNvPr id="20" name="Shape 18"/>
          <p:cNvSpPr/>
          <p:nvPr/>
        </p:nvSpPr>
        <p:spPr>
          <a:xfrm>
            <a:off x="7699248" y="4992624"/>
            <a:ext cx="3925519" cy="694944"/>
          </a:xfrm>
          <a:prstGeom prst="roundRect">
            <a:avLst>
              <a:gd name="adj" fmla="val 10526"/>
            </a:avLst>
          </a:prstGeom>
          <a:solidFill>
            <a:srgbClr val="242938"/>
          </a:solidFill>
          <a:ln w="12700">
            <a:solidFill>
              <a:srgbClr val="2A3042"/>
            </a:solidFill>
            <a:prstDash val="solid"/>
          </a:ln>
        </p:spPr>
      </p:sp>
      <p:sp>
        <p:nvSpPr>
          <p:cNvPr id="21" name="Text 19"/>
          <p:cNvSpPr/>
          <p:nvPr/>
        </p:nvSpPr>
        <p:spPr>
          <a:xfrm>
            <a:off x="7918704" y="5157216"/>
            <a:ext cx="3486607" cy="365760"/>
          </a:xfrm>
          <a:prstGeom prst="rect">
            <a:avLst/>
          </a:prstGeom>
          <a:noFill/>
          <a:ln/>
        </p:spPr>
        <p:txBody>
          <a:bodyPr wrap="square" lIns="0" tIns="0" rIns="0" bIns="0" rtlCol="0" anchor="ctr"/>
          <a:lstStyle/>
          <a:p>
            <a:pPr algn="l" indent="0" marL="0">
              <a:buNone/>
            </a:pPr>
            <a:r>
              <a:rPr lang="en-US" sz="1200" b="1" dirty="0">
                <a:solidFill>
                  <a:srgbClr val="E0AF68"/>
                </a:solidFill>
                <a:latin typeface="Calibri" pitchFamily="34" charset="0"/>
                <a:ea typeface="Calibri" pitchFamily="34" charset="-122"/>
                <a:cs typeface="Calibri" pitchFamily="34" charset="-120"/>
              </a:rPr>
              <a:t>Karşılaştırma imkânı</a:t>
            </a:r>
            <a:endParaRPr lang="en-US" sz="1200" dirty="0"/>
          </a:p>
        </p:txBody>
      </p:sp>
      <p:sp>
        <p:nvSpPr>
          <p:cNvPr id="22" name="Text 20"/>
          <p:cNvSpPr/>
          <p:nvPr/>
        </p:nvSpPr>
        <p:spPr>
          <a:xfrm>
            <a:off x="7918704" y="5577840"/>
            <a:ext cx="3486607" cy="-36576"/>
          </a:xfrm>
          <a:prstGeom prst="rect">
            <a:avLst/>
          </a:prstGeom>
          <a:noFill/>
          <a:ln/>
        </p:spPr>
        <p:txBody>
          <a:bodyPr wrap="square" lIns="0" tIns="0" rIns="0" bIns="0" rtlCol="0" anchor="t"/>
          <a:lstStyle/>
          <a:p>
            <a:pPr algn="l" indent="0" marL="0">
              <a:lnSpc>
                <a:spcPct val="115000"/>
              </a:lnSpc>
              <a:buNone/>
            </a:pPr>
            <a:r>
              <a:rPr lang="en-US" sz="1000" dirty="0">
                <a:solidFill>
                  <a:srgbClr val="C6CEF0"/>
                </a:solidFill>
                <a:latin typeface="Calibri" pitchFamily="34" charset="0"/>
                <a:ea typeface="Calibri" pitchFamily="34" charset="-122"/>
                <a:cs typeface="Calibri" pitchFamily="34" charset="-120"/>
              </a:rPr>
              <a:t>İki yaklaşım yan yana çalıştırılıp gözlemlenebilir.</a:t>
            </a:r>
            <a:endParaRPr lang="en-US" sz="1000" dirty="0"/>
          </a:p>
        </p:txBody>
      </p:sp>
      <p:sp>
        <p:nvSpPr>
          <p:cNvPr id="23" name="Text 21"/>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41</a:t>
            </a:r>
            <a:endParaRPr lang="en-US" sz="1000" dirty="0"/>
          </a:p>
        </p:txBody>
      </p:sp>
      <p:sp>
        <p:nvSpPr>
          <p:cNvPr id="24" name="Text 22"/>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08 / reparent</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Öğrenilen Dersler</a:t>
            </a:r>
            <a:endParaRPr lang="en-US" sz="3000" dirty="0"/>
          </a:p>
        </p:txBody>
      </p:sp>
      <p:sp>
        <p:nvSpPr>
          <p:cNvPr id="3" name="Text 1"/>
          <p:cNvSpPr/>
          <p:nvPr/>
        </p:nvSpPr>
        <p:spPr>
          <a:xfrm>
            <a:off x="566928" y="969264"/>
            <a:ext cx="11057839" cy="310896"/>
          </a:xfrm>
          <a:prstGeom prst="rect">
            <a:avLst/>
          </a:prstGeom>
          <a:noFill/>
          <a:ln/>
        </p:spPr>
        <p:txBody>
          <a:bodyPr wrap="square" lIns="0" tIns="0" rIns="0" bIns="0" rtlCol="0" anchor="ctr"/>
          <a:lstStyle/>
          <a:p>
            <a:pPr algn="l" indent="0" marL="0">
              <a:buNone/>
            </a:pPr>
            <a:r>
              <a:rPr lang="en-US" sz="1300" i="1" dirty="0">
                <a:solidFill>
                  <a:srgbClr val="7A83A8"/>
                </a:solidFill>
                <a:latin typeface="Calibri" pitchFamily="34" charset="0"/>
                <a:ea typeface="Calibri" pitchFamily="34" charset="-122"/>
                <a:cs typeface="Calibri" pitchFamily="34" charset="-120"/>
              </a:rPr>
              <a:t>Bu çalışmadan çıkarılan ve sonraki projelere taşınacak ilkeler</a:t>
            </a:r>
            <a:endParaRPr lang="en-US" sz="1300" dirty="0"/>
          </a:p>
        </p:txBody>
      </p:sp>
      <p:sp>
        <p:nvSpPr>
          <p:cNvPr id="4" name="Text 2"/>
          <p:cNvSpPr/>
          <p:nvPr/>
        </p:nvSpPr>
        <p:spPr>
          <a:xfrm>
            <a:off x="8515807" y="457200"/>
            <a:ext cx="3108960" cy="274320"/>
          </a:xfrm>
          <a:prstGeom prst="rect">
            <a:avLst/>
          </a:prstGeom>
          <a:noFill/>
          <a:ln/>
        </p:spPr>
        <p:txBody>
          <a:bodyPr wrap="square" lIns="0" tIns="0" rIns="0" bIns="0" rtlCol="0" anchor="ctr"/>
          <a:lstStyle/>
          <a:p>
            <a:pPr algn="r" indent="0" marL="0">
              <a:buNone/>
            </a:pPr>
            <a:r>
              <a:rPr lang="en-US" sz="1000" spc="150" kern="0" dirty="0">
                <a:solidFill>
                  <a:srgbClr val="FFFFFF"/>
                </a:solidFill>
                <a:latin typeface="Courier New" pitchFamily="34" charset="0"/>
                <a:ea typeface="Courier New" pitchFamily="34" charset="-122"/>
                <a:cs typeface="Courier New" pitchFamily="34" charset="-120"/>
              </a:rPr>
              <a:t>OZET</a:t>
            </a:r>
            <a:endParaRPr lang="en-US" sz="1000" dirty="0"/>
          </a:p>
        </p:txBody>
      </p:sp>
      <p:sp>
        <p:nvSpPr>
          <p:cNvPr id="5" name="Shape 3"/>
          <p:cNvSpPr/>
          <p:nvPr/>
        </p:nvSpPr>
        <p:spPr>
          <a:xfrm>
            <a:off x="566928" y="1481328"/>
            <a:ext cx="3515258" cy="1956816"/>
          </a:xfrm>
          <a:prstGeom prst="roundRect">
            <a:avLst>
              <a:gd name="adj" fmla="val 3738"/>
            </a:avLst>
          </a:prstGeom>
          <a:solidFill>
            <a:srgbClr val="242938"/>
          </a:solidFill>
          <a:ln w="12700">
            <a:solidFill>
              <a:srgbClr val="2A3042"/>
            </a:solidFill>
            <a:prstDash val="solid"/>
          </a:ln>
        </p:spPr>
      </p:sp>
      <p:sp>
        <p:nvSpPr>
          <p:cNvPr id="6" name="Shape 4"/>
          <p:cNvSpPr/>
          <p:nvPr/>
        </p:nvSpPr>
        <p:spPr>
          <a:xfrm>
            <a:off x="768096" y="1664208"/>
            <a:ext cx="329184" cy="329184"/>
          </a:xfrm>
          <a:prstGeom prst="ellipse">
            <a:avLst/>
          </a:prstGeom>
          <a:solidFill>
            <a:srgbClr val="7AA2F7"/>
          </a:solidFill>
          <a:ln w="12700">
            <a:solidFill>
              <a:srgbClr val="7AA2F7"/>
            </a:solidFill>
            <a:prstDash val="solid"/>
          </a:ln>
        </p:spPr>
      </p:sp>
      <p:sp>
        <p:nvSpPr>
          <p:cNvPr id="7" name="Text 5"/>
          <p:cNvSpPr/>
          <p:nvPr/>
        </p:nvSpPr>
        <p:spPr>
          <a:xfrm>
            <a:off x="76809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07008" y="1645920"/>
            <a:ext cx="2655722" cy="365760"/>
          </a:xfrm>
          <a:prstGeom prst="rect">
            <a:avLst/>
          </a:prstGeom>
          <a:noFill/>
          <a:ln/>
        </p:spPr>
        <p:txBody>
          <a:bodyPr wrap="square" lIns="0" tIns="0" rIns="0" bIns="0" rtlCol="0" anchor="ctr"/>
          <a:lstStyle/>
          <a:p>
            <a:pPr algn="l" indent="0" marL="0">
              <a:buNone/>
            </a:pPr>
            <a:r>
              <a:rPr lang="en-US" sz="1450" b="1" dirty="0">
                <a:solidFill>
                  <a:srgbClr val="7AA2F7"/>
                </a:solidFill>
                <a:latin typeface="Calibri" pitchFamily="34" charset="0"/>
                <a:ea typeface="Calibri" pitchFamily="34" charset="-122"/>
                <a:cs typeface="Calibri" pitchFamily="34" charset="-120"/>
              </a:rPr>
              <a:t>Hata mesajı adres verir</a:t>
            </a:r>
            <a:endParaRPr lang="en-US" sz="1450" dirty="0"/>
          </a:p>
        </p:txBody>
      </p:sp>
      <p:sp>
        <p:nvSpPr>
          <p:cNvPr id="9" name="Text 7"/>
          <p:cNvSpPr/>
          <p:nvPr/>
        </p:nvSpPr>
        <p:spPr>
          <a:xfrm>
            <a:off x="786384" y="2066544"/>
            <a:ext cx="3076346" cy="122529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Derleyici çıktısındaki dosya, satır ve mesaj birlikte okunduğunda sorunun türü büyük ölçüde belirlenir. Tahmin yürütmeden önce mesaj sonuna kadar okunmalıdır.</a:t>
            </a:r>
            <a:endParaRPr lang="en-US" sz="1150" dirty="0"/>
          </a:p>
        </p:txBody>
      </p:sp>
      <p:sp>
        <p:nvSpPr>
          <p:cNvPr id="10" name="Shape 8"/>
          <p:cNvSpPr/>
          <p:nvPr/>
        </p:nvSpPr>
        <p:spPr>
          <a:xfrm>
            <a:off x="4338218" y="1481328"/>
            <a:ext cx="3515258" cy="1956816"/>
          </a:xfrm>
          <a:prstGeom prst="roundRect">
            <a:avLst>
              <a:gd name="adj" fmla="val 3738"/>
            </a:avLst>
          </a:prstGeom>
          <a:solidFill>
            <a:srgbClr val="242938"/>
          </a:solidFill>
          <a:ln w="12700">
            <a:solidFill>
              <a:srgbClr val="2A3042"/>
            </a:solidFill>
            <a:prstDash val="solid"/>
          </a:ln>
        </p:spPr>
      </p:sp>
      <p:sp>
        <p:nvSpPr>
          <p:cNvPr id="11" name="Shape 9"/>
          <p:cNvSpPr/>
          <p:nvPr/>
        </p:nvSpPr>
        <p:spPr>
          <a:xfrm>
            <a:off x="4539386" y="1664208"/>
            <a:ext cx="329184" cy="329184"/>
          </a:xfrm>
          <a:prstGeom prst="ellipse">
            <a:avLst/>
          </a:prstGeom>
          <a:solidFill>
            <a:srgbClr val="F7768E"/>
          </a:solidFill>
          <a:ln w="12700">
            <a:solidFill>
              <a:srgbClr val="F7768E"/>
            </a:solidFill>
            <a:prstDash val="solid"/>
          </a:ln>
        </p:spPr>
      </p:sp>
      <p:sp>
        <p:nvSpPr>
          <p:cNvPr id="12" name="Text 10"/>
          <p:cNvSpPr/>
          <p:nvPr/>
        </p:nvSpPr>
        <p:spPr>
          <a:xfrm>
            <a:off x="4539386"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978298" y="1645920"/>
            <a:ext cx="2655722" cy="365760"/>
          </a:xfrm>
          <a:prstGeom prst="rect">
            <a:avLst/>
          </a:prstGeom>
          <a:noFill/>
          <a:ln/>
        </p:spPr>
        <p:txBody>
          <a:bodyPr wrap="square" lIns="0" tIns="0" rIns="0" bIns="0" rtlCol="0" anchor="ctr"/>
          <a:lstStyle/>
          <a:p>
            <a:pPr algn="l" indent="0" marL="0">
              <a:buNone/>
            </a:pPr>
            <a:r>
              <a:rPr lang="en-US" sz="1450" b="1" dirty="0">
                <a:solidFill>
                  <a:srgbClr val="F7768E"/>
                </a:solidFill>
                <a:latin typeface="Calibri" pitchFamily="34" charset="0"/>
                <a:ea typeface="Calibri" pitchFamily="34" charset="-122"/>
                <a:cs typeface="Calibri" pitchFamily="34" charset="-120"/>
              </a:rPr>
              <a:t>Yığın hikâye anlatır</a:t>
            </a:r>
            <a:endParaRPr lang="en-US" sz="1450" dirty="0"/>
          </a:p>
        </p:txBody>
      </p:sp>
      <p:sp>
        <p:nvSpPr>
          <p:cNvPr id="14" name="Text 12"/>
          <p:cNvSpPr/>
          <p:nvPr/>
        </p:nvSpPr>
        <p:spPr>
          <a:xfrm>
            <a:off x="4557674" y="2066544"/>
            <a:ext cx="3076346" cy="122529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Çökme raporu, olayların hangi sırayla tetiklendiğini gösterir. Kendi sınıf adlarının yığında bulunup bulunmaması ilk ayrım noktasıdır.</a:t>
            </a:r>
            <a:endParaRPr lang="en-US" sz="1150" dirty="0"/>
          </a:p>
        </p:txBody>
      </p:sp>
      <p:sp>
        <p:nvSpPr>
          <p:cNvPr id="15" name="Shape 13"/>
          <p:cNvSpPr/>
          <p:nvPr/>
        </p:nvSpPr>
        <p:spPr>
          <a:xfrm>
            <a:off x="8109509" y="1481328"/>
            <a:ext cx="3515258" cy="1956816"/>
          </a:xfrm>
          <a:prstGeom prst="roundRect">
            <a:avLst>
              <a:gd name="adj" fmla="val 3738"/>
            </a:avLst>
          </a:prstGeom>
          <a:solidFill>
            <a:srgbClr val="242938"/>
          </a:solidFill>
          <a:ln w="12700">
            <a:solidFill>
              <a:srgbClr val="2A3042"/>
            </a:solidFill>
            <a:prstDash val="solid"/>
          </a:ln>
        </p:spPr>
      </p:sp>
      <p:sp>
        <p:nvSpPr>
          <p:cNvPr id="16" name="Shape 14"/>
          <p:cNvSpPr/>
          <p:nvPr/>
        </p:nvSpPr>
        <p:spPr>
          <a:xfrm>
            <a:off x="8310677" y="1664208"/>
            <a:ext cx="329184" cy="329184"/>
          </a:xfrm>
          <a:prstGeom prst="ellipse">
            <a:avLst/>
          </a:prstGeom>
          <a:solidFill>
            <a:srgbClr val="BB9AF7"/>
          </a:solidFill>
          <a:ln w="12700">
            <a:solidFill>
              <a:srgbClr val="BB9AF7"/>
            </a:solidFill>
            <a:prstDash val="solid"/>
          </a:ln>
        </p:spPr>
      </p:sp>
      <p:sp>
        <p:nvSpPr>
          <p:cNvPr id="17" name="Text 15"/>
          <p:cNvSpPr/>
          <p:nvPr/>
        </p:nvSpPr>
        <p:spPr>
          <a:xfrm>
            <a:off x="8310677" y="16642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749589" y="1645920"/>
            <a:ext cx="2655722" cy="365760"/>
          </a:xfrm>
          <a:prstGeom prst="rect">
            <a:avLst/>
          </a:prstGeom>
          <a:noFill/>
          <a:ln/>
        </p:spPr>
        <p:txBody>
          <a:bodyPr wrap="square" lIns="0" tIns="0" rIns="0" bIns="0" rtlCol="0" anchor="ctr"/>
          <a:lstStyle/>
          <a:p>
            <a:pPr algn="l" indent="0" marL="0">
              <a:buNone/>
            </a:pPr>
            <a:r>
              <a:rPr lang="en-US" sz="1450" b="1" dirty="0">
                <a:solidFill>
                  <a:srgbClr val="BB9AF7"/>
                </a:solidFill>
                <a:latin typeface="Calibri" pitchFamily="34" charset="0"/>
                <a:ea typeface="Calibri" pitchFamily="34" charset="-122"/>
                <a:cs typeface="Calibri" pitchFamily="34" charset="-120"/>
              </a:rPr>
              <a:t>Bir kez bağla, çok kez yayınla</a:t>
            </a:r>
            <a:endParaRPr lang="en-US" sz="1450" dirty="0"/>
          </a:p>
        </p:txBody>
      </p:sp>
      <p:sp>
        <p:nvSpPr>
          <p:cNvPr id="19" name="Text 17"/>
          <p:cNvSpPr/>
          <p:nvPr/>
        </p:nvSpPr>
        <p:spPr>
          <a:xfrm>
            <a:off x="8328965" y="2066544"/>
            <a:ext cx="3076346" cy="122529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Delegate bağlama işlemi başlangıçta bir kez yapılır. Tekrar eden bağlama, katlanarak artan tetiklenmeye ve çökmeye yol açar.</a:t>
            </a:r>
            <a:endParaRPr lang="en-US" sz="1150" dirty="0"/>
          </a:p>
        </p:txBody>
      </p:sp>
      <p:sp>
        <p:nvSpPr>
          <p:cNvPr id="20" name="Shape 18"/>
          <p:cNvSpPr/>
          <p:nvPr/>
        </p:nvSpPr>
        <p:spPr>
          <a:xfrm>
            <a:off x="566928" y="3621024"/>
            <a:ext cx="3515258" cy="1956816"/>
          </a:xfrm>
          <a:prstGeom prst="roundRect">
            <a:avLst>
              <a:gd name="adj" fmla="val 3738"/>
            </a:avLst>
          </a:prstGeom>
          <a:solidFill>
            <a:srgbClr val="242938"/>
          </a:solidFill>
          <a:ln w="12700">
            <a:solidFill>
              <a:srgbClr val="2A3042"/>
            </a:solidFill>
            <a:prstDash val="solid"/>
          </a:ln>
        </p:spPr>
      </p:sp>
      <p:sp>
        <p:nvSpPr>
          <p:cNvPr id="21" name="Shape 19"/>
          <p:cNvSpPr/>
          <p:nvPr/>
        </p:nvSpPr>
        <p:spPr>
          <a:xfrm>
            <a:off x="768096" y="3803904"/>
            <a:ext cx="329184" cy="329184"/>
          </a:xfrm>
          <a:prstGeom prst="ellipse">
            <a:avLst/>
          </a:prstGeom>
          <a:solidFill>
            <a:srgbClr val="E0AF68"/>
          </a:solidFill>
          <a:ln w="12700">
            <a:solidFill>
              <a:srgbClr val="E0AF68"/>
            </a:solidFill>
            <a:prstDash val="solid"/>
          </a:ln>
        </p:spPr>
      </p:sp>
      <p:sp>
        <p:nvSpPr>
          <p:cNvPr id="22" name="Text 20"/>
          <p:cNvSpPr/>
          <p:nvPr/>
        </p:nvSpPr>
        <p:spPr>
          <a:xfrm>
            <a:off x="768096" y="38039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207008" y="3785616"/>
            <a:ext cx="2655722" cy="365760"/>
          </a:xfrm>
          <a:prstGeom prst="rect">
            <a:avLst/>
          </a:prstGeom>
          <a:noFill/>
          <a:ln/>
        </p:spPr>
        <p:txBody>
          <a:bodyPr wrap="square" lIns="0" tIns="0" rIns="0" bIns="0" rtlCol="0" anchor="ctr"/>
          <a:lstStyle/>
          <a:p>
            <a:pPr algn="l" indent="0" marL="0">
              <a:buNone/>
            </a:pPr>
            <a:r>
              <a:rPr lang="en-US" sz="1450" b="1" dirty="0">
                <a:solidFill>
                  <a:srgbClr val="E0AF68"/>
                </a:solidFill>
                <a:latin typeface="Calibri" pitchFamily="34" charset="0"/>
                <a:ea typeface="Calibri" pitchFamily="34" charset="-122"/>
                <a:cs typeface="Calibri" pitchFamily="34" charset="-120"/>
              </a:rPr>
              <a:t>Ömür yönetimi önemlidir</a:t>
            </a:r>
            <a:endParaRPr lang="en-US" sz="1450" dirty="0"/>
          </a:p>
        </p:txBody>
      </p:sp>
      <p:sp>
        <p:nvSpPr>
          <p:cNvPr id="24" name="Text 22"/>
          <p:cNvSpPr/>
          <p:nvPr/>
        </p:nvSpPr>
        <p:spPr>
          <a:xfrm>
            <a:off x="786384" y="4206240"/>
            <a:ext cx="3076346" cy="122529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Zamanlayıcı tanıtıcıları ve referanslar, kullanıldıkları süre boyunca yaşamalıdır. Yerel değişkenler fonksiyon bitince yok olur.</a:t>
            </a:r>
            <a:endParaRPr lang="en-US" sz="1150" dirty="0"/>
          </a:p>
        </p:txBody>
      </p:sp>
      <p:sp>
        <p:nvSpPr>
          <p:cNvPr id="25" name="Shape 23"/>
          <p:cNvSpPr/>
          <p:nvPr/>
        </p:nvSpPr>
        <p:spPr>
          <a:xfrm>
            <a:off x="4338218" y="3621024"/>
            <a:ext cx="3515258" cy="1956816"/>
          </a:xfrm>
          <a:prstGeom prst="roundRect">
            <a:avLst>
              <a:gd name="adj" fmla="val 3738"/>
            </a:avLst>
          </a:prstGeom>
          <a:solidFill>
            <a:srgbClr val="242938"/>
          </a:solidFill>
          <a:ln w="12700">
            <a:solidFill>
              <a:srgbClr val="2A3042"/>
            </a:solidFill>
            <a:prstDash val="solid"/>
          </a:ln>
        </p:spPr>
      </p:sp>
      <p:sp>
        <p:nvSpPr>
          <p:cNvPr id="26" name="Shape 24"/>
          <p:cNvSpPr/>
          <p:nvPr/>
        </p:nvSpPr>
        <p:spPr>
          <a:xfrm>
            <a:off x="4539386" y="3803904"/>
            <a:ext cx="329184" cy="329184"/>
          </a:xfrm>
          <a:prstGeom prst="ellipse">
            <a:avLst/>
          </a:prstGeom>
          <a:solidFill>
            <a:srgbClr val="7DCFFF"/>
          </a:solidFill>
          <a:ln w="12700">
            <a:solidFill>
              <a:srgbClr val="7DCFFF"/>
            </a:solidFill>
            <a:prstDash val="solid"/>
          </a:ln>
        </p:spPr>
      </p:sp>
      <p:sp>
        <p:nvSpPr>
          <p:cNvPr id="27" name="Text 25"/>
          <p:cNvSpPr/>
          <p:nvPr/>
        </p:nvSpPr>
        <p:spPr>
          <a:xfrm>
            <a:off x="4539386" y="38039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978298" y="3785616"/>
            <a:ext cx="2655722" cy="365760"/>
          </a:xfrm>
          <a:prstGeom prst="rect">
            <a:avLst/>
          </a:prstGeom>
          <a:noFill/>
          <a:ln/>
        </p:spPr>
        <p:txBody>
          <a:bodyPr wrap="square" lIns="0" tIns="0" rIns="0" bIns="0" rtlCol="0" anchor="ctr"/>
          <a:lstStyle/>
          <a:p>
            <a:pPr algn="l" indent="0" marL="0">
              <a:buNone/>
            </a:pPr>
            <a:r>
              <a:rPr lang="en-US" sz="1450" b="1" dirty="0">
                <a:solidFill>
                  <a:srgbClr val="7DCFFF"/>
                </a:solidFill>
                <a:latin typeface="Calibri" pitchFamily="34" charset="0"/>
                <a:ea typeface="Calibri" pitchFamily="34" charset="-122"/>
                <a:cs typeface="Calibri" pitchFamily="34" charset="-120"/>
              </a:rPr>
              <a:t>Sorumluluklar ayrılmalıdır</a:t>
            </a:r>
            <a:endParaRPr lang="en-US" sz="1450" dirty="0"/>
          </a:p>
        </p:txBody>
      </p:sp>
      <p:sp>
        <p:nvSpPr>
          <p:cNvPr id="29" name="Text 27"/>
          <p:cNvSpPr/>
          <p:nvPr/>
        </p:nvSpPr>
        <p:spPr>
          <a:xfrm>
            <a:off x="4557674" y="4206240"/>
            <a:ext cx="3076346" cy="122529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Hedef belirlemek ile hedefe ilerlemek farklı ritimlerde çalışan iki iştir. Aynı düğüme yüklenmemelidir.</a:t>
            </a:r>
            <a:endParaRPr lang="en-US" sz="1150" dirty="0"/>
          </a:p>
        </p:txBody>
      </p:sp>
      <p:sp>
        <p:nvSpPr>
          <p:cNvPr id="30" name="Shape 28"/>
          <p:cNvSpPr/>
          <p:nvPr/>
        </p:nvSpPr>
        <p:spPr>
          <a:xfrm>
            <a:off x="8109509" y="3621024"/>
            <a:ext cx="3515258" cy="1956816"/>
          </a:xfrm>
          <a:prstGeom prst="roundRect">
            <a:avLst>
              <a:gd name="adj" fmla="val 3738"/>
            </a:avLst>
          </a:prstGeom>
          <a:solidFill>
            <a:srgbClr val="242938"/>
          </a:solidFill>
          <a:ln w="12700">
            <a:solidFill>
              <a:srgbClr val="2A3042"/>
            </a:solidFill>
            <a:prstDash val="solid"/>
          </a:ln>
        </p:spPr>
      </p:sp>
      <p:sp>
        <p:nvSpPr>
          <p:cNvPr id="31" name="Shape 29"/>
          <p:cNvSpPr/>
          <p:nvPr/>
        </p:nvSpPr>
        <p:spPr>
          <a:xfrm>
            <a:off x="8310677" y="3803904"/>
            <a:ext cx="329184" cy="329184"/>
          </a:xfrm>
          <a:prstGeom prst="ellipse">
            <a:avLst/>
          </a:prstGeom>
          <a:solidFill>
            <a:srgbClr val="9ECE6A"/>
          </a:solidFill>
          <a:ln w="12700">
            <a:solidFill>
              <a:srgbClr val="9ECE6A"/>
            </a:solidFill>
            <a:prstDash val="solid"/>
          </a:ln>
        </p:spPr>
      </p:sp>
      <p:sp>
        <p:nvSpPr>
          <p:cNvPr id="32" name="Text 30"/>
          <p:cNvSpPr/>
          <p:nvPr/>
        </p:nvSpPr>
        <p:spPr>
          <a:xfrm>
            <a:off x="8310677" y="3803904"/>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749589" y="3785616"/>
            <a:ext cx="2655722" cy="365760"/>
          </a:xfrm>
          <a:prstGeom prst="rect">
            <a:avLst/>
          </a:prstGeom>
          <a:noFill/>
          <a:ln/>
        </p:spPr>
        <p:txBody>
          <a:bodyPr wrap="square" lIns="0" tIns="0" rIns="0" bIns="0" rtlCol="0" anchor="ctr"/>
          <a:lstStyle/>
          <a:p>
            <a:pPr algn="l" indent="0" marL="0">
              <a:buNone/>
            </a:pPr>
            <a:r>
              <a:rPr lang="en-US" sz="1450" b="1" dirty="0">
                <a:solidFill>
                  <a:srgbClr val="9ECE6A"/>
                </a:solidFill>
                <a:latin typeface="Calibri" pitchFamily="34" charset="0"/>
                <a:ea typeface="Calibri" pitchFamily="34" charset="-122"/>
                <a:cs typeface="Calibri" pitchFamily="34" charset="-120"/>
              </a:rPr>
              <a:t>Ölçek maliyeti kareseldir</a:t>
            </a:r>
            <a:endParaRPr lang="en-US" sz="1450" dirty="0"/>
          </a:p>
        </p:txBody>
      </p:sp>
      <p:sp>
        <p:nvSpPr>
          <p:cNvPr id="34" name="Text 32"/>
          <p:cNvSpPr/>
          <p:nvPr/>
        </p:nvSpPr>
        <p:spPr>
          <a:xfrm>
            <a:off x="8328965" y="4206240"/>
            <a:ext cx="3076346" cy="1225296"/>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Arama yarıçapı iki katına çıktığında taranan alan dört katına çıkar. Tek karede yapılan sorgularda bu doğrudan donma demektir.</a:t>
            </a:r>
            <a:endParaRPr lang="en-US" sz="1150" dirty="0"/>
          </a:p>
        </p:txBody>
      </p:sp>
      <p:sp>
        <p:nvSpPr>
          <p:cNvPr id="35" name="Text 33"/>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42</a:t>
            </a:r>
            <a:endParaRPr lang="en-US" sz="1000" dirty="0"/>
          </a:p>
        </p:txBody>
      </p:sp>
      <p:sp>
        <p:nvSpPr>
          <p:cNvPr id="36" name="Text 34"/>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ozet</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66928" y="1051560"/>
            <a:ext cx="11057839"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Sıradaki Adımlar</a:t>
            </a:r>
            <a:endParaRPr lang="en-US" sz="3800" dirty="0"/>
          </a:p>
        </p:txBody>
      </p:sp>
      <p:sp>
        <p:nvSpPr>
          <p:cNvPr id="3" name="Text 1"/>
          <p:cNvSpPr/>
          <p:nvPr/>
        </p:nvSpPr>
        <p:spPr>
          <a:xfrm>
            <a:off x="566928" y="1755648"/>
            <a:ext cx="11057839" cy="365760"/>
          </a:xfrm>
          <a:prstGeom prst="rect">
            <a:avLst/>
          </a:prstGeom>
          <a:noFill/>
          <a:ln/>
        </p:spPr>
        <p:txBody>
          <a:bodyPr wrap="square" lIns="0" tIns="0" rIns="0" bIns="0" rtlCol="0" anchor="ctr"/>
          <a:lstStyle/>
          <a:p>
            <a:pPr indent="0" marL="0">
              <a:buNone/>
            </a:pPr>
            <a:r>
              <a:rPr lang="en-US" sz="1400" i="1" dirty="0">
                <a:solidFill>
                  <a:srgbClr val="7A83A8"/>
                </a:solidFill>
                <a:latin typeface="Calibri" pitchFamily="34" charset="0"/>
                <a:ea typeface="Calibri" pitchFamily="34" charset="-122"/>
                <a:cs typeface="Calibri" pitchFamily="34" charset="-120"/>
              </a:rPr>
              <a:t>Bu çalışmanın üzerine inşa edilecek konular</a:t>
            </a:r>
            <a:endParaRPr lang="en-US" sz="1400" dirty="0"/>
          </a:p>
        </p:txBody>
      </p:sp>
      <p:sp>
        <p:nvSpPr>
          <p:cNvPr id="4" name="Shape 2"/>
          <p:cNvSpPr/>
          <p:nvPr/>
        </p:nvSpPr>
        <p:spPr>
          <a:xfrm>
            <a:off x="566928" y="2395728"/>
            <a:ext cx="2572436" cy="1828800"/>
          </a:xfrm>
          <a:prstGeom prst="roundRect">
            <a:avLst>
              <a:gd name="adj" fmla="val 4000"/>
            </a:avLst>
          </a:prstGeom>
          <a:solidFill>
            <a:srgbClr val="242938"/>
          </a:solidFill>
          <a:ln w="12700">
            <a:solidFill>
              <a:srgbClr val="2A3042"/>
            </a:solidFill>
            <a:prstDash val="solid"/>
          </a:ln>
        </p:spPr>
      </p:sp>
      <p:sp>
        <p:nvSpPr>
          <p:cNvPr id="5" name="Shape 3"/>
          <p:cNvSpPr/>
          <p:nvPr/>
        </p:nvSpPr>
        <p:spPr>
          <a:xfrm>
            <a:off x="768096" y="2578608"/>
            <a:ext cx="329184" cy="329184"/>
          </a:xfrm>
          <a:prstGeom prst="ellipse">
            <a:avLst/>
          </a:prstGeom>
          <a:solidFill>
            <a:srgbClr val="7AA2F7"/>
          </a:solidFill>
          <a:ln w="12700">
            <a:solidFill>
              <a:srgbClr val="7AA2F7"/>
            </a:solidFill>
            <a:prstDash val="solid"/>
          </a:ln>
        </p:spPr>
      </p:sp>
      <p:sp>
        <p:nvSpPr>
          <p:cNvPr id="6" name="Text 4"/>
          <p:cNvSpPr/>
          <p:nvPr/>
        </p:nvSpPr>
        <p:spPr>
          <a:xfrm>
            <a:off x="768096" y="25786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07008" y="2560320"/>
            <a:ext cx="1712900" cy="365760"/>
          </a:xfrm>
          <a:prstGeom prst="rect">
            <a:avLst/>
          </a:prstGeom>
          <a:noFill/>
          <a:ln/>
        </p:spPr>
        <p:txBody>
          <a:bodyPr wrap="square" lIns="0" tIns="0" rIns="0" bIns="0" rtlCol="0" anchor="ctr"/>
          <a:lstStyle/>
          <a:p>
            <a:pPr algn="l" indent="0" marL="0">
              <a:buNone/>
            </a:pPr>
            <a:r>
              <a:rPr lang="en-US" sz="1500" b="1" dirty="0">
                <a:solidFill>
                  <a:srgbClr val="7AA2F7"/>
                </a:solidFill>
                <a:latin typeface="Calibri" pitchFamily="34" charset="0"/>
                <a:ea typeface="Calibri" pitchFamily="34" charset="-122"/>
                <a:cs typeface="Calibri" pitchFamily="34" charset="-120"/>
              </a:rPr>
              <a:t>Behavior Tree</a:t>
            </a:r>
            <a:endParaRPr lang="en-US" sz="1500" dirty="0"/>
          </a:p>
        </p:txBody>
      </p:sp>
      <p:sp>
        <p:nvSpPr>
          <p:cNvPr id="8" name="Text 6"/>
          <p:cNvSpPr/>
          <p:nvPr/>
        </p:nvSpPr>
        <p:spPr>
          <a:xfrm>
            <a:off x="786384" y="2980944"/>
            <a:ext cx="2133524" cy="10972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Kod içine gömülü hareket mantığının, görsel olarak düzenlenebilen ağaç yapısına taşınması</a:t>
            </a:r>
            <a:endParaRPr lang="en-US" sz="1150" dirty="0"/>
          </a:p>
        </p:txBody>
      </p:sp>
      <p:sp>
        <p:nvSpPr>
          <p:cNvPr id="9" name="Shape 7"/>
          <p:cNvSpPr/>
          <p:nvPr/>
        </p:nvSpPr>
        <p:spPr>
          <a:xfrm>
            <a:off x="3395396" y="2395728"/>
            <a:ext cx="2572436" cy="1828800"/>
          </a:xfrm>
          <a:prstGeom prst="roundRect">
            <a:avLst>
              <a:gd name="adj" fmla="val 4000"/>
            </a:avLst>
          </a:prstGeom>
          <a:solidFill>
            <a:srgbClr val="242938"/>
          </a:solidFill>
          <a:ln w="12700">
            <a:solidFill>
              <a:srgbClr val="2A3042"/>
            </a:solidFill>
            <a:prstDash val="solid"/>
          </a:ln>
        </p:spPr>
      </p:sp>
      <p:sp>
        <p:nvSpPr>
          <p:cNvPr id="10" name="Shape 8"/>
          <p:cNvSpPr/>
          <p:nvPr/>
        </p:nvSpPr>
        <p:spPr>
          <a:xfrm>
            <a:off x="3596564" y="2578608"/>
            <a:ext cx="329184" cy="329184"/>
          </a:xfrm>
          <a:prstGeom prst="ellipse">
            <a:avLst/>
          </a:prstGeom>
          <a:solidFill>
            <a:srgbClr val="9ECE6A"/>
          </a:solidFill>
          <a:ln w="12700">
            <a:solidFill>
              <a:srgbClr val="9ECE6A"/>
            </a:solidFill>
            <a:prstDash val="solid"/>
          </a:ln>
        </p:spPr>
      </p:sp>
      <p:sp>
        <p:nvSpPr>
          <p:cNvPr id="11" name="Text 9"/>
          <p:cNvSpPr/>
          <p:nvPr/>
        </p:nvSpPr>
        <p:spPr>
          <a:xfrm>
            <a:off x="3596564" y="25786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035476" y="2560320"/>
            <a:ext cx="1712900" cy="365760"/>
          </a:xfrm>
          <a:prstGeom prst="rect">
            <a:avLst/>
          </a:prstGeom>
          <a:noFill/>
          <a:ln/>
        </p:spPr>
        <p:txBody>
          <a:bodyPr wrap="square" lIns="0" tIns="0" rIns="0" bIns="0" rtlCol="0" anchor="ctr"/>
          <a:lstStyle/>
          <a:p>
            <a:pPr algn="l" indent="0" marL="0">
              <a:buNone/>
            </a:pPr>
            <a:r>
              <a:rPr lang="en-US" sz="1500" b="1" dirty="0">
                <a:solidFill>
                  <a:srgbClr val="9ECE6A"/>
                </a:solidFill>
                <a:latin typeface="Calibri" pitchFamily="34" charset="0"/>
                <a:ea typeface="Calibri" pitchFamily="34" charset="-122"/>
                <a:cs typeface="Calibri" pitchFamily="34" charset="-120"/>
              </a:rPr>
              <a:t>AI Perception</a:t>
            </a:r>
            <a:endParaRPr lang="en-US" sz="1500" dirty="0"/>
          </a:p>
        </p:txBody>
      </p:sp>
      <p:sp>
        <p:nvSpPr>
          <p:cNvPr id="13" name="Text 11"/>
          <p:cNvSpPr/>
          <p:nvPr/>
        </p:nvSpPr>
        <p:spPr>
          <a:xfrm>
            <a:off x="3614852" y="2980944"/>
            <a:ext cx="2133524" cy="10972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Karakterin görme ve duyma yetenekleri ile oyuncuyu algılayıp tepki vermesi</a:t>
            </a:r>
            <a:endParaRPr lang="en-US" sz="1150" dirty="0"/>
          </a:p>
        </p:txBody>
      </p:sp>
      <p:sp>
        <p:nvSpPr>
          <p:cNvPr id="14" name="Shape 12"/>
          <p:cNvSpPr/>
          <p:nvPr/>
        </p:nvSpPr>
        <p:spPr>
          <a:xfrm>
            <a:off x="6223864" y="2395728"/>
            <a:ext cx="2572436" cy="1828800"/>
          </a:xfrm>
          <a:prstGeom prst="roundRect">
            <a:avLst>
              <a:gd name="adj" fmla="val 4000"/>
            </a:avLst>
          </a:prstGeom>
          <a:solidFill>
            <a:srgbClr val="242938"/>
          </a:solidFill>
          <a:ln w="12700">
            <a:solidFill>
              <a:srgbClr val="2A3042"/>
            </a:solidFill>
            <a:prstDash val="solid"/>
          </a:ln>
        </p:spPr>
      </p:sp>
      <p:sp>
        <p:nvSpPr>
          <p:cNvPr id="15" name="Shape 13"/>
          <p:cNvSpPr/>
          <p:nvPr/>
        </p:nvSpPr>
        <p:spPr>
          <a:xfrm>
            <a:off x="6425032" y="2578608"/>
            <a:ext cx="329184" cy="329184"/>
          </a:xfrm>
          <a:prstGeom prst="ellipse">
            <a:avLst/>
          </a:prstGeom>
          <a:solidFill>
            <a:srgbClr val="BB9AF7"/>
          </a:solidFill>
          <a:ln w="12700">
            <a:solidFill>
              <a:srgbClr val="BB9AF7"/>
            </a:solidFill>
            <a:prstDash val="solid"/>
          </a:ln>
        </p:spPr>
      </p:sp>
      <p:sp>
        <p:nvSpPr>
          <p:cNvPr id="16" name="Text 14"/>
          <p:cNvSpPr/>
          <p:nvPr/>
        </p:nvSpPr>
        <p:spPr>
          <a:xfrm>
            <a:off x="6425032" y="25786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6863944" y="2560320"/>
            <a:ext cx="1712900" cy="365760"/>
          </a:xfrm>
          <a:prstGeom prst="rect">
            <a:avLst/>
          </a:prstGeom>
          <a:noFill/>
          <a:ln/>
        </p:spPr>
        <p:txBody>
          <a:bodyPr wrap="square" lIns="0" tIns="0" rIns="0" bIns="0" rtlCol="0" anchor="ctr"/>
          <a:lstStyle/>
          <a:p>
            <a:pPr algn="l" indent="0" marL="0">
              <a:buNone/>
            </a:pPr>
            <a:r>
              <a:rPr lang="en-US" sz="1500" b="1" dirty="0">
                <a:solidFill>
                  <a:srgbClr val="BB9AF7"/>
                </a:solidFill>
                <a:latin typeface="Calibri" pitchFamily="34" charset="0"/>
                <a:ea typeface="Calibri" pitchFamily="34" charset="-122"/>
                <a:cs typeface="Calibri" pitchFamily="34" charset="-120"/>
              </a:rPr>
              <a:t>Enhanced Input</a:t>
            </a:r>
            <a:endParaRPr lang="en-US" sz="1500" dirty="0"/>
          </a:p>
        </p:txBody>
      </p:sp>
      <p:sp>
        <p:nvSpPr>
          <p:cNvPr id="18" name="Text 16"/>
          <p:cNvSpPr/>
          <p:nvPr/>
        </p:nvSpPr>
        <p:spPr>
          <a:xfrm>
            <a:off x="6443320" y="2980944"/>
            <a:ext cx="2133524" cy="10972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Bileşen üzerinden girdi yakalama ve Input Action yapılandırması</a:t>
            </a:r>
            <a:endParaRPr lang="en-US" sz="1150" dirty="0"/>
          </a:p>
        </p:txBody>
      </p:sp>
      <p:sp>
        <p:nvSpPr>
          <p:cNvPr id="19" name="Shape 17"/>
          <p:cNvSpPr/>
          <p:nvPr/>
        </p:nvSpPr>
        <p:spPr>
          <a:xfrm>
            <a:off x="9052331" y="2395728"/>
            <a:ext cx="2572436" cy="1828800"/>
          </a:xfrm>
          <a:prstGeom prst="roundRect">
            <a:avLst>
              <a:gd name="adj" fmla="val 4000"/>
            </a:avLst>
          </a:prstGeom>
          <a:solidFill>
            <a:srgbClr val="242938"/>
          </a:solidFill>
          <a:ln w="12700">
            <a:solidFill>
              <a:srgbClr val="2A3042"/>
            </a:solidFill>
            <a:prstDash val="solid"/>
          </a:ln>
        </p:spPr>
      </p:sp>
      <p:sp>
        <p:nvSpPr>
          <p:cNvPr id="20" name="Shape 18"/>
          <p:cNvSpPr/>
          <p:nvPr/>
        </p:nvSpPr>
        <p:spPr>
          <a:xfrm>
            <a:off x="9253499" y="2578608"/>
            <a:ext cx="329184" cy="329184"/>
          </a:xfrm>
          <a:prstGeom prst="ellipse">
            <a:avLst/>
          </a:prstGeom>
          <a:solidFill>
            <a:srgbClr val="E0AF68"/>
          </a:solidFill>
          <a:ln w="12700">
            <a:solidFill>
              <a:srgbClr val="E0AF68"/>
            </a:solidFill>
            <a:prstDash val="solid"/>
          </a:ln>
        </p:spPr>
      </p:sp>
      <p:sp>
        <p:nvSpPr>
          <p:cNvPr id="21" name="Text 19"/>
          <p:cNvSpPr/>
          <p:nvPr/>
        </p:nvSpPr>
        <p:spPr>
          <a:xfrm>
            <a:off x="9253499" y="2578608"/>
            <a:ext cx="329184" cy="329184"/>
          </a:xfrm>
          <a:prstGeom prst="rect">
            <a:avLst/>
          </a:prstGeom>
          <a:noFill/>
          <a:ln/>
        </p:spPr>
        <p:txBody>
          <a:bodyPr wrap="square" lIns="0" tIns="0" rIns="0" bIns="0" rtlCol="0" anchor="ctr"/>
          <a:lstStyle/>
          <a:p>
            <a:pPr algn="ctr" indent="0" marL="0">
              <a:buNone/>
            </a:pPr>
            <a:r>
              <a:rPr lang="en-US" sz="1300" b="1" dirty="0">
                <a:solidFill>
                  <a:srgbClr val="1A1B26"/>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9692411" y="2560320"/>
            <a:ext cx="1712900" cy="365760"/>
          </a:xfrm>
          <a:prstGeom prst="rect">
            <a:avLst/>
          </a:prstGeom>
          <a:noFill/>
          <a:ln/>
        </p:spPr>
        <p:txBody>
          <a:bodyPr wrap="square" lIns="0" tIns="0" rIns="0" bIns="0" rtlCol="0" anchor="ctr"/>
          <a:lstStyle/>
          <a:p>
            <a:pPr algn="l" indent="0" marL="0">
              <a:buNone/>
            </a:pPr>
            <a:r>
              <a:rPr lang="en-US" sz="1500" b="1" dirty="0">
                <a:solidFill>
                  <a:srgbClr val="E0AF68"/>
                </a:solidFill>
                <a:latin typeface="Calibri" pitchFamily="34" charset="0"/>
                <a:ea typeface="Calibri" pitchFamily="34" charset="-122"/>
                <a:cs typeface="Calibri" pitchFamily="34" charset="-120"/>
              </a:rPr>
              <a:t>GameMode Mantığı</a:t>
            </a:r>
            <a:endParaRPr lang="en-US" sz="1500" dirty="0"/>
          </a:p>
        </p:txBody>
      </p:sp>
      <p:sp>
        <p:nvSpPr>
          <p:cNvPr id="23" name="Text 21"/>
          <p:cNvSpPr/>
          <p:nvPr/>
        </p:nvSpPr>
        <p:spPr>
          <a:xfrm>
            <a:off x="9271787" y="2980944"/>
            <a:ext cx="2133524" cy="1097280"/>
          </a:xfrm>
          <a:prstGeom prst="rect">
            <a:avLst/>
          </a:prstGeom>
          <a:noFill/>
          <a:ln/>
        </p:spPr>
        <p:txBody>
          <a:bodyPr wrap="square" lIns="0" tIns="0" rIns="0" bIns="0" rtlCol="0" anchor="t"/>
          <a:lstStyle/>
          <a:p>
            <a:pPr algn="l" indent="0" marL="0">
              <a:lnSpc>
                <a:spcPct val="115000"/>
              </a:lnSpc>
              <a:buNone/>
            </a:pPr>
            <a:r>
              <a:rPr lang="en-US" sz="1150" dirty="0">
                <a:solidFill>
                  <a:srgbClr val="C6CEF0"/>
                </a:solidFill>
                <a:latin typeface="Calibri" pitchFamily="34" charset="0"/>
                <a:ea typeface="Calibri" pitchFamily="34" charset="-122"/>
                <a:cs typeface="Calibri" pitchFamily="34" charset="-120"/>
              </a:rPr>
              <a:t>Skor, oyun bitişi ve yeniden doğma kurallarının merkezî bir sınıfta toplanması</a:t>
            </a:r>
            <a:endParaRPr lang="en-US" sz="1150" dirty="0"/>
          </a:p>
        </p:txBody>
      </p:sp>
      <p:sp>
        <p:nvSpPr>
          <p:cNvPr id="24" name="Shape 22"/>
          <p:cNvSpPr/>
          <p:nvPr/>
        </p:nvSpPr>
        <p:spPr>
          <a:xfrm>
            <a:off x="566928" y="4617720"/>
            <a:ext cx="11057839" cy="1005840"/>
          </a:xfrm>
          <a:prstGeom prst="roundRect">
            <a:avLst>
              <a:gd name="adj" fmla="val 7273"/>
            </a:avLst>
          </a:prstGeom>
          <a:solidFill>
            <a:srgbClr val="2A3042"/>
          </a:solidFill>
          <a:ln w="12700">
            <a:solidFill>
              <a:srgbClr val="2A3042"/>
            </a:solidFill>
            <a:prstDash val="solid"/>
          </a:ln>
        </p:spPr>
      </p:sp>
      <p:sp>
        <p:nvSpPr>
          <p:cNvPr id="25" name="Text 23"/>
          <p:cNvSpPr/>
          <p:nvPr/>
        </p:nvSpPr>
        <p:spPr>
          <a:xfrm>
            <a:off x="841248" y="4617720"/>
            <a:ext cx="10509199" cy="1005840"/>
          </a:xfrm>
          <a:prstGeom prst="rect">
            <a:avLst/>
          </a:prstGeom>
          <a:noFill/>
          <a:ln/>
        </p:spPr>
        <p:txBody>
          <a:bodyPr wrap="square" lIns="0" tIns="0" rIns="0" bIns="0" rtlCol="0" anchor="ctr"/>
          <a:lstStyle/>
          <a:p>
            <a:pPr algn="ctr" indent="0" marL="0">
              <a:buNone/>
            </a:pPr>
            <a:r>
              <a:rPr lang="en-US" sz="1300" dirty="0">
                <a:solidFill>
                  <a:srgbClr val="C6CEF0"/>
                </a:solidFill>
                <a:latin typeface="Calibri" pitchFamily="34" charset="0"/>
                <a:ea typeface="Calibri" pitchFamily="34" charset="-122"/>
                <a:cs typeface="Calibri" pitchFamily="34" charset="-120"/>
              </a:rPr>
              <a:t>Proje deposu, kaynak kodu ve dokümantasyon staj eğitim programı kapsamında teslim edilmiştir.</a:t>
            </a:r>
            <a:endParaRPr lang="en-US" sz="1300" dirty="0"/>
          </a:p>
        </p:txBody>
      </p:sp>
      <p:sp>
        <p:nvSpPr>
          <p:cNvPr id="26" name="Text 24"/>
          <p:cNvSpPr/>
          <p:nvPr/>
        </p:nvSpPr>
        <p:spPr>
          <a:xfrm>
            <a:off x="566928" y="5806440"/>
            <a:ext cx="11057839" cy="457200"/>
          </a:xfrm>
          <a:prstGeom prst="rect">
            <a:avLst/>
          </a:prstGeom>
          <a:noFill/>
          <a:ln/>
        </p:spPr>
        <p:txBody>
          <a:bodyPr wrap="square" lIns="0" tIns="0" rIns="0" bIns="0" rtlCol="0" anchor="ctr"/>
          <a:lstStyle/>
          <a:p>
            <a:pPr algn="ctr" indent="0" marL="0">
              <a:buNone/>
            </a:pPr>
            <a:r>
              <a:rPr lang="en-US" sz="2000" b="1" dirty="0">
                <a:solidFill>
                  <a:srgbClr val="7AA2F7"/>
                </a:solidFill>
                <a:latin typeface="Calibri" pitchFamily="34" charset="0"/>
                <a:ea typeface="Calibri" pitchFamily="34" charset="-122"/>
                <a:cs typeface="Calibri" pitchFamily="34" charset="-120"/>
              </a:rPr>
              <a:t>Teşekkürler</a:t>
            </a:r>
            <a:endParaRPr lang="en-US" sz="2000" dirty="0"/>
          </a:p>
        </p:txBody>
      </p:sp>
      <p:sp>
        <p:nvSpPr>
          <p:cNvPr id="27" name="Text 25"/>
          <p:cNvSpPr/>
          <p:nvPr/>
        </p:nvSpPr>
        <p:spPr>
          <a:xfrm>
            <a:off x="10801807" y="6291072"/>
            <a:ext cx="822960" cy="274320"/>
          </a:xfrm>
          <a:prstGeom prst="rect">
            <a:avLst/>
          </a:prstGeom>
          <a:noFill/>
          <a:ln/>
        </p:spPr>
        <p:txBody>
          <a:bodyPr wrap="square" lIns="0" tIns="0" rIns="0" bIns="0" rtlCol="0" anchor="ctr"/>
          <a:lstStyle/>
          <a:p>
            <a:pPr algn="r" indent="0" marL="0">
              <a:buNone/>
            </a:pPr>
            <a:r>
              <a:rPr lang="en-US" sz="1000" dirty="0">
                <a:solidFill>
                  <a:srgbClr val="7A83A8"/>
                </a:solidFill>
                <a:latin typeface="Courier New" pitchFamily="34" charset="0"/>
                <a:ea typeface="Courier New" pitchFamily="34" charset="-122"/>
                <a:cs typeface="Courier New" pitchFamily="34" charset="-120"/>
              </a:rPr>
              <a:t>43</a:t>
            </a:r>
            <a:endParaRPr lang="en-US" sz="1000" dirty="0"/>
          </a:p>
        </p:txBody>
      </p:sp>
      <p:sp>
        <p:nvSpPr>
          <p:cNvPr id="28" name="Text 26"/>
          <p:cNvSpPr/>
          <p:nvPr/>
        </p:nvSpPr>
        <p:spPr>
          <a:xfrm>
            <a:off x="566928" y="6291072"/>
            <a:ext cx="5943600" cy="274320"/>
          </a:xfrm>
          <a:prstGeom prst="rect">
            <a:avLst/>
          </a:prstGeom>
          <a:noFill/>
          <a:ln/>
        </p:spPr>
        <p:txBody>
          <a:bodyPr wrap="square" lIns="0" tIns="0" rIns="0" bIns="0" rtlCol="0" anchor="ctr"/>
          <a:lstStyle/>
          <a:p>
            <a:pPr algn="l" indent="0" marL="0">
              <a:buNone/>
            </a:pPr>
            <a:r>
              <a:rPr lang="en-US" sz="1000" dirty="0">
                <a:solidFill>
                  <a:srgbClr val="6B7396"/>
                </a:solidFill>
                <a:latin typeface="Courier New" pitchFamily="34" charset="0"/>
                <a:ea typeface="Courier New" pitchFamily="34" charset="-122"/>
                <a:cs typeface="Courier New" pitchFamily="34" charset="-120"/>
              </a:rPr>
              <a:t>kapanis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UE5 Staj Egitim Programi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Unreal Engine 5 - Yapay Zeka, Delegate ve Arayuz Sistemleri</dc:title>
  <dc:subject>PptxGenJS Presentation</dc:subject>
  <dc:creator>Recep</dc:creator>
  <cp:lastModifiedBy>Recep</cp:lastModifiedBy>
  <cp:revision>1</cp:revision>
  <dcterms:created xsi:type="dcterms:W3CDTF">2026-07-26T12:49:40Z</dcterms:created>
  <dcterms:modified xsi:type="dcterms:W3CDTF">2026-07-26T12:49:40Z</dcterms:modified>
</cp:coreProperties>
</file>