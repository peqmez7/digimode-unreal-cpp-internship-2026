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228600" cy="2377440"/>
          </a:xfrm>
          <a:prstGeom prst="roundRect">
            <a:avLst>
              <a:gd name="adj" fmla="val 40000"/>
            </a:avLst>
          </a:prstGeom>
          <a:solidFill>
            <a:srgbClr val="5DCAA5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2148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Nesne Yönelimli Programlama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98448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Notları — Temellerden İleri Konulara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98448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 ·  override  ·  polymorphism  ·  pointer  ·  encapsulation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OOP'nin 4 temel sütunu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Kapsülleme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sınıf içinde saklama, dışarıya kontrollü erişim.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27343F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94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Kalıtım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1188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sınıfın başka bir sınıfın özelliklerini devralması.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27343F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94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 biçimlilik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çağrının farklı nesnelerde farklı davranması.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19202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194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Soyutlama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32004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ayrıntıları gizleyip sade arayüz sunma.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TEMELLER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Sınıf ve Nesne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(class) bir kalıptır — nasıl bir şey olacağını tanımlar.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(object) o kalıptan üretilen somut örnektir.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sınıftan istediğin kadar nesne üretebilirsin.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'Kurabiye kalıbı' sınıf, 'her bir kurabiye' nesnedir.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          // kalip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MakeSound()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"Ses\n";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Animal a;           // nesne uretildi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a.MakeSound();      // nokta ile erisim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KAPSÜLLEME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Erişim belirleyiciler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756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31720" y="20574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Herkese açık — sınıf dışından erişilebilir.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7343F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815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9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31720" y="3063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sınıfın kendi içinden erişilebilir.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7343F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873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31720" y="4069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+ ondan türeyen alt sınıflar erişebilir.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75688"/>
            <a:ext cx="52120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Hesap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bakiye;      // dışarıdan gizli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sahip;    // alt sınıflar görür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goster();   // herkes çağırır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TEMELLER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 (kurucu)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oluşturulurken otomatik çalışan özel fonksiyon.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Değişkenleri başlatmak (ilk değer vermek) için kullanılır.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İsmi sınıf ismiyle aynıdır, geri dönüş tipi yoktur.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': name(n)' kısmı initializer list — değişkene değer atar.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constructor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Animal(string n) : name(n)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a("Karabas");  // n = "Karabas"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KALITIM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(kalıtım)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sınıf, başka bir sınıfın özelliklerini devralır.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'Dog : public Animal' → Dog, Animal'ın alt sınıfıdır.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artık Animal'ın tüm public/protected üyelerine sahiptir.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sınıfın constructor'ı üstünkini çağırır: ': Animal(n)'.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Animal(string n) : name(n) {}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Dog(string n) : Animal(n) {}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ÇOK BİÇİMLİLİK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ve override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→ bu fonksiyon alt sınıflarda değiştirilebilir.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→ üst sınıfın fonksiyonunu eziyorum (yeniden yazıyorum).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yazım hatası olursa derleyici seni uyarır — güvenlik ağı.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İmzalar (isim, parametre, const) birebir eşleşmeli.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void MakeSound()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"Ses\n";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MakeSound() override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"Hav hav\n";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SOYUTLAMA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virtual &amp; Abstract sınıf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'= 0' → gövdesiz, zorunlu ezilmesi gereken fonksiyon.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Böyle bir fonksiyonu olan sınıf 'soyut' (abstract) olur.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Soyut sınıftan nesne üretilemez; sadece alt sınıf türetilir.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ortak bir arayüz zorunlu kılmak.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pure virtual → soyut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void MakeSound() = 0;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Animal a;   HATA: soyut sınıf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MakeSound() override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"Hav\n";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ÇOK BİÇİMLİLİK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 (çok biçimlilik)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sınıf pointer'ı (Animal*) farklı alt nesneleri tutabilir.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tipi 'ne çağırabilirsin'i, nesne tipi 'kimin kodu çalışır'ı belirler.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sayesinde doğru fonksiyon otomatik seçilir.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diziyle farklı türleri birlikte yönetebilirsin.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383280"/>
          </a:xfrm>
          <a:prstGeom prst="roundRect">
            <a:avLst>
              <a:gd name="adj" fmla="val 2162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Animal* hayvanlar[2];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hayvanlar[0] = new Dog("Karabas");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hayvanlar[1] = new Cat("Tekir");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2; i++)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hayvanlar[i]-&gt;MakeSound();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hayvanlar[i];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Dog -&gt; "Hav",  Cat -&gt; "Miyav"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BELLEK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Pointer, new ve delete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468880" y="221284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yönetilir. Kapsam bitince silinir.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221284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d;  →  d.MakeSound();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7343F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20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358444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ile açılır, delete ile sen kapatırsın.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358444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Dog* p = new Dog();  →  p-&gt;MakeSound();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'.' normal nesnede, '-&gt;' pointer'da kullanılır. new ile açtığını mutlaka delete et (yoksa memory leak).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ÜYELER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üyeler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üye nesneye aittir — çağırmak için nesne gerekir.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üye sınıfa aittir — nesne olmadan çağrılır.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Erişim: 'Dog::MakeSound2()' (nesne değil, sınıf ismiyle).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fonksiyon nesne değişkenlerine (örn. name) erişemez.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Bilgi()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"Bir kopek\n";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nesne gerekmez: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Dog::Bilgi();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DCA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Sırada gelen konular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Encapsulation · Destructor · this · Composition · Operator overloading · ileri konular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KAPSÜLLEME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Encapsulation: getter / setter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Değişkeni private yap → dışarıdan doğrudan değiştirilemez.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→ değeri okumayı sağlar (getBakiye).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→ değeri kontrollü değiştirir (kural koyabilirsin).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veriyi yanlış kullanımdan korumak.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Hesap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bakiye = 0;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getBakiye()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bakiye;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setBakiye(int m)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(m &gt;= 0) bakiye = m; // kural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YAŞAM DÖNGÜSÜ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Destructor (~yıkıcı)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yok edilirken otomatik çalışan fonksiyon.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İsmi: sınıf ismi + başına '~' (tilde).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 temizlik yaparsın: açılan bellek, dosya vb.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çağrılınca ya da nesne kapsam dışına çıkınca tetiklenir.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383280"/>
          </a:xfrm>
          <a:prstGeom prst="roundRect">
            <a:avLst>
              <a:gd name="adj" fmla="val 2162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Dog()  { cout &lt;&lt; "dogdu\n";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~Dog() { cout &lt;&lt; "oldu\n"; }  // yıkıcı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Dog* p = new Dog();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p;   // ~Dog() çalışır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İPUCU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pointer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→ o an üzerinde çalışılan nesnenin kendisini gösteren pointer.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ile üye aynı isimliyse ayırmak için kullanılır.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this-&gt;name → nesnenin üyesi, name → parametre.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ama sık karşına çıkar.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383280"/>
          </a:xfrm>
          <a:prstGeom prst="roundRect">
            <a:avLst>
              <a:gd name="adj" fmla="val 2162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setName(string name)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this-&gt;name = name;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this-&gt;name : üye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name       : parametre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TASARIM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(barındırma)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Kalıtım: 'bir çeşididir' (Dog bir Animal'dır).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'içinde barındırır' (Araba bir Motor'a sahiptir).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sınıf, başka sınıf(lar)ı üye olarak içinde tutar.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ilişki miras değildir — çoğu zaman barındırma daha doğrudur.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383280"/>
          </a:xfrm>
          <a:prstGeom prst="roundRect">
            <a:avLst>
              <a:gd name="adj" fmla="val 2162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Motor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calis() { cout &lt;&lt; "Vroom\n";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Araba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Motor motor;   // içinde barındırır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surus() { motor.calis();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İLERİ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overloading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+, ==, &lt;&lt; gibi işaretleri kendi sınıfın için tanımlarsın.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Böylece nesneleri sanki sayıymış gibi toplayabilirsin.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'operator+' özel bir fonksiyon ismidir.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Kodun okunabilirliğini artırır.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41C24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984248"/>
            <a:ext cx="53035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Vektor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x, y;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Vektor operator+(Vektor b)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 x + b.x, y + b.y 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Vektor a{1,2}, b{3,4};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Vektor c = a + b;  // {4, 6}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İLERİ KONULAR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C++ — kısa bakış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Değişmez söz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Fonksiyonun nesneyi değiştirmeyeceğini garanti eder.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27343F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Jenerik sınıf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33832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kodu farklı tiplerle çalıştırır (int, string...).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20116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27343F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9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unique_ptr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964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Akıllı pointer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49640" y="33832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delete'i otomatik yapar — memory leak'i önler.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Öğrenme yol haritası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29968"/>
            <a:ext cx="420624" cy="420624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9202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&amp; nesne, erişim belirleyiciler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29968"/>
            <a:ext cx="420624" cy="420624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9202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&amp; destructor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81528"/>
            <a:ext cx="420624" cy="420624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81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Kalıtım (inheritance)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081528"/>
            <a:ext cx="420624" cy="420624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081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29718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override / abstract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33088"/>
            <a:ext cx="420624" cy="420624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33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&amp; pointer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133088"/>
            <a:ext cx="420624" cy="420624"/>
          </a:xfrm>
          <a:prstGeom prst="ellipse">
            <a:avLst/>
          </a:prstGeom>
          <a:solidFill>
            <a:srgbClr val="F2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133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40233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(getter/setter)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184648"/>
            <a:ext cx="420624" cy="420624"/>
          </a:xfrm>
          <a:prstGeom prst="ellipse">
            <a:avLst/>
          </a:prstGeom>
          <a:solidFill>
            <a:srgbClr val="F2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184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50749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operator overloading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983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7343F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184648"/>
            <a:ext cx="420624" cy="420624"/>
          </a:xfrm>
          <a:prstGeom prst="ellipse">
            <a:avLst/>
          </a:prstGeom>
          <a:solidFill>
            <a:srgbClr val="F2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184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50749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const, template, smart pointer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Yeşil = öğrenildi   ·   Turuncu = sırada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2026-07-14T12:55:29Z</dcterms:created>
  <dcterms:modified xsi:type="dcterms:W3CDTF">2026-07-14T12:55:29Z</dcterms:modified>
</cp:coreProperties>
</file>