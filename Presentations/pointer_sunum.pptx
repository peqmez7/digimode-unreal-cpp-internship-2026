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DD0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68680" y="24688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Pointer'lar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96112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Bellek, Adresler ve Akıllı İşaretçiler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6634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B2B40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73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9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0x5A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46634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B2B40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773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8960" y="5029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46634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B2B40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47731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5029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5074920"/>
            <a:ext cx="457200" cy="0"/>
          </a:xfrm>
          <a:prstGeom prst="line">
            <a:avLst/>
          </a:prstGeom>
          <a:noFill/>
          <a:ln w="25400">
            <a:solidFill>
              <a:srgbClr val="8FA3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5074920"/>
            <a:ext cx="457200" cy="0"/>
          </a:xfrm>
          <a:prstGeom prst="line">
            <a:avLst/>
          </a:prstGeom>
          <a:noFill/>
          <a:ln w="25400">
            <a:solidFill>
              <a:srgbClr val="8FA3B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15200" y="4892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·  *  ·  -&gt;  ·  new / delete  ·  unique_ptr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TEMEL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 nedir?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değişken bir DEĞER tutar.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ise bir değerin bellekteki ADRESİNİ tutar.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'&amp;' → adresini al (address-of).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'*' → adresteki değere ulaş (dereference).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      // deger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p = &amp;x;     // p, x'in adresi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x;       // 10  deger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&amp;x;      // 0x.. adres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p;       // 0x.. ayni adres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*p;      // 10  adresteki deger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20;         // adres uzerinden yaz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x;       // 20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BELLEK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Heap, new ve delete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B2B40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299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194560" y="20116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Otomatik. Kapsam bitince kendi silinir.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1B2B40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358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94560" y="30175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ile açarsın, delete ile SEN kapatırsın.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new ile açtığını mutlaka delete et — yoksa memory leak.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92024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29968"/>
            <a:ext cx="530352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d;                // stack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d.havla();            // otomatik silinir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Dog* p = new Dog();   // heap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p-&gt;havla();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p;             // elle temizle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ERİŞİM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-&gt; ve . farkı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Nesneye doğrudan sahipsen → nokta (.) kullan.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üzerinden erişiyorsan → ok (-&gt;) kullan.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'p-&gt;x' aslında '(*p).x' demektir — kısayoludur.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yıldızla nesneye ulaş, sonra üyeye eriş.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d;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d.havla();        // nesne  -&gt; nokta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Dog* p = &amp;d;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p-&gt;havla();       // pointer -&gt; ok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(*p).havla();     // ayni sey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p-&gt;havla() == (*p).havla()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KARŞILAŞTIRMA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 vs Referans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tutan ayrı kutu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 ile değere ulaşılır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nullptr olabilir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adrese geçebilir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B2B40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057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Referans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66160" y="26517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olana takma ad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direkt kullanılır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olamaz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kez bağlanır, sabit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84248"/>
            <a:ext cx="493776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p = &amp;x;   // pointer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int&amp; r = x;    // referans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*p;    // 10 (yildiz)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r;     // 10 (direkt)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20;   // x = 20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= 30;   // x = 30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KATMANLAR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Pointer'ın pointer'ı  (int**)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B2B40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756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9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p'nin adresi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B2B40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756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x'in adresi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B2B40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0756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4231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423160"/>
            <a:ext cx="365760" cy="0"/>
          </a:xfrm>
          <a:prstGeom prst="line">
            <a:avLst/>
          </a:prstGeom>
          <a:noFill/>
          <a:ln w="25400">
            <a:solidFill>
              <a:srgbClr val="8FA3B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2423160"/>
            <a:ext cx="365760" cy="0"/>
          </a:xfrm>
          <a:prstGeom prst="line">
            <a:avLst/>
          </a:prstGeom>
          <a:noFill/>
          <a:ln w="25400">
            <a:solidFill>
              <a:srgbClr val="8FA3B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int**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67328"/>
            <a:ext cx="51206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p = &amp;x;      // x'in adresi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int** pp = &amp;p;    // p'nin adresi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*p;    // 10  (bir kez ac)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**pp;  // 10  (iki kez ac)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**pp = 99;     // x = 99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65760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sayısı = zincirdeki ok sayısı.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Değere ulaşmak için o kadar '*' yazarsın.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fonksiyonun bir pointer'ı değiştirmesi, 2B dinamik dizi.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Pratikte int**'dan öteye nadiren geçilir.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SINIF İÇİ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pointer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üye fonksiyonun içinde gizli bir 'this' vardır.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→ o an çağrılan nesnenin kendisini gösterir.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 çakışmasını çözer: this-&gt;ad (üye) vs ad (parametre).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adresini döndürerek zincirlemeye izin verir.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3383280"/>
          </a:xfrm>
          <a:prstGeom prst="roundRect">
            <a:avLst>
              <a:gd name="adj" fmla="val 2162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ad;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setAd(string ad)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this-&gt;ad = ad;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this-&gt;ad : üye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ad       : parametre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SINIF İÇİ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Sınıfta pointer üye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sınıf, başka bir nesneye pointer'la bağlanabilir.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Composition'dan farkı: nesneyi İÇİNDE barındırmaz, adresini tutar.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Bağlanılan nesne bağımsız yaşar.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üyeye '-&gt;' ile erişilir.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3840480"/>
          </a:xfrm>
          <a:prstGeom prst="roundRect">
            <a:avLst>
              <a:gd name="adj" fmla="val 1905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Araba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Motor* motor;   // pointer üye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Araba(Motor* m) : motor(m) {}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surus()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motor-&gt;calis();  // -&gt; ile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 m;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Araba a(&amp;m);   // adresini ver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this İLE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 zincirleme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'this' döndürürse çağrılar peş peşe dizilir.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çağrı nesnenin pointer'ını geri verir.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'-&gt;' o pointer üzerinden devam eder.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Buna fluent interface denir — akıcı, okunur kod.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4297680"/>
          </a:xfrm>
          <a:prstGeom prst="roundRect">
            <a:avLst>
              <a:gd name="adj" fmla="val 1702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Hesap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bakiye =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Hesap* yatir(int m)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bakiye += m;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this;   // kendini dondur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Hesap* cek(int m)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bakiye -= m;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h.yatir(100)-&gt;cek(30)-&gt;yatir(50);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GÜÇ NOKTASI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Polimorfizm + pointer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sınıf pointer'ı, türeyen nesneleri tutabilir.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tipi: neyi çağırabilirsin. Nesne tipi: kimin kodu çalışır.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'virtual' sayesinde doğru fonksiyon otomatik seçilir.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diziyle farklı türleri birlikte yönetirsin.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Hayvan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void ses() { cout&lt;&lt;"?";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~Hayvan() {}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Kopek : public Hayvan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ses() override { cout&lt;&lt;"Hav";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Hayvan* h = new Kopek();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h-&gt;ses();     // "Hav"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h;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KRİTİK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destructor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pointer'la türetilmiş nesne silerken tehlike var.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Yıkıcı 'virtual' değilse alt sınıfın yıkıcısı ÇALIŞMAZ.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alt sınıfın açtığı bellek sızar (leak).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base olarak kullanılan sınıfın yıkıcısı virtual olmalı.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4206240"/>
          </a:xfrm>
          <a:prstGeom prst="roundRect">
            <a:avLst>
              <a:gd name="adj" fmla="val 1739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Hayvan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virtual OLMALI: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~Hayvan()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"Hayvan yikildi\n";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Kopek : public Hayvan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~Kopek()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"Kopek yikildi\n";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h; -&gt; ikisi de calisir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MODERN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pointer — unique_ptr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new/delete yerine otomatik bellek yönetimi.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kapsam dışına çıkınca kendi kendine silinir.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yazmazsın → memory leak riski biter.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yine '-&gt;' ile, normal pointer gibi.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2926080"/>
          </a:xfrm>
          <a:prstGeom prst="roundRect">
            <a:avLst>
              <a:gd name="adj" fmla="val 2500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&lt;memory&gt;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p = make_unique&lt;Dog&gt;("Karabas");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p-&gt;havla();   // normal pointer gibi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YOK!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kapsam bitince otomatik silinir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SAHİPLİK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unique_ptr vs shared_ptr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B2B40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sahip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Nesnenin tek sahibi. Kopyalanamaz, sadece taşınır. En yaygın.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B2B40"/>
          </a:solidFill>
          <a:ln w="12700">
            <a:solidFill>
              <a:srgbClr val="F2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shared_ptr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Paylaşımlı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yer paylaşır. Son sahip gidince nesne silinir.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D0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weak_ptr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4964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Sahipsiz bakış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32918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 nesneyi sahiplenmeden gözler. Döngüsel bağı kırar.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MODERN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Sınıf üyesi olarak smart pointer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pointer'ı sınıfın üyesi yapabilirsin.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 nesne yok olunca üye de otomatik silinir.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delete ve yıkıcı yazmana gerek kalmaz.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C++'ta tercih edilen yol budur.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828800"/>
            <a:ext cx="5760720" cy="3657600"/>
          </a:xfrm>
          <a:prstGeom prst="roundRect">
            <a:avLst>
              <a:gd name="adj" fmla="val 2000"/>
            </a:avLst>
          </a:prstGeom>
          <a:solidFill>
            <a:srgbClr val="0A1420"/>
          </a:solidFill>
          <a:ln w="9525">
            <a:solidFill>
              <a:srgbClr val="4D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938528"/>
            <a:ext cx="539496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&lt;memory&gt;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Araba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unique_ptr&lt;Motor&gt; motor;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Araba()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motor(make_unique&lt;Motor&gt;()) {}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surus() { motor-&gt;calis();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yikici yazmaya gerek yok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DİKKAT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 tehlikeleri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766560" cy="749808"/>
          </a:xfrm>
          <a:prstGeom prst="roundRect">
            <a:avLst>
              <a:gd name="adj" fmla="val 9756"/>
            </a:avLst>
          </a:prstGeom>
          <a:solidFill>
            <a:srgbClr val="1B2B40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leak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sonrası delete unutulur → bellek boşta kalır.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6766560" cy="749808"/>
          </a:xfrm>
          <a:prstGeom prst="roundRect">
            <a:avLst>
              <a:gd name="adj" fmla="val 9756"/>
            </a:avLst>
          </a:prstGeom>
          <a:solidFill>
            <a:srgbClr val="1B2B40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80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Dangling pointer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8803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Silinmiş adresi gösteren pointer.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6766560" cy="749808"/>
          </a:xfrm>
          <a:prstGeom prst="roundRect">
            <a:avLst>
              <a:gd name="adj" fmla="val 9756"/>
            </a:avLst>
          </a:prstGeom>
          <a:solidFill>
            <a:srgbClr val="1B2B40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delete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37490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adres iki kez silinir → çökme.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766560" cy="749808"/>
          </a:xfrm>
          <a:prstGeom prst="roundRect">
            <a:avLst>
              <a:gd name="adj" fmla="val 9756"/>
            </a:avLst>
          </a:prstGeom>
          <a:solidFill>
            <a:srgbClr val="1B2B40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17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 pointer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461772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başlatılmamış, rastgele adres gösterir.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1945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mümkünse smart pointer kullan; sildikten sonra pointer'ı nullptr yap.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ÖZET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Altın kurallar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04288"/>
            <a:ext cx="420624" cy="42062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04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'&amp;' adres alır, '*' değere ulaşır.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304288"/>
            <a:ext cx="420624" cy="42062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304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1031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Pointer'da '-&gt;', nesnede '.' kullan.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38728"/>
            <a:ext cx="420624" cy="42062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387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ile açtığını delete et — ya da smart pointer kullan.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538728"/>
            <a:ext cx="420624" cy="42062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387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sınıfın yıkıcısını virtual yap.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773168"/>
            <a:ext cx="420624" cy="42062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73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572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okuyacaksan const referans ver.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4805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B2B40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773168"/>
            <a:ext cx="420624" cy="42062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773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45720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C++: new/delete yerine make_unique.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DD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Pointer = bellekteki adres.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pointer = adres + otomatik temizlik.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· * · -&gt; · new/delete · int** · this · virtual ~ · unique_ptr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2026-07-17T14:47:53Z</dcterms:created>
  <dcterms:modified xsi:type="dcterms:W3CDTF">2026-07-17T14:47:53Z</dcterms:modified>
</cp:coreProperties>
</file>